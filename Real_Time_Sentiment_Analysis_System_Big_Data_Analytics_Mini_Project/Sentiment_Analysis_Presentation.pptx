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4.xml" ContentType="application/vnd.openxmlformats-officedocument.drawingml.chart+xml"/>
  <Override PartName="/ppt/notesSlides/notesSlide25.xml" ContentType="application/vnd.openxmlformats-officedocument.presentationml.notesSlide+xml"/>
  <Override PartName="/ppt/charts/chart5.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6.xml" ContentType="application/vnd.openxmlformats-officedocument.drawingml.chart+xml"/>
  <Override PartName="/ppt/notesSlides/notesSlide29.xml" ContentType="application/vnd.openxmlformats-officedocument.presentationml.notesSlide+xml"/>
  <Override PartName="/ppt/charts/chart7.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8.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F82298-BF94-AB5F-D6A0-CFE0D6445C75}">
          <p14:sldIdLst>
            <p14:sldId id="256"/>
            <p14:sldId id="257"/>
            <p14:sldId id="258"/>
            <p14:sldId id="259"/>
            <p14:sldId id="260"/>
            <p14:sldId id="261"/>
            <p14:sldId id="262"/>
          </p14:sldIdLst>
        </p14:section>
        <p14:section name="Architecture and tools" id="{93651A80-54B4-5892-F49B-122DD5B86447}">
          <p14:sldIdLst>
            <p14:sldId id="263"/>
            <p14:sldId id="264"/>
            <p14:sldId id="265"/>
            <p14:sldId id="266"/>
          </p14:sldIdLst>
        </p14:section>
        <p14:section name="Data and preprocessing" id="{D48B0C41-0BE6-F2E6-D9A5-3A4E86024DFB}">
          <p14:sldIdLst>
            <p14:sldId id="267"/>
            <p14:sldId id="268"/>
            <p14:sldId id="269"/>
            <p14:sldId id="270"/>
          </p14:sldIdLst>
        </p14:section>
        <p14:section name="Models" id="{4686C0B0-B7E6-77F6-7904-C499EC03C948}">
          <p14:sldIdLst>
            <p14:sldId id="271"/>
            <p14:sldId id="272"/>
            <p14:sldId id="273"/>
            <p14:sldId id="274"/>
          </p14:sldIdLst>
        </p14:section>
        <p14:section name="Evaluation and results" id="{5F8AA7E0-C51A-D84C-4C31-4252A024681F}">
          <p14:sldIdLst>
            <p14:sldId id="275"/>
            <p14:sldId id="276"/>
            <p14:sldId id="277"/>
            <p14:sldId id="278"/>
            <p14:sldId id="279"/>
            <p14:sldId id="280"/>
            <p14:sldId id="281"/>
          </p14:sldIdLst>
        </p14:section>
        <p14:section name="Real-time and insights" id="{0CB1C8C4-B997-5179-8A08-F1E85870B764}">
          <p14:sldIdLst>
            <p14:sldId id="282"/>
            <p14:sldId id="283"/>
            <p14:sldId id="284"/>
            <p14:sldId id="285"/>
            <p14:sldId id="286"/>
            <p14:sldId id="287"/>
          </p14:sldIdLst>
        </p14:section>
        <p14:section name="Wrap-up" id="{92AB01F6-AE38-39CF-A535-0B739A2617FA}">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A2F6B"/>
                </a:solidFill>
                <a:latin typeface="+mn-lt"/>
              </a:defRPr>
            </a:pPr>
            <a:r>
              <a:rPr lang="en-US" sz="1300" b="0" i="0" u="none" strike="noStrike">
                <a:solidFill>
                  <a:srgbClr val="2A2F6B"/>
                </a:solidFill>
                <a:latin typeface="+mn-lt"/>
              </a:rPr>
              <a:t>Class share of 41,122 clean tweets</a:t>
            </a:r>
          </a:p>
        </c:rich>
      </c:tx>
      <c:overlay val="0"/>
    </c:title>
    <c:autoTitleDeleted val="0"/>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0E8F87"/>
              </a:solidFill>
              <a:ln w="25400" cap="flat">
                <a:solidFill>
                  <a:srgbClr val="FFFFFF"/>
                </a:solidFill>
                <a:prstDash val="solid"/>
                <a:round/>
              </a:ln>
              <a:effectLst/>
            </c:spPr>
            <c:extLst>
              <c:ext xmlns:c16="http://schemas.microsoft.com/office/drawing/2014/chart" uri="{C3380CC4-5D6E-409C-BE32-E72D297353CC}">
                <c16:uniqueId val="{00000001-D475-4823-9988-881C063192A5}"/>
              </c:ext>
            </c:extLst>
          </c:dPt>
          <c:dPt>
            <c:idx val="1"/>
            <c:bubble3D val="0"/>
            <c:spPr>
              <a:solidFill>
                <a:srgbClr val="E4572E"/>
              </a:solidFill>
              <a:ln w="25400" cap="flat">
                <a:solidFill>
                  <a:srgbClr val="FFFFFF"/>
                </a:solidFill>
                <a:prstDash val="solid"/>
                <a:round/>
              </a:ln>
              <a:effectLst/>
            </c:spPr>
            <c:extLst>
              <c:ext xmlns:c16="http://schemas.microsoft.com/office/drawing/2014/chart" uri="{C3380CC4-5D6E-409C-BE32-E72D297353CC}">
                <c16:uniqueId val="{00000003-D475-4823-9988-881C063192A5}"/>
              </c:ext>
            </c:extLst>
          </c:dPt>
          <c:dPt>
            <c:idx val="2"/>
            <c:bubble3D val="0"/>
            <c:spPr>
              <a:solidFill>
                <a:srgbClr val="F2A93B"/>
              </a:solidFill>
              <a:ln w="25400" cap="flat">
                <a:solidFill>
                  <a:srgbClr val="FFFFFF"/>
                </a:solidFill>
                <a:prstDash val="solid"/>
                <a:round/>
              </a:ln>
              <a:effectLst/>
            </c:spPr>
            <c:extLst>
              <c:ext xmlns:c16="http://schemas.microsoft.com/office/drawing/2014/chart" uri="{C3380CC4-5D6E-409C-BE32-E72D297353CC}">
                <c16:uniqueId val="{00000005-D475-4823-9988-881C063192A5}"/>
              </c:ext>
            </c:extLst>
          </c:dPt>
          <c:dLbls>
            <c:dLbl>
              <c:idx val="0"/>
              <c:numFmt formatCode="0.0%" sourceLinked="0"/>
              <c:spPr/>
              <c:txPr>
                <a:bodyPr/>
                <a:lstStyle/>
                <a:p>
                  <a:pPr>
                    <a:defRPr sz="13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475-4823-9988-881C063192A5}"/>
                </c:ext>
              </c:extLst>
            </c:dLbl>
            <c:dLbl>
              <c:idx val="1"/>
              <c:numFmt formatCode="0.0%" sourceLinked="0"/>
              <c:spPr/>
              <c:txPr>
                <a:bodyPr/>
                <a:lstStyle/>
                <a:p>
                  <a:pPr>
                    <a:defRPr sz="13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475-4823-9988-881C063192A5}"/>
                </c:ext>
              </c:extLst>
            </c:dLbl>
            <c:dLbl>
              <c:idx val="2"/>
              <c:numFmt formatCode="0.0%" sourceLinked="0"/>
              <c:spPr/>
              <c:txPr>
                <a:bodyPr/>
                <a:lstStyle/>
                <a:p>
                  <a:pPr>
                    <a:defRPr sz="13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475-4823-9988-881C063192A5}"/>
                </c:ext>
              </c:extLst>
            </c:dLbl>
            <c:numFmt formatCode="0.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Positive</c:v>
                </c:pt>
                <c:pt idx="1">
                  <c:v>Negative</c:v>
                </c:pt>
                <c:pt idx="2">
                  <c:v>Neutral</c:v>
                </c:pt>
              </c:strCache>
            </c:strRef>
          </c:cat>
          <c:val>
            <c:numRef>
              <c:f>Sheet1!$B$2:$B$4</c:f>
              <c:numCache>
                <c:formatCode>General</c:formatCode>
                <c:ptCount val="3"/>
                <c:pt idx="0">
                  <c:v>18044</c:v>
                </c:pt>
                <c:pt idx="1">
                  <c:v>15397</c:v>
                </c:pt>
                <c:pt idx="2">
                  <c:v>7681</c:v>
                </c:pt>
              </c:numCache>
            </c:numRef>
          </c:val>
          <c:extLst>
            <c:ext xmlns:c16="http://schemas.microsoft.com/office/drawing/2014/chart" uri="{C3380CC4-5D6E-409C-BE32-E72D297353CC}">
              <c16:uniqueId val="{00000006-D475-4823-9988-881C063192A5}"/>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1418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A2F6B"/>
                </a:solidFill>
                <a:latin typeface="+mn-lt"/>
              </a:defRPr>
            </a:pPr>
            <a:r>
              <a:rPr lang="en-IN" sz="1300" b="0" i="0" u="none" strike="noStrike">
                <a:solidFill>
                  <a:srgbClr val="2A2F6B"/>
                </a:solidFill>
                <a:latin typeface="+mn-lt"/>
              </a:rPr>
              <a:t>Most frequent words</a:t>
            </a:r>
          </a:p>
        </c:rich>
      </c:tx>
      <c:overlay val="0"/>
    </c:title>
    <c:autoTitleDeleted val="0"/>
    <c:plotArea>
      <c:layout/>
      <c:barChart>
        <c:barDir val="bar"/>
        <c:grouping val="clustered"/>
        <c:varyColors val="0"/>
        <c:ser>
          <c:idx val="0"/>
          <c:order val="0"/>
          <c:tx>
            <c:strRef>
              <c:f>Sheet1!$B$1</c:f>
              <c:strCache>
                <c:ptCount val="1"/>
                <c:pt idx="0">
                  <c:v>Mentions</c:v>
                </c:pt>
              </c:strCache>
            </c:strRef>
          </c:tx>
          <c:spPr>
            <a:solidFill>
              <a:srgbClr val="4C5BD4"/>
            </a:solidFill>
            <a:effectLst/>
          </c:spPr>
          <c:invertIfNegative val="0"/>
          <c:dLbls>
            <c:numFmt formatCode="#,##0" sourceLinked="0"/>
            <c:spPr>
              <a:noFill/>
              <a:ln>
                <a:noFill/>
              </a:ln>
              <a:effectLst/>
            </c:spPr>
            <c:txPr>
              <a:bodyPr/>
              <a:lstStyle/>
              <a:p>
                <a:pPr>
                  <a:defRPr sz="12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grocery</c:v>
                </c:pt>
                <c:pt idx="1">
                  <c:v>not</c:v>
                </c:pt>
                <c:pt idx="2">
                  <c:v>food</c:v>
                </c:pt>
                <c:pt idx="3">
                  <c:v>supermarket</c:v>
                </c:pt>
                <c:pt idx="4">
                  <c:v>store</c:v>
                </c:pt>
                <c:pt idx="5">
                  <c:v>price</c:v>
                </c:pt>
              </c:strCache>
            </c:strRef>
          </c:cat>
          <c:val>
            <c:numRef>
              <c:f>Sheet1!$B$2:$B$7</c:f>
              <c:numCache>
                <c:formatCode>General</c:formatCode>
                <c:ptCount val="6"/>
                <c:pt idx="0">
                  <c:v>6787</c:v>
                </c:pt>
                <c:pt idx="1">
                  <c:v>6939</c:v>
                </c:pt>
                <c:pt idx="2">
                  <c:v>7346</c:v>
                </c:pt>
                <c:pt idx="3">
                  <c:v>7819</c:v>
                </c:pt>
                <c:pt idx="4">
                  <c:v>8309</c:v>
                </c:pt>
                <c:pt idx="5">
                  <c:v>9136</c:v>
                </c:pt>
              </c:numCache>
            </c:numRef>
          </c:val>
          <c:extLst>
            <c:ext xmlns:c16="http://schemas.microsoft.com/office/drawing/2014/chart" uri="{C3380CC4-5D6E-409C-BE32-E72D297353CC}">
              <c16:uniqueId val="{00000000-1CB7-440A-83CD-15A265142F69}"/>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B7390"/>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 (%)</c:v>
                </c:pt>
              </c:strCache>
            </c:strRef>
          </c:tx>
          <c:spPr>
            <a:solidFill>
              <a:srgbClr val="2A2F6B"/>
            </a:solidFill>
            <a:effectLst/>
          </c:spPr>
          <c:invertIfNegative val="0"/>
          <c:dLbls>
            <c:numFmt formatCode="0.0" sourceLinked="0"/>
            <c:spPr>
              <a:noFill/>
              <a:ln>
                <a:noFill/>
              </a:ln>
              <a:effectLst/>
            </c:spPr>
            <c:txPr>
              <a:bodyPr/>
              <a:lstStyle/>
              <a:p>
                <a:pPr>
                  <a:defRPr sz="11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c:v>
                </c:pt>
                <c:pt idx="1">
                  <c:v>Naive Bayes</c:v>
                </c:pt>
                <c:pt idx="2">
                  <c:v>Random Forest</c:v>
                </c:pt>
                <c:pt idx="3">
                  <c:v>XGBoost</c:v>
                </c:pt>
                <c:pt idx="4">
                  <c:v>LSTM</c:v>
                </c:pt>
              </c:strCache>
            </c:strRef>
          </c:cat>
          <c:val>
            <c:numRef>
              <c:f>Sheet1!$B$2:$B$6</c:f>
              <c:numCache>
                <c:formatCode>General</c:formatCode>
                <c:ptCount val="5"/>
                <c:pt idx="0">
                  <c:v>78.8</c:v>
                </c:pt>
                <c:pt idx="1">
                  <c:v>68.3</c:v>
                </c:pt>
                <c:pt idx="2">
                  <c:v>73.3</c:v>
                </c:pt>
                <c:pt idx="3">
                  <c:v>72.900000000000006</c:v>
                </c:pt>
                <c:pt idx="4">
                  <c:v>81.2</c:v>
                </c:pt>
              </c:numCache>
            </c:numRef>
          </c:val>
          <c:extLst>
            <c:ext xmlns:c16="http://schemas.microsoft.com/office/drawing/2014/chart" uri="{C3380CC4-5D6E-409C-BE32-E72D297353CC}">
              <c16:uniqueId val="{00000000-897A-44AB-8C24-40E57D11EA86}"/>
            </c:ext>
          </c:extLst>
        </c:ser>
        <c:ser>
          <c:idx val="1"/>
          <c:order val="1"/>
          <c:tx>
            <c:strRef>
              <c:f>Sheet1!$C$1</c:f>
              <c:strCache>
                <c:ptCount val="1"/>
                <c:pt idx="0">
                  <c:v>Weighted F1 (%)</c:v>
                </c:pt>
              </c:strCache>
            </c:strRef>
          </c:tx>
          <c:spPr>
            <a:solidFill>
              <a:srgbClr val="0E8F87"/>
            </a:solidFill>
            <a:effectLst/>
          </c:spPr>
          <c:invertIfNegative val="0"/>
          <c:dLbls>
            <c:numFmt formatCode="0.0" sourceLinked="0"/>
            <c:spPr>
              <a:noFill/>
              <a:ln>
                <a:noFill/>
              </a:ln>
              <a:effectLst/>
            </c:spPr>
            <c:txPr>
              <a:bodyPr/>
              <a:lstStyle/>
              <a:p>
                <a:pPr>
                  <a:defRPr sz="11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c:v>
                </c:pt>
                <c:pt idx="1">
                  <c:v>Naive Bayes</c:v>
                </c:pt>
                <c:pt idx="2">
                  <c:v>Random Forest</c:v>
                </c:pt>
                <c:pt idx="3">
                  <c:v>XGBoost</c:v>
                </c:pt>
                <c:pt idx="4">
                  <c:v>LSTM</c:v>
                </c:pt>
              </c:strCache>
            </c:strRef>
          </c:cat>
          <c:val>
            <c:numRef>
              <c:f>Sheet1!$C$2:$C$6</c:f>
              <c:numCache>
                <c:formatCode>General</c:formatCode>
                <c:ptCount val="5"/>
                <c:pt idx="0">
                  <c:v>79.2</c:v>
                </c:pt>
                <c:pt idx="1">
                  <c:v>66.8</c:v>
                </c:pt>
                <c:pt idx="2">
                  <c:v>73.599999999999994</c:v>
                </c:pt>
                <c:pt idx="3">
                  <c:v>73.599999999999994</c:v>
                </c:pt>
                <c:pt idx="4">
                  <c:v>81.2</c:v>
                </c:pt>
              </c:numCache>
            </c:numRef>
          </c:val>
          <c:extLst>
            <c:ext xmlns:c16="http://schemas.microsoft.com/office/drawing/2014/chart" uri="{C3380CC4-5D6E-409C-BE32-E72D297353CC}">
              <c16:uniqueId val="{00000001-897A-44AB-8C24-40E57D11EA8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390"/>
                </a:solidFill>
                <a:latin typeface="+mn-lt"/>
              </a:defRPr>
            </a:pPr>
            <a:endParaRPr lang="en-US"/>
          </a:p>
        </c:txPr>
        <c:crossAx val="2094734552"/>
        <c:crosses val="autoZero"/>
        <c:auto val="1"/>
        <c:lblAlgn val="ctr"/>
        <c:lblOffset val="100"/>
        <c:noMultiLvlLbl val="1"/>
      </c:catAx>
      <c:valAx>
        <c:axId val="2094734552"/>
        <c:scaling>
          <c:orientation val="minMax"/>
          <c:max val="90"/>
          <c:min val="50"/>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1418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A2F6B"/>
                </a:solidFill>
                <a:latin typeface="+mn-lt"/>
              </a:defRPr>
            </a:pPr>
            <a:r>
              <a:rPr lang="en-IN" sz="1300" b="0" i="0" u="none" strike="noStrike">
                <a:solidFill>
                  <a:srgbClr val="2A2F6B"/>
                </a:solidFill>
                <a:latin typeface="+mn-lt"/>
              </a:rPr>
              <a:t>F1 score by class (%)</a:t>
            </a:r>
          </a:p>
        </c:rich>
      </c:tx>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6B7390"/>
            </a:solidFill>
            <a:effectLst/>
          </c:spPr>
          <c:invertIfNegative val="0"/>
          <c:dLbls>
            <c:numFmt formatCode="0.0" sourceLinked="0"/>
            <c:spPr>
              <a:noFill/>
              <a:ln>
                <a:noFill/>
              </a:ln>
              <a:effectLst/>
            </c:spPr>
            <c:txPr>
              <a:bodyPr/>
              <a:lstStyle/>
              <a:p>
                <a:pPr>
                  <a:defRPr sz="12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Negative</c:v>
                </c:pt>
                <c:pt idx="1">
                  <c:v>Neutral</c:v>
                </c:pt>
                <c:pt idx="2">
                  <c:v>Positive</c:v>
                </c:pt>
              </c:strCache>
            </c:strRef>
          </c:cat>
          <c:val>
            <c:numRef>
              <c:f>Sheet1!$B$2:$B$4</c:f>
              <c:numCache>
                <c:formatCode>General</c:formatCode>
                <c:ptCount val="3"/>
                <c:pt idx="0">
                  <c:v>80.8</c:v>
                </c:pt>
                <c:pt idx="1">
                  <c:v>68.8</c:v>
                </c:pt>
                <c:pt idx="2">
                  <c:v>82.2</c:v>
                </c:pt>
              </c:numCache>
            </c:numRef>
          </c:val>
          <c:extLst>
            <c:ext xmlns:c16="http://schemas.microsoft.com/office/drawing/2014/chart" uri="{C3380CC4-5D6E-409C-BE32-E72D297353CC}">
              <c16:uniqueId val="{00000000-4D9B-40EC-93FC-457C07E1AF8A}"/>
            </c:ext>
          </c:extLst>
        </c:ser>
        <c:ser>
          <c:idx val="1"/>
          <c:order val="1"/>
          <c:tx>
            <c:strRef>
              <c:f>Sheet1!$C$1</c:f>
              <c:strCache>
                <c:ptCount val="1"/>
                <c:pt idx="0">
                  <c:v>LSTM</c:v>
                </c:pt>
              </c:strCache>
            </c:strRef>
          </c:tx>
          <c:spPr>
            <a:solidFill>
              <a:srgbClr val="2A2F6B"/>
            </a:solidFill>
            <a:effectLst/>
          </c:spPr>
          <c:invertIfNegative val="0"/>
          <c:dLbls>
            <c:numFmt formatCode="0.0" sourceLinked="0"/>
            <c:spPr>
              <a:noFill/>
              <a:ln>
                <a:noFill/>
              </a:ln>
              <a:effectLst/>
            </c:spPr>
            <c:txPr>
              <a:bodyPr/>
              <a:lstStyle/>
              <a:p>
                <a:pPr>
                  <a:defRPr sz="12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Negative</c:v>
                </c:pt>
                <c:pt idx="1">
                  <c:v>Neutral</c:v>
                </c:pt>
                <c:pt idx="2">
                  <c:v>Positive</c:v>
                </c:pt>
              </c:strCache>
            </c:strRef>
          </c:cat>
          <c:val>
            <c:numRef>
              <c:f>Sheet1!$C$2:$C$4</c:f>
              <c:numCache>
                <c:formatCode>General</c:formatCode>
                <c:ptCount val="3"/>
                <c:pt idx="0">
                  <c:v>82.9</c:v>
                </c:pt>
                <c:pt idx="1">
                  <c:v>72.7</c:v>
                </c:pt>
                <c:pt idx="2">
                  <c:v>83.4</c:v>
                </c:pt>
              </c:numCache>
            </c:numRef>
          </c:val>
          <c:extLst>
            <c:ext xmlns:c16="http://schemas.microsoft.com/office/drawing/2014/chart" uri="{C3380CC4-5D6E-409C-BE32-E72D297353CC}">
              <c16:uniqueId val="{00000001-4D9B-40EC-93FC-457C07E1AF8A}"/>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7390"/>
                </a:solidFill>
                <a:latin typeface="+mn-lt"/>
              </a:defRPr>
            </a:pPr>
            <a:endParaRPr lang="en-US"/>
          </a:p>
        </c:txPr>
        <c:crossAx val="2094734552"/>
        <c:crosses val="autoZero"/>
        <c:auto val="1"/>
        <c:lblAlgn val="ctr"/>
        <c:lblOffset val="100"/>
        <c:noMultiLvlLbl val="1"/>
      </c:catAx>
      <c:valAx>
        <c:axId val="2094734552"/>
        <c:scaling>
          <c:orientation val="minMax"/>
          <c:max val="90"/>
          <c:min val="50"/>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1418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A2F6B"/>
                </a:solidFill>
                <a:latin typeface="+mn-lt"/>
              </a:defRPr>
            </a:pPr>
            <a:r>
              <a:rPr lang="en-IN" sz="1300" b="0" i="0" u="none" strike="noStrike">
                <a:solidFill>
                  <a:srgbClr val="2A2F6B"/>
                </a:solidFill>
                <a:latin typeface="+mn-lt"/>
              </a:rPr>
              <a:t>Accuracy by model confidence</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4C5BD4"/>
            </a:solidFill>
            <a:effectLst/>
          </c:spPr>
          <c:invertIfNegative val="0"/>
          <c:dPt>
            <c:idx val="0"/>
            <c:invertIfNegative val="0"/>
            <c:bubble3D val="0"/>
            <c:extLst>
              <c:ext xmlns:c16="http://schemas.microsoft.com/office/drawing/2014/chart" uri="{C3380CC4-5D6E-409C-BE32-E72D297353CC}">
                <c16:uniqueId val="{00000001-0AB0-4553-9756-32957869CCF3}"/>
              </c:ext>
            </c:extLst>
          </c:dPt>
          <c:dPt>
            <c:idx val="1"/>
            <c:invertIfNegative val="0"/>
            <c:bubble3D val="0"/>
            <c:extLst>
              <c:ext xmlns:c16="http://schemas.microsoft.com/office/drawing/2014/chart" uri="{C3380CC4-5D6E-409C-BE32-E72D297353CC}">
                <c16:uniqueId val="{00000003-0AB0-4553-9756-32957869CCF3}"/>
              </c:ext>
            </c:extLst>
          </c:dPt>
          <c:dPt>
            <c:idx val="2"/>
            <c:invertIfNegative val="0"/>
            <c:bubble3D val="0"/>
            <c:extLst>
              <c:ext xmlns:c16="http://schemas.microsoft.com/office/drawing/2014/chart" uri="{C3380CC4-5D6E-409C-BE32-E72D297353CC}">
                <c16:uniqueId val="{00000005-0AB0-4553-9756-32957869CCF3}"/>
              </c:ext>
            </c:extLst>
          </c:dPt>
          <c:dPt>
            <c:idx val="3"/>
            <c:invertIfNegative val="0"/>
            <c:bubble3D val="0"/>
            <c:extLst>
              <c:ext xmlns:c16="http://schemas.microsoft.com/office/drawing/2014/chart" uri="{C3380CC4-5D6E-409C-BE32-E72D297353CC}">
                <c16:uniqueId val="{00000007-0AB0-4553-9756-32957869CCF3}"/>
              </c:ext>
            </c:extLst>
          </c:dPt>
          <c:dPt>
            <c:idx val="4"/>
            <c:invertIfNegative val="0"/>
            <c:bubble3D val="0"/>
            <c:spPr>
              <a:solidFill>
                <a:srgbClr val="0E8F87"/>
              </a:solidFill>
              <a:effectLst/>
            </c:spPr>
            <c:extLst>
              <c:ext xmlns:c16="http://schemas.microsoft.com/office/drawing/2014/chart" uri="{C3380CC4-5D6E-409C-BE32-E72D297353CC}">
                <c16:uniqueId val="{00000009-0AB0-4553-9756-32957869CCF3}"/>
              </c:ext>
            </c:extLst>
          </c:dPt>
          <c:dLbls>
            <c:numFmt formatCode="0.0" sourceLinked="0"/>
            <c:spPr>
              <a:noFill/>
              <a:ln>
                <a:noFill/>
              </a:ln>
              <a:effectLst/>
            </c:spPr>
            <c:txPr>
              <a:bodyPr/>
              <a:lstStyle/>
              <a:p>
                <a:pPr>
                  <a:defRPr sz="12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&lt;50%</c:v>
                </c:pt>
                <c:pt idx="1">
                  <c:v>50–60%</c:v>
                </c:pt>
                <c:pt idx="2">
                  <c:v>60–70%</c:v>
                </c:pt>
                <c:pt idx="3">
                  <c:v>70–80%</c:v>
                </c:pt>
                <c:pt idx="4">
                  <c:v>&gt;80%</c:v>
                </c:pt>
              </c:strCache>
            </c:strRef>
          </c:cat>
          <c:val>
            <c:numRef>
              <c:f>Sheet1!$B$2:$B$6</c:f>
              <c:numCache>
                <c:formatCode>General</c:formatCode>
                <c:ptCount val="5"/>
                <c:pt idx="0">
                  <c:v>43.4</c:v>
                </c:pt>
                <c:pt idx="1">
                  <c:v>59.4</c:v>
                </c:pt>
                <c:pt idx="2">
                  <c:v>72.599999999999994</c:v>
                </c:pt>
                <c:pt idx="3">
                  <c:v>83.7</c:v>
                </c:pt>
                <c:pt idx="4">
                  <c:v>93.4</c:v>
                </c:pt>
              </c:numCache>
            </c:numRef>
          </c:val>
          <c:extLst>
            <c:ext xmlns:c16="http://schemas.microsoft.com/office/drawing/2014/chart" uri="{C3380CC4-5D6E-409C-BE32-E72D297353CC}">
              <c16:uniqueId val="{0000000A-0AB0-4553-9756-32957869CCF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title>
          <c:tx>
            <c:rich>
              <a:bodyPr/>
              <a:lstStyle/>
              <a:p>
                <a:pPr>
                  <a:defRPr sz="1100" b="0" i="0" u="none" strike="noStrike">
                    <a:solidFill>
                      <a:srgbClr val="6B7390"/>
                    </a:solidFill>
                    <a:latin typeface="+mn-lt"/>
                  </a:defRPr>
                </a:pPr>
                <a:r>
                  <a:rPr lang="en-IN" sz="1100" b="0" i="0" u="none" strike="noStrike">
                    <a:solidFill>
                      <a:srgbClr val="6B7390"/>
                    </a:solidFill>
                    <a:latin typeface="+mn-lt"/>
                  </a:rPr>
                  <a:t>Confidence of the prediction</a:t>
                </a:r>
              </a:p>
            </c:rich>
          </c:tx>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6B7390"/>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A2F6B"/>
                </a:solidFill>
                <a:latin typeface="+mn-lt"/>
              </a:defRPr>
            </a:pPr>
            <a:r>
              <a:rPr lang="en-US" sz="1300" b="0" i="0" u="none" strike="noStrike">
                <a:solidFill>
                  <a:srgbClr val="2A2F6B"/>
                </a:solidFill>
                <a:latin typeface="+mn-lt"/>
              </a:rPr>
              <a:t>Forecast share of tweets, 21 Apr 2020 (%)</a:t>
            </a:r>
          </a:p>
        </c:rich>
      </c:tx>
      <c:overlay val="0"/>
    </c:title>
    <c:autoTitleDeleted val="0"/>
    <c:plotArea>
      <c:layout/>
      <c:barChart>
        <c:barDir val="col"/>
        <c:grouping val="clustered"/>
        <c:varyColors val="0"/>
        <c:ser>
          <c:idx val="0"/>
          <c:order val="0"/>
          <c:tx>
            <c:strRef>
              <c:f>Sheet1!$B$1</c:f>
              <c:strCache>
                <c:ptCount val="1"/>
                <c:pt idx="0">
                  <c:v>Share (%)</c:v>
                </c:pt>
              </c:strCache>
            </c:strRef>
          </c:tx>
          <c:spPr>
            <a:solidFill>
              <a:srgbClr val="0E8F87"/>
            </a:solidFill>
            <a:effectLst/>
          </c:spPr>
          <c:invertIfNegative val="0"/>
          <c:dPt>
            <c:idx val="0"/>
            <c:invertIfNegative val="0"/>
            <c:bubble3D val="0"/>
            <c:extLst>
              <c:ext xmlns:c16="http://schemas.microsoft.com/office/drawing/2014/chart" uri="{C3380CC4-5D6E-409C-BE32-E72D297353CC}">
                <c16:uniqueId val="{00000001-4F62-4031-B815-DC485B1B871D}"/>
              </c:ext>
            </c:extLst>
          </c:dPt>
          <c:dPt>
            <c:idx val="1"/>
            <c:invertIfNegative val="0"/>
            <c:bubble3D val="0"/>
            <c:spPr>
              <a:solidFill>
                <a:srgbClr val="E4572E"/>
              </a:solidFill>
              <a:effectLst/>
            </c:spPr>
            <c:extLst>
              <c:ext xmlns:c16="http://schemas.microsoft.com/office/drawing/2014/chart" uri="{C3380CC4-5D6E-409C-BE32-E72D297353CC}">
                <c16:uniqueId val="{00000003-4F62-4031-B815-DC485B1B871D}"/>
              </c:ext>
            </c:extLst>
          </c:dPt>
          <c:dPt>
            <c:idx val="2"/>
            <c:invertIfNegative val="0"/>
            <c:bubble3D val="0"/>
            <c:spPr>
              <a:solidFill>
                <a:srgbClr val="F2A93B"/>
              </a:solidFill>
              <a:effectLst/>
            </c:spPr>
            <c:extLst>
              <c:ext xmlns:c16="http://schemas.microsoft.com/office/drawing/2014/chart" uri="{C3380CC4-5D6E-409C-BE32-E72D297353CC}">
                <c16:uniqueId val="{00000005-4F62-4031-B815-DC485B1B871D}"/>
              </c:ext>
            </c:extLst>
          </c:dPt>
          <c:dLbls>
            <c:numFmt formatCode="0.0" sourceLinked="0"/>
            <c:spPr>
              <a:noFill/>
              <a:ln>
                <a:noFill/>
              </a:ln>
              <a:effectLst/>
            </c:spPr>
            <c:txPr>
              <a:bodyPr/>
              <a:lstStyle/>
              <a:p>
                <a:pPr>
                  <a:defRPr sz="12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Positive</c:v>
                </c:pt>
                <c:pt idx="1">
                  <c:v>Negative</c:v>
                </c:pt>
                <c:pt idx="2">
                  <c:v>Neutral</c:v>
                </c:pt>
              </c:strCache>
            </c:strRef>
          </c:cat>
          <c:val>
            <c:numRef>
              <c:f>Sheet1!$B$2:$B$4</c:f>
              <c:numCache>
                <c:formatCode>General</c:formatCode>
                <c:ptCount val="3"/>
                <c:pt idx="0">
                  <c:v>46.4</c:v>
                </c:pt>
                <c:pt idx="1">
                  <c:v>32.5</c:v>
                </c:pt>
                <c:pt idx="2">
                  <c:v>21.1</c:v>
                </c:pt>
              </c:numCache>
            </c:numRef>
          </c:val>
          <c:extLst>
            <c:ext xmlns:c16="http://schemas.microsoft.com/office/drawing/2014/chart" uri="{C3380CC4-5D6E-409C-BE32-E72D297353CC}">
              <c16:uniqueId val="{00000006-4F62-4031-B815-DC485B1B871D}"/>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7390"/>
                </a:solidFill>
                <a:latin typeface="+mn-lt"/>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A2F6B"/>
                </a:solidFill>
                <a:latin typeface="+mn-lt"/>
              </a:defRPr>
            </a:pPr>
            <a:r>
              <a:rPr lang="en-US" sz="1300" b="0" i="0" u="none" strike="noStrike">
                <a:solidFill>
                  <a:srgbClr val="2A2F6B"/>
                </a:solidFill>
                <a:latin typeface="+mn-lt"/>
              </a:rPr>
              <a:t>Back-test error (MAE, percentage points; lower is better)</a:t>
            </a:r>
          </a:p>
        </c:rich>
      </c:tx>
      <c:overlay val="0"/>
    </c:title>
    <c:autoTitleDeleted val="0"/>
    <c:plotArea>
      <c:layout/>
      <c:barChart>
        <c:barDir val="col"/>
        <c:grouping val="clustered"/>
        <c:varyColors val="0"/>
        <c:ser>
          <c:idx val="0"/>
          <c:order val="0"/>
          <c:tx>
            <c:strRef>
              <c:f>Sheet1!$B$1</c:f>
              <c:strCache>
                <c:ptCount val="1"/>
                <c:pt idx="0">
                  <c:v>Trend line</c:v>
                </c:pt>
              </c:strCache>
            </c:strRef>
          </c:tx>
          <c:spPr>
            <a:solidFill>
              <a:srgbClr val="2A2F6B"/>
            </a:solidFill>
            <a:effectLst/>
          </c:spPr>
          <c:invertIfNegative val="0"/>
          <c:dLbls>
            <c:numFmt formatCode="0.00" sourceLinked="0"/>
            <c:spPr>
              <a:noFill/>
              <a:ln>
                <a:noFill/>
              </a:ln>
              <a:effectLst/>
            </c:spPr>
            <c:txPr>
              <a:bodyPr/>
              <a:lstStyle/>
              <a:p>
                <a:pPr>
                  <a:defRPr sz="12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Negative</c:v>
                </c:pt>
                <c:pt idx="1">
                  <c:v>Neutral</c:v>
                </c:pt>
                <c:pt idx="2">
                  <c:v>Positive</c:v>
                </c:pt>
              </c:strCache>
            </c:strRef>
          </c:cat>
          <c:val>
            <c:numRef>
              <c:f>Sheet1!$B$2:$B$4</c:f>
              <c:numCache>
                <c:formatCode>General</c:formatCode>
                <c:ptCount val="3"/>
                <c:pt idx="0">
                  <c:v>3.03</c:v>
                </c:pt>
                <c:pt idx="1">
                  <c:v>1.59</c:v>
                </c:pt>
                <c:pt idx="2">
                  <c:v>2.23</c:v>
                </c:pt>
              </c:numCache>
            </c:numRef>
          </c:val>
          <c:extLst>
            <c:ext xmlns:c16="http://schemas.microsoft.com/office/drawing/2014/chart" uri="{C3380CC4-5D6E-409C-BE32-E72D297353CC}">
              <c16:uniqueId val="{00000000-C69D-420D-A59B-64DAC4228CF6}"/>
            </c:ext>
          </c:extLst>
        </c:ser>
        <c:ser>
          <c:idx val="1"/>
          <c:order val="1"/>
          <c:tx>
            <c:strRef>
              <c:f>Sheet1!$C$1</c:f>
              <c:strCache>
                <c:ptCount val="1"/>
                <c:pt idx="0">
                  <c:v>Simple average</c:v>
                </c:pt>
              </c:strCache>
            </c:strRef>
          </c:tx>
          <c:spPr>
            <a:solidFill>
              <a:srgbClr val="F2A93B"/>
            </a:solidFill>
            <a:effectLst/>
          </c:spPr>
          <c:invertIfNegative val="0"/>
          <c:dLbls>
            <c:numFmt formatCode="0.00" sourceLinked="0"/>
            <c:spPr>
              <a:noFill/>
              <a:ln>
                <a:noFill/>
              </a:ln>
              <a:effectLst/>
            </c:spPr>
            <c:txPr>
              <a:bodyPr/>
              <a:lstStyle/>
              <a:p>
                <a:pPr>
                  <a:defRPr sz="12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Negative</c:v>
                </c:pt>
                <c:pt idx="1">
                  <c:v>Neutral</c:v>
                </c:pt>
                <c:pt idx="2">
                  <c:v>Positive</c:v>
                </c:pt>
              </c:strCache>
            </c:strRef>
          </c:cat>
          <c:val>
            <c:numRef>
              <c:f>Sheet1!$C$2:$C$4</c:f>
              <c:numCache>
                <c:formatCode>General</c:formatCode>
                <c:ptCount val="3"/>
                <c:pt idx="0">
                  <c:v>2.7</c:v>
                </c:pt>
                <c:pt idx="1">
                  <c:v>2</c:v>
                </c:pt>
                <c:pt idx="2">
                  <c:v>1.69</c:v>
                </c:pt>
              </c:numCache>
            </c:numRef>
          </c:val>
          <c:extLst>
            <c:ext xmlns:c16="http://schemas.microsoft.com/office/drawing/2014/chart" uri="{C3380CC4-5D6E-409C-BE32-E72D297353CC}">
              <c16:uniqueId val="{00000001-C69D-420D-A59B-64DAC4228CF6}"/>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7390"/>
                </a:solidFill>
                <a:latin typeface="+mn-lt"/>
              </a:defRPr>
            </a:pPr>
            <a:endParaRPr lang="en-US"/>
          </a:p>
        </c:txPr>
        <c:crossAx val="2094734552"/>
        <c:crosses val="autoZero"/>
        <c:auto val="1"/>
        <c:lblAlgn val="ctr"/>
        <c:lblOffset val="100"/>
        <c:noMultiLvlLbl val="1"/>
      </c:catAx>
      <c:valAx>
        <c:axId val="2094734552"/>
        <c:scaling>
          <c:orientation val="minMax"/>
          <c:max val="4"/>
          <c:min val="0"/>
        </c:scaling>
        <c:delete val="0"/>
        <c:axPos val="l"/>
        <c:majorGridlines>
          <c:spPr>
            <a:ln w="9525" cap="flat">
              <a:solidFill>
                <a:srgbClr val="DDE1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1418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A2F6B"/>
                </a:solidFill>
                <a:latin typeface="+mn-lt"/>
              </a:defRPr>
            </a:pPr>
            <a:r>
              <a:rPr lang="en-IN" sz="1300" b="0" i="0" u="none" strike="noStrike">
                <a:solidFill>
                  <a:srgbClr val="2A2F6B"/>
                </a:solidFill>
                <a:latin typeface="+mn-lt"/>
              </a:rPr>
              <a:t>Top hashtags by PageRank</a:t>
            </a:r>
          </a:p>
        </c:rich>
      </c:tx>
      <c:overlay val="0"/>
    </c:title>
    <c:autoTitleDeleted val="0"/>
    <c:plotArea>
      <c:layout/>
      <c:barChart>
        <c:barDir val="bar"/>
        <c:grouping val="clustered"/>
        <c:varyColors val="0"/>
        <c:ser>
          <c:idx val="0"/>
          <c:order val="0"/>
          <c:tx>
            <c:strRef>
              <c:f>Sheet1!$B$1</c:f>
              <c:strCache>
                <c:ptCount val="1"/>
                <c:pt idx="0">
                  <c:v>PageRank</c:v>
                </c:pt>
              </c:strCache>
            </c:strRef>
          </c:tx>
          <c:spPr>
            <a:solidFill>
              <a:srgbClr val="4C5BD4"/>
            </a:solidFill>
            <a:effectLst/>
          </c:spPr>
          <c:invertIfNegative val="0"/>
          <c:dLbls>
            <c:numFmt formatCode="0.000" sourceLinked="0"/>
            <c:spPr>
              <a:noFill/>
              <a:ln>
                <a:noFill/>
              </a:ln>
              <a:effectLst/>
            </c:spPr>
            <c:txPr>
              <a:bodyPr/>
              <a:lstStyle/>
              <a:p>
                <a:pPr>
                  <a:defRPr sz="1200" b="0" i="0" u="none" strike="noStrike">
                    <a:solidFill>
                      <a:srgbClr val="1418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covid2019</c:v>
                </c:pt>
                <c:pt idx="1">
                  <c:v>covid</c:v>
                </c:pt>
                <c:pt idx="2">
                  <c:v>covid_19</c:v>
                </c:pt>
                <c:pt idx="3">
                  <c:v>toiletpaper</c:v>
                </c:pt>
                <c:pt idx="4">
                  <c:v>covid19</c:v>
                </c:pt>
                <c:pt idx="5">
                  <c:v>coronavirus</c:v>
                </c:pt>
              </c:strCache>
            </c:strRef>
          </c:cat>
          <c:val>
            <c:numRef>
              <c:f>Sheet1!$B$2:$B$7</c:f>
              <c:numCache>
                <c:formatCode>General</c:formatCode>
                <c:ptCount val="6"/>
                <c:pt idx="0">
                  <c:v>2.3E-2</c:v>
                </c:pt>
                <c:pt idx="1">
                  <c:v>4.5999999999999999E-2</c:v>
                </c:pt>
                <c:pt idx="2">
                  <c:v>5.7000000000000002E-2</c:v>
                </c:pt>
                <c:pt idx="3">
                  <c:v>6.4000000000000001E-2</c:v>
                </c:pt>
                <c:pt idx="4">
                  <c:v>0.14799999999999999</c:v>
                </c:pt>
                <c:pt idx="5">
                  <c:v>0.28000000000000003</c:v>
                </c:pt>
              </c:numCache>
            </c:numRef>
          </c:val>
          <c:extLst>
            <c:ext xmlns:c16="http://schemas.microsoft.com/office/drawing/2014/chart" uri="{C3380CC4-5D6E-409C-BE32-E72D297353CC}">
              <c16:uniqueId val="{00000000-4BC8-4879-A4BD-FA53671D9B8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B7390"/>
                </a:solidFill>
                <a:latin typeface="+mn-lt"/>
              </a:defRPr>
            </a:pPr>
            <a:endParaRPr lang="en-US"/>
          </a:p>
        </c:txPr>
        <c:crossAx val="2094734552"/>
        <c:crosses val="autoZero"/>
        <c:auto val="1"/>
        <c:lblAlgn val="ctr"/>
        <c:lblOffset val="100"/>
        <c:noMultiLvlLbl val="1"/>
      </c:catAx>
      <c:valAx>
        <c:axId val="2094734552"/>
        <c:scaling>
          <c:orientation val="minMax"/>
          <c:max val="0.33"/>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6511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Welcome. This project builds a real-time sentiment analysis system for social media posts: tweets flow through Kafka, are processed by Spark, classified by a machine-learning model, and shown on a Streamlit dashboard. The three circles show the sentiment mix of the 41,122 cleaned training tweets.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Seven parts: first the concepts and motivation, then the tools, the data, the models, the evaluation, the real-time and analytics modules, and finally the conclusions.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People publish opinions on social media faster than anyone can read them. Organisations in many fields need the overall mood as it changes, not days later. Four typical uses are shown on the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Six objectives, one per stage of the workflow. Each later section of this presentation maps to one of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Sentiment analysis, also called opinion mining, assigns an opinion label to text. It can work at document, sentence or aspect level. We work at tweet level, treating each tweet as one document with one of three labels. The examples on the right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five Vs describe big data. Social media text shows all of them: very large volume, constant velocity, mixed variety, noisy veracity, and the value that comes from turning raw posts into a live picture of public mood. Our dataset is small compared with the real Twitter firehose, but the architecture is built for the same properties.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Research moved from hand-made rules to machine learning in 2002, then to tweets in 2009 and 2010 using automatic labels, then to feature-engineered systems, neural networks and finally pre-trained transformers. Our project uses the classical and LSTM stages and adds the big data pipeline around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Left to right: the dataset is replayed into a Kafka topic, Spark consumes micro-batches and scores them with the trained model, and Streamlit presents the results. The strip below is the workflow that organises the project and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Kafka is a distributed log. Producers append records to a topic; each topic is split into partitions, which are ordered, append-only logs where every record has an offset. Consumers read at their own pace and remember their offset, so a slow consumer never blocks a fast producer and data can be replayed. Our setup is a single broker running in KRaft mode, which removes the need for ZooKeeper.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Spark exposes distributed tables called DataFrames and evaluates them lazily so its optimiser can plan the whole job. Structured Streaming treats a stream as a table that keeps growing and processes it in micro-batches. With foreachBatch we run our own function, here the sentiment scoring, on every micro-batch. We ran Spark 3.5.1 in local mode, but the same code scales to a cluster.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same model and preprocessing code serves both paths. Batch scoring answers what the mood was across a whole dataset, and is how we measured accuracy on all 3,796 unseen tweets. Streaming answers what the mood is right now, and is how we replayed 1,200 tweets in 10 micro-batches.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dataset is the Kaggle Coronavirus tweets NLP text classification set. The five original labels are merged into Positive, Negative and Neutral. Training tweets cover 16 March to 14 April 2020; the separate test file, kept as unseen data, covers 2 to 16 March 2020. Cleaning removes a few empty rows: 41,157 became 41,122.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Every step has a reason. Tweets contain URLs, user names, HTML codes and slang that carry no sentiment. We keep hashtag words because they often carry the topic, expand contractions so that negations become visible, and deliberately keep negation words when removing stop words, since 'not good' means the opposite of 'good'. Lemmatisation merges word forms such as prices and price.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An illustrative example showing how one tweet changes at each stage. Note that 'not' survives, so the model can still see the negative meaning. The final tokens are turned into TF-IDF vectors for the classical models or integer sequences for the LSTM.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Panic buying dominates the vocabulary: price, store, supermarket, food, grocery. Negative tweets use threat and blame words; positive tweets use thanks and enjoyment words. The word 'not' is the fifth most common word, which is why negations were preserved.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Machine-learning models need numbers, so each tweet becomes a vector. TF-IDF multiplies how often a word appears in the tweet by how rare it is across all tweets, so common words like 'the' get low weight and distinctive words like 'arrest' get high weight. We keep the 5,000 best unigram and bigram features. Bigrams matter because 'not good' differs from 'good'. The formula shown is the simplified textbook form; scikit-learn uses a smoothed variant.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Four classical algorithms are trained on the same TF-IDF features. Logistic Regression is a linear model and a strong text baseline. Naive Bayes assumes words are independent, which is false for language and hurts its Neutral recall. Random Forest and XGBoost use trees; they handle non-linear patterns but are slow and gave no gain on sparse text 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 word-order-aware network. Each tweet becomes a sequence of up to 27 word ids, drawn from a 20,000-word vocabulary. The Embedding layer maps each id to a learned 64-number vector. The bidirectional LSTM reads the sequence in both directions. Dropout randomly switches units off during training to reduce overfitting, a Dense layer combines the features, and a softmax layer outputs three class probabilities. Early stopping ends training when validation performance stops improving.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An LSTM keeps a cell state, a long-term memory, and three gates decide what to forget, what to store and what to output at each word. This fixes the vanishing-gradient problem of plain recurrent networks. In a bidirectional LSTM, one pass reads forward and one backward, so when the network reaches 'good' it already remembers that 'not' came before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Accuracy is the share of correct predictions. Precision asks: of the tweets we labelled X, how many really were X. Recall asks: of the real X tweets, how many did we find. F1 balances the two. Weighted F1 averages per class by class size; macro F1 treats each class equally, so it exposes weakness on the small Neutral class. The confusion matrix shows which classes get mixed up.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All five models were trained on the same 32,897-tweet split and tested on 8,225 tweets. LSTM wins at about 81.2% accuracy, but Logistic Regression is only two F1 points behind and trains in under a second, so it was kept as the lightweight deployed model. LSTM results vary slightly between runs (an earlier run gave 81.6%). The chart axis starts at 50 to make differences visible.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Every metric on the same 8,225-tweet test split. The LSTM is best on all accuracy-type metrics. Naive Bayes trains almost instantly but is the weakest. Logistic Regression trains more than a hundred times faster than the LSTM for a two-point F1 difference.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Rows are the true labels and columns are the predicted labels. The diagonal is correct. Logistic Regression pushes many positive and negative tweets into Neutral (433 and 377). The LSTM cuts those errors to 242 and 164, but it misses more genuine Neutral tweets, so Neutral recall is 0.72 against 0.80 for Logistic Regression. Its Neutral precision is much higher, 0.73 against 0.60.</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Positive and negative are easy because they contain strong signal words; neutral text has none. Logistic Regression finds 80% of neutral tweets but 40% of its neutral labels are wrong, because it over-labels. The LSTM is better balanced, lifting Neutral F1 from 0.688 to 0.727.</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deployed Logistic Regression model was run on the separate test file, from an earlier period (2 to 16 March 2020). Accuracy was 77.2%, slightly lower than on the training split, which is normal when the data shifts. The key finding is that confidence is trustworthy: predictions above 80% confidence are 93.4% accurate, so low-confidence posts can be flagged for human review.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prediction module runs any new text through the same pipeline used in training: clean, vectorise, classify, and report a label with a confidence. The four examples come from the saved model. The last one, 'Not good. Not good at all.', is correctly Negative but with only about 53% confidence, which shows how confidence signals uncertainty on very short text.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 producer thread publishes tweets to a Kafka topic as if they were arriving live. A consumer collects half-second windows into micro-batches and the model scores each batch. The same scoring logic also runs as a Spark DataFrame job and as Spark Structured Streaming with foreachBatch. A 1,200-tweet replay gave 10 micro-batches and 77.2% live accuracy. Throughput depends on hardware; quote the figure from your own Colab run. Note: in the development sandbox the Kafka consumer was tested against an in-memory stand-in, so run the Kafka cell in Colab before the demo.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forecast fits a straight line to the daily share of each sentiment over the 30 training days (16 March to 14 April 2020), then extends it seven days to 21 April. Negative share falls by about 0.21 points a day; positive and neutral rise by 0.11. This is a simple, transparent method; its limits are shown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 back-test hides the last days, forecasts them, and compares the error with a naive baseline, the average. MAE is mean absolute error in percentage points; lower is better. The trend line beat the average only for Neutral; for Negative and Positive the plain average was better. Daily volume is also very uneven, 3,446 tweets on 20 March against 23 on 28 March, so daily shares are noisy. The forecast is indicative only.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turn hashtags into a graph. Each hashtag is a node, and two hashtags are linked when they appear in the same tweet. Degree centrality counts how widely a node is connected; PageRank scores a node higher when it is linked to other important nodes. We kept the 40 most used hashtags and the 150 strongest links.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graph has 40 nodes and 150 edges. #coronavirus and #covid19 are the central hubs, with degree centrality of 1.00 and 0.97. Besides the virus tags, #toiletpaper is the largest hub, matching the panic-buying words in the exploratory analysis.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dashboard has six tabs. 'Try a post' lets the audience type any sentence and see the predicted sentiment with its confidence. In Colab the app is exposed through a Cloudflare tunnel so the link opens from any device during the demo.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Being open about limitations makes the results more credible. Sarcasm and ambiguous neutral text are inherent difficulties. The dataset covers one topic and one month, so the results may not transfer. The LSTM varies slightly from run to run. The streaming setup is a single-broker, single-machine simulation rather than a production cluster.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Four directions: stronger models such as fine-tuned BERTweet, scaling the pipeline with more Kafka partitions and a Spark cluster, better forecasting that handles trend and weekly cycles, and a product version with live feeds, more languages and alerts.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To close: the project delivers a working real-time sentiment pipeline. The LSTM is the most accurate model, and lightweight Logistic Regression is a good deployed choice because its confidence scores can be trusted. The system covers every stage of the workflow, from loading data to analysing results.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twenty references used in the written report. They cover sentiment analysis on Twitter, the models used, COVID-19 tweet studies, and the big data tools.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Thank you. I am happy to take questions, and the dashboard can be demonstrated live.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Real-Time Social Media Sentiment Analysis System</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marL="0" indent="0">
              <a:buNone/>
            </a:pPr>
            <a:r>
              <a:rPr lang="en-US" sz="1000" dirty="0">
                <a:solidFill>
                  <a:schemeClr val="accent6"/>
                </a:solidFill>
                <a:latin typeface="Calibri" pitchFamily="34" charset="0"/>
                <a:ea typeface="Calibri" pitchFamily="34" charset="-122"/>
                <a:cs typeface="Calibri" pitchFamily="34" charset="-120"/>
              </a:rPr>
              <a:t>Real-Time Social Media Sentiment Analysis System</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0.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548640" y="457200"/>
            <a:ext cx="822960" cy="960120"/>
          </a:xfrm>
          <a:prstGeom prst="roundRect">
            <a:avLst>
              <a:gd name="adj" fmla="val 11111"/>
            </a:avLst>
          </a:prstGeom>
          <a:solidFill>
            <a:schemeClr val="bg1"/>
          </a:solidFill>
          <a:ln/>
        </p:spPr>
        <p:txBody>
          <a:bodyPr/>
          <a:lstStyle/>
          <a:p>
            <a:endParaRPr lang="en-IN"/>
          </a:p>
        </p:txBody>
      </p:sp>
      <p:pic>
        <p:nvPicPr>
          <p:cNvPr id="3" name="College logo" descr="Symbiosis Institute of Technology logo"/>
          <p:cNvPicPr>
            <a:picLocks noChangeAspect="1"/>
          </p:cNvPicPr>
          <p:nvPr/>
        </p:nvPicPr>
        <p:blipFill>
          <a:blip r:embed="rId3"/>
          <a:stretch>
            <a:fillRect/>
          </a:stretch>
        </p:blipFill>
        <p:spPr>
          <a:xfrm>
            <a:off x="667512" y="548640"/>
            <a:ext cx="585216" cy="685800"/>
          </a:xfrm>
          <a:prstGeom prst="rect">
            <a:avLst/>
          </a:prstGeom>
        </p:spPr>
      </p:pic>
      <p:sp>
        <p:nvSpPr>
          <p:cNvPr id="4" name="Text 1"/>
          <p:cNvSpPr txBox="1"/>
          <p:nvPr/>
        </p:nvSpPr>
        <p:spPr>
          <a:xfrm>
            <a:off x="1554480" y="749808"/>
            <a:ext cx="4206240" cy="274320"/>
          </a:xfrm>
          <a:prstGeom prst="rect">
            <a:avLst/>
          </a:prstGeom>
          <a:noFill/>
          <a:ln/>
        </p:spPr>
        <p:txBody>
          <a:bodyPr wrap="square" lIns="0" tIns="0" rIns="0" bIns="0" rtlCol="0" anchor="t"/>
          <a:lstStyle/>
          <a:p>
            <a:pPr marL="0" indent="0">
              <a:buNone/>
            </a:pPr>
            <a:r>
              <a:rPr lang="en-US" sz="1300" b="1" kern="0" spc="200" dirty="0">
                <a:solidFill>
                  <a:schemeClr val="accent6"/>
                </a:solidFill>
                <a:latin typeface="Calibri" pitchFamily="34" charset="0"/>
                <a:ea typeface="Calibri" pitchFamily="34" charset="-122"/>
                <a:cs typeface="Calibri" pitchFamily="34" charset="-120"/>
              </a:rPr>
              <a:t>BIG DATA ANALYTICS  |  MINI PROJECT</a:t>
            </a:r>
            <a:endParaRPr lang="en-US" sz="1300" dirty="0"/>
          </a:p>
        </p:txBody>
      </p:sp>
      <p:sp>
        <p:nvSpPr>
          <p:cNvPr id="5" name="Deck title"/>
          <p:cNvSpPr txBox="1"/>
          <p:nvPr/>
        </p:nvSpPr>
        <p:spPr>
          <a:xfrm>
            <a:off x="548640" y="1645920"/>
            <a:ext cx="5120640" cy="1188720"/>
          </a:xfrm>
          <a:prstGeom prst="rect">
            <a:avLst/>
          </a:prstGeom>
          <a:noFill/>
          <a:ln/>
        </p:spPr>
        <p:txBody>
          <a:bodyPr wrap="square" lIns="0" tIns="0" rIns="0" bIns="0" rtlCol="0" anchor="t"/>
          <a:lstStyle/>
          <a:p>
            <a:pPr marL="0" indent="0">
              <a:buNone/>
            </a:pPr>
            <a:r>
              <a:rPr lang="en-US" sz="3200" b="1" dirty="0">
                <a:solidFill>
                  <a:schemeClr val="bg1"/>
                </a:solidFill>
                <a:latin typeface="Cambria" pitchFamily="34" charset="0"/>
                <a:ea typeface="Cambria" pitchFamily="34" charset="-122"/>
                <a:cs typeface="Cambria" pitchFamily="34" charset="-120"/>
              </a:rPr>
              <a:t>Real-Time Social Media Sentiment Analysis System</a:t>
            </a:r>
            <a:endParaRPr lang="en-US" sz="3200" dirty="0"/>
          </a:p>
        </p:txBody>
      </p:sp>
      <p:sp>
        <p:nvSpPr>
          <p:cNvPr id="6" name="Text 3"/>
          <p:cNvSpPr txBox="1"/>
          <p:nvPr/>
        </p:nvSpPr>
        <p:spPr>
          <a:xfrm>
            <a:off x="548640" y="3063240"/>
            <a:ext cx="5029200" cy="320040"/>
          </a:xfrm>
          <a:prstGeom prst="rect">
            <a:avLst/>
          </a:prstGeom>
          <a:noFill/>
          <a:ln/>
        </p:spPr>
        <p:txBody>
          <a:bodyPr wrap="square" lIns="0" tIns="0" rIns="0" bIns="0" rtlCol="0" anchor="t"/>
          <a:lstStyle/>
          <a:p>
            <a:pPr marL="0" indent="0">
              <a:buNone/>
            </a:pPr>
            <a:r>
              <a:rPr lang="en-US" sz="1600" dirty="0">
                <a:solidFill>
                  <a:schemeClr val="accent6"/>
                </a:solidFill>
                <a:latin typeface="Calibri" pitchFamily="34" charset="0"/>
                <a:ea typeface="Calibri" pitchFamily="34" charset="-122"/>
                <a:cs typeface="Calibri" pitchFamily="34" charset="-120"/>
              </a:rPr>
              <a:t>Kafka  →  Spark  →  Sentiment model  →  Streamlit</a:t>
            </a:r>
            <a:endParaRPr lang="en-US" sz="1600" dirty="0"/>
          </a:p>
        </p:txBody>
      </p:sp>
      <p:sp>
        <p:nvSpPr>
          <p:cNvPr id="7" name="Presenter details"/>
          <p:cNvSpPr txBox="1"/>
          <p:nvPr/>
        </p:nvSpPr>
        <p:spPr>
          <a:xfrm>
            <a:off x="548640" y="3931920"/>
            <a:ext cx="5303520" cy="77724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Aryan Koshal  –  23070521210</a:t>
            </a:r>
          </a:p>
          <a:p>
            <a:r>
              <a:rPr lang="en-US" sz="1400" b="1" dirty="0">
                <a:solidFill>
                  <a:schemeClr val="bg1"/>
                </a:solidFill>
                <a:latin typeface="Calibri" pitchFamily="34" charset="0"/>
                <a:ea typeface="Calibri" pitchFamily="34" charset="-122"/>
                <a:cs typeface="Calibri" pitchFamily="34" charset="-120"/>
              </a:rPr>
              <a:t>Shreyali Dongre – 23070521230</a:t>
            </a:r>
            <a:endParaRPr lang="en-US" sz="1400" dirty="0"/>
          </a:p>
          <a:p>
            <a:pPr marL="0" indent="0">
              <a:buNone/>
            </a:pPr>
            <a:r>
              <a:rPr lang="en-US" sz="1400" dirty="0">
                <a:solidFill>
                  <a:schemeClr val="bg1"/>
                </a:solidFill>
                <a:latin typeface="Calibri" pitchFamily="34" charset="0"/>
                <a:ea typeface="Calibri" pitchFamily="34" charset="-122"/>
                <a:cs typeface="Calibri" pitchFamily="34" charset="-120"/>
              </a:rPr>
              <a:t>Computer Science and Engineering, Batch 2023–2027</a:t>
            </a:r>
            <a:endParaRPr lang="en-US" sz="1400" dirty="0"/>
          </a:p>
          <a:p>
            <a:pPr marL="0" indent="0">
              <a:buNone/>
            </a:pPr>
            <a:r>
              <a:rPr lang="en-US" sz="1400" dirty="0">
                <a:solidFill>
                  <a:schemeClr val="bg1"/>
                </a:solidFill>
                <a:latin typeface="Calibri" pitchFamily="34" charset="0"/>
                <a:ea typeface="Calibri" pitchFamily="34" charset="-122"/>
                <a:cs typeface="Calibri" pitchFamily="34" charset="-120"/>
              </a:rPr>
              <a:t>Symbiosis Institute of Technology, Nagpur</a:t>
            </a:r>
            <a:endParaRPr lang="en-US" sz="1400" dirty="0"/>
          </a:p>
        </p:txBody>
      </p:sp>
      <p:sp>
        <p:nvSpPr>
          <p:cNvPr id="8" name="Positive bubble"/>
          <p:cNvSpPr/>
          <p:nvPr/>
        </p:nvSpPr>
        <p:spPr>
          <a:xfrm>
            <a:off x="5806440" y="685800"/>
            <a:ext cx="2377440" cy="2377440"/>
          </a:xfrm>
          <a:prstGeom prst="ellipse">
            <a:avLst/>
          </a:prstGeom>
          <a:solidFill>
            <a:schemeClr val="accent1"/>
          </a:solidFill>
          <a:ln/>
        </p:spPr>
        <p:txBody>
          <a:bodyPr/>
          <a:lstStyle/>
          <a:p>
            <a:endParaRPr lang="en-IN"/>
          </a:p>
        </p:txBody>
      </p:sp>
      <p:sp>
        <p:nvSpPr>
          <p:cNvPr id="9" name="Text 6"/>
          <p:cNvSpPr txBox="1"/>
          <p:nvPr/>
        </p:nvSpPr>
        <p:spPr>
          <a:xfrm>
            <a:off x="5806440" y="685800"/>
            <a:ext cx="2377440" cy="237744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43.9%</a:t>
            </a:r>
            <a:endParaRPr lang="en-US" sz="3000" dirty="0"/>
          </a:p>
          <a:p>
            <a:pPr marL="0" indent="0" algn="ctr">
              <a:buNone/>
            </a:pPr>
            <a:r>
              <a:rPr lang="en-US" sz="1400" dirty="0">
                <a:solidFill>
                  <a:schemeClr val="bg1"/>
                </a:solidFill>
                <a:latin typeface="Calibri" pitchFamily="34" charset="0"/>
                <a:ea typeface="Calibri" pitchFamily="34" charset="-122"/>
                <a:cs typeface="Calibri" pitchFamily="34" charset="-120"/>
              </a:rPr>
              <a:t>Positive</a:t>
            </a:r>
            <a:endParaRPr lang="en-US" sz="3000" dirty="0"/>
          </a:p>
        </p:txBody>
      </p:sp>
      <p:sp>
        <p:nvSpPr>
          <p:cNvPr id="10" name="Negative bubble"/>
          <p:cNvSpPr/>
          <p:nvPr/>
        </p:nvSpPr>
        <p:spPr>
          <a:xfrm>
            <a:off x="6903720" y="2788920"/>
            <a:ext cx="1874520" cy="1874520"/>
          </a:xfrm>
          <a:prstGeom prst="ellipse">
            <a:avLst/>
          </a:prstGeom>
          <a:solidFill>
            <a:schemeClr val="accent2"/>
          </a:solidFill>
          <a:ln/>
        </p:spPr>
        <p:txBody>
          <a:bodyPr/>
          <a:lstStyle/>
          <a:p>
            <a:endParaRPr lang="en-IN"/>
          </a:p>
        </p:txBody>
      </p:sp>
      <p:sp>
        <p:nvSpPr>
          <p:cNvPr id="11" name="Text 8"/>
          <p:cNvSpPr txBox="1"/>
          <p:nvPr/>
        </p:nvSpPr>
        <p:spPr>
          <a:xfrm>
            <a:off x="6903720" y="2788920"/>
            <a:ext cx="1874520" cy="1874520"/>
          </a:xfrm>
          <a:prstGeom prst="rect">
            <a:avLst/>
          </a:prstGeom>
          <a:noFill/>
          <a:ln/>
        </p:spPr>
        <p:txBody>
          <a:bodyPr wrap="square" lIns="0" tIns="0" rIns="0" bIns="0" rtlCol="0" anchor="ctr"/>
          <a:lstStyle/>
          <a:p>
            <a:pPr marL="0" indent="0" algn="ctr">
              <a:buNone/>
            </a:pPr>
            <a:r>
              <a:rPr lang="en-US" sz="3000" b="1" dirty="0">
                <a:solidFill>
                  <a:schemeClr val="bg1"/>
                </a:solidFill>
                <a:latin typeface="Cambria" pitchFamily="34" charset="0"/>
                <a:ea typeface="Cambria" pitchFamily="34" charset="-122"/>
                <a:cs typeface="Cambria" pitchFamily="34" charset="-120"/>
              </a:rPr>
              <a:t>37.4%</a:t>
            </a:r>
            <a:endParaRPr lang="en-US" sz="3000" dirty="0"/>
          </a:p>
          <a:p>
            <a:pPr marL="0" indent="0" algn="ctr">
              <a:buNone/>
            </a:pPr>
            <a:r>
              <a:rPr lang="en-US" sz="1400" dirty="0">
                <a:solidFill>
                  <a:schemeClr val="bg1"/>
                </a:solidFill>
                <a:latin typeface="Calibri" pitchFamily="34" charset="0"/>
                <a:ea typeface="Calibri" pitchFamily="34" charset="-122"/>
                <a:cs typeface="Calibri" pitchFamily="34" charset="-120"/>
              </a:rPr>
              <a:t>Negative</a:t>
            </a:r>
            <a:endParaRPr lang="en-US" sz="3000" dirty="0"/>
          </a:p>
        </p:txBody>
      </p:sp>
      <p:sp>
        <p:nvSpPr>
          <p:cNvPr id="12" name="Neutral bubble"/>
          <p:cNvSpPr/>
          <p:nvPr/>
        </p:nvSpPr>
        <p:spPr>
          <a:xfrm>
            <a:off x="5486400" y="3246120"/>
            <a:ext cx="1234440" cy="1234440"/>
          </a:xfrm>
          <a:prstGeom prst="ellipse">
            <a:avLst/>
          </a:prstGeom>
          <a:solidFill>
            <a:schemeClr val="accent3"/>
          </a:solidFill>
          <a:ln/>
        </p:spPr>
        <p:txBody>
          <a:bodyPr/>
          <a:lstStyle/>
          <a:p>
            <a:endParaRPr lang="en-IN"/>
          </a:p>
        </p:txBody>
      </p:sp>
      <p:sp>
        <p:nvSpPr>
          <p:cNvPr id="13" name="Text 10"/>
          <p:cNvSpPr txBox="1"/>
          <p:nvPr/>
        </p:nvSpPr>
        <p:spPr>
          <a:xfrm>
            <a:off x="5486400" y="3246120"/>
            <a:ext cx="1234440" cy="123444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18.7%</a:t>
            </a:r>
            <a:endParaRPr lang="en-US" sz="1800" dirty="0"/>
          </a:p>
          <a:p>
            <a:pPr marL="0" indent="0" algn="ctr">
              <a:buNone/>
            </a:pPr>
            <a:r>
              <a:rPr lang="en-US" sz="1200" dirty="0">
                <a:solidFill>
                  <a:schemeClr val="tx1"/>
                </a:solidFill>
                <a:latin typeface="Calibri" pitchFamily="34" charset="0"/>
                <a:ea typeface="Calibri" pitchFamily="34" charset="-122"/>
                <a:cs typeface="Calibri" pitchFamily="34" charset="-120"/>
              </a:rPr>
              <a:t>Neutral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Agenda</a:t>
            </a:r>
            <a:endParaRPr lang="en-US" sz="3200" dirty="0"/>
          </a:p>
        </p:txBody>
      </p:sp>
      <p:sp>
        <p:nvSpPr>
          <p:cNvPr id="4" name="Agenda item 1"/>
          <p:cNvSpPr/>
          <p:nvPr/>
        </p:nvSpPr>
        <p:spPr>
          <a:xfrm>
            <a:off x="457200" y="1188720"/>
            <a:ext cx="4023360" cy="731520"/>
          </a:xfrm>
          <a:prstGeom prst="roundRect">
            <a:avLst>
              <a:gd name="adj" fmla="val 15000"/>
            </a:avLst>
          </a:prstGeom>
          <a:solidFill>
            <a:schemeClr val="bg2"/>
          </a:solidFill>
          <a:ln/>
        </p:spPr>
        <p:txBody>
          <a:bodyPr/>
          <a:lstStyle/>
          <a:p>
            <a:endParaRPr lang="en-IN"/>
          </a:p>
        </p:txBody>
      </p:sp>
      <p:sp>
        <p:nvSpPr>
          <p:cNvPr id="5" name="Agenda number 1"/>
          <p:cNvSpPr/>
          <p:nvPr/>
        </p:nvSpPr>
        <p:spPr>
          <a:xfrm>
            <a:off x="594360" y="1298448"/>
            <a:ext cx="512064" cy="512064"/>
          </a:xfrm>
          <a:prstGeom prst="ellipse">
            <a:avLst/>
          </a:prstGeom>
          <a:solidFill>
            <a:schemeClr val="accent4"/>
          </a:solidFill>
          <a:ln/>
        </p:spPr>
        <p:txBody>
          <a:bodyPr/>
          <a:lstStyle/>
          <a:p>
            <a:endParaRPr lang="en-IN"/>
          </a:p>
        </p:txBody>
      </p:sp>
      <p:sp>
        <p:nvSpPr>
          <p:cNvPr id="6" name="Text 3"/>
          <p:cNvSpPr txBox="1"/>
          <p:nvPr/>
        </p:nvSpPr>
        <p:spPr>
          <a:xfrm>
            <a:off x="594360" y="129844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1280160" y="1280160"/>
            <a:ext cx="31089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Concepts</a:t>
            </a:r>
            <a:endParaRPr lang="en-US" sz="1600" dirty="0"/>
          </a:p>
        </p:txBody>
      </p:sp>
      <p:sp>
        <p:nvSpPr>
          <p:cNvPr id="8" name="Text 5"/>
          <p:cNvSpPr txBox="1"/>
          <p:nvPr/>
        </p:nvSpPr>
        <p:spPr>
          <a:xfrm>
            <a:off x="1280160" y="1572768"/>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Sentiment analysis, big data, related work</a:t>
            </a:r>
            <a:endParaRPr lang="en-US" sz="1300" dirty="0"/>
          </a:p>
        </p:txBody>
      </p:sp>
      <p:sp>
        <p:nvSpPr>
          <p:cNvPr id="9" name="Agenda item 2"/>
          <p:cNvSpPr/>
          <p:nvPr/>
        </p:nvSpPr>
        <p:spPr>
          <a:xfrm>
            <a:off x="457200" y="2029968"/>
            <a:ext cx="4023360" cy="731520"/>
          </a:xfrm>
          <a:prstGeom prst="roundRect">
            <a:avLst>
              <a:gd name="adj" fmla="val 15000"/>
            </a:avLst>
          </a:prstGeom>
          <a:solidFill>
            <a:schemeClr val="bg2"/>
          </a:solidFill>
          <a:ln/>
        </p:spPr>
        <p:txBody>
          <a:bodyPr/>
          <a:lstStyle/>
          <a:p>
            <a:endParaRPr lang="en-IN"/>
          </a:p>
        </p:txBody>
      </p:sp>
      <p:sp>
        <p:nvSpPr>
          <p:cNvPr id="10" name="Agenda number 2"/>
          <p:cNvSpPr/>
          <p:nvPr/>
        </p:nvSpPr>
        <p:spPr>
          <a:xfrm>
            <a:off x="594360" y="2139696"/>
            <a:ext cx="512064" cy="512064"/>
          </a:xfrm>
          <a:prstGeom prst="ellipse">
            <a:avLst/>
          </a:prstGeom>
          <a:solidFill>
            <a:schemeClr val="accent3"/>
          </a:solidFill>
          <a:ln/>
        </p:spPr>
        <p:txBody>
          <a:bodyPr/>
          <a:lstStyle/>
          <a:p>
            <a:endParaRPr lang="en-IN"/>
          </a:p>
        </p:txBody>
      </p:sp>
      <p:sp>
        <p:nvSpPr>
          <p:cNvPr id="11" name="Text 8"/>
          <p:cNvSpPr txBox="1"/>
          <p:nvPr/>
        </p:nvSpPr>
        <p:spPr>
          <a:xfrm>
            <a:off x="594360" y="2139696"/>
            <a:ext cx="512064" cy="512064"/>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1280160" y="2121408"/>
            <a:ext cx="31089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Architecture</a:t>
            </a:r>
            <a:endParaRPr lang="en-US" sz="1600" dirty="0"/>
          </a:p>
        </p:txBody>
      </p:sp>
      <p:sp>
        <p:nvSpPr>
          <p:cNvPr id="13" name="Text 10"/>
          <p:cNvSpPr txBox="1"/>
          <p:nvPr/>
        </p:nvSpPr>
        <p:spPr>
          <a:xfrm>
            <a:off x="1280160" y="2414016"/>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Kafka, Spark, batch vs streaming</a:t>
            </a:r>
            <a:endParaRPr lang="en-US" sz="1300" dirty="0"/>
          </a:p>
        </p:txBody>
      </p:sp>
      <p:sp>
        <p:nvSpPr>
          <p:cNvPr id="14" name="Agenda item 3"/>
          <p:cNvSpPr/>
          <p:nvPr/>
        </p:nvSpPr>
        <p:spPr>
          <a:xfrm>
            <a:off x="457200" y="2871216"/>
            <a:ext cx="4023360" cy="731520"/>
          </a:xfrm>
          <a:prstGeom prst="roundRect">
            <a:avLst>
              <a:gd name="adj" fmla="val 15000"/>
            </a:avLst>
          </a:prstGeom>
          <a:solidFill>
            <a:schemeClr val="bg2"/>
          </a:solidFill>
          <a:ln/>
        </p:spPr>
        <p:txBody>
          <a:bodyPr/>
          <a:lstStyle/>
          <a:p>
            <a:endParaRPr lang="en-IN"/>
          </a:p>
        </p:txBody>
      </p:sp>
      <p:sp>
        <p:nvSpPr>
          <p:cNvPr id="15" name="Agenda number 3"/>
          <p:cNvSpPr/>
          <p:nvPr/>
        </p:nvSpPr>
        <p:spPr>
          <a:xfrm>
            <a:off x="594360" y="2980944"/>
            <a:ext cx="512064" cy="512064"/>
          </a:xfrm>
          <a:prstGeom prst="ellipse">
            <a:avLst/>
          </a:prstGeom>
          <a:solidFill>
            <a:schemeClr val="accent1"/>
          </a:solidFill>
          <a:ln/>
        </p:spPr>
        <p:txBody>
          <a:bodyPr/>
          <a:lstStyle/>
          <a:p>
            <a:endParaRPr lang="en-IN"/>
          </a:p>
        </p:txBody>
      </p:sp>
      <p:sp>
        <p:nvSpPr>
          <p:cNvPr id="16" name="Text 13"/>
          <p:cNvSpPr txBox="1"/>
          <p:nvPr/>
        </p:nvSpPr>
        <p:spPr>
          <a:xfrm>
            <a:off x="594360" y="2980944"/>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1280160" y="2962656"/>
            <a:ext cx="31089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Data</a:t>
            </a:r>
            <a:endParaRPr lang="en-US" sz="1600" dirty="0"/>
          </a:p>
        </p:txBody>
      </p:sp>
      <p:sp>
        <p:nvSpPr>
          <p:cNvPr id="18" name="Text 15"/>
          <p:cNvSpPr txBox="1"/>
          <p:nvPr/>
        </p:nvSpPr>
        <p:spPr>
          <a:xfrm>
            <a:off x="1280160" y="3255264"/>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Dataset, labels, cleaning, exploration</a:t>
            </a:r>
            <a:endParaRPr lang="en-US" sz="1300" dirty="0"/>
          </a:p>
        </p:txBody>
      </p:sp>
      <p:sp>
        <p:nvSpPr>
          <p:cNvPr id="19" name="Agenda item 4"/>
          <p:cNvSpPr/>
          <p:nvPr/>
        </p:nvSpPr>
        <p:spPr>
          <a:xfrm>
            <a:off x="457200" y="3712464"/>
            <a:ext cx="4023360" cy="731520"/>
          </a:xfrm>
          <a:prstGeom prst="roundRect">
            <a:avLst>
              <a:gd name="adj" fmla="val 15000"/>
            </a:avLst>
          </a:prstGeom>
          <a:solidFill>
            <a:schemeClr val="bg2"/>
          </a:solidFill>
          <a:ln/>
        </p:spPr>
        <p:txBody>
          <a:bodyPr/>
          <a:lstStyle/>
          <a:p>
            <a:endParaRPr lang="en-IN"/>
          </a:p>
        </p:txBody>
      </p:sp>
      <p:sp>
        <p:nvSpPr>
          <p:cNvPr id="20" name="Agenda number 4"/>
          <p:cNvSpPr/>
          <p:nvPr/>
        </p:nvSpPr>
        <p:spPr>
          <a:xfrm>
            <a:off x="594360" y="3822192"/>
            <a:ext cx="512064" cy="512064"/>
          </a:xfrm>
          <a:prstGeom prst="ellipse">
            <a:avLst/>
          </a:prstGeom>
          <a:solidFill>
            <a:schemeClr val="accent2"/>
          </a:solidFill>
          <a:ln/>
        </p:spPr>
        <p:txBody>
          <a:bodyPr/>
          <a:lstStyle/>
          <a:p>
            <a:endParaRPr lang="en-IN"/>
          </a:p>
        </p:txBody>
      </p:sp>
      <p:sp>
        <p:nvSpPr>
          <p:cNvPr id="21" name="Text 18"/>
          <p:cNvSpPr txBox="1"/>
          <p:nvPr/>
        </p:nvSpPr>
        <p:spPr>
          <a:xfrm>
            <a:off x="594360" y="3822192"/>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1280160" y="3803904"/>
            <a:ext cx="31089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Models</a:t>
            </a:r>
            <a:endParaRPr lang="en-US" sz="1600" dirty="0"/>
          </a:p>
        </p:txBody>
      </p:sp>
      <p:sp>
        <p:nvSpPr>
          <p:cNvPr id="23" name="Text 20"/>
          <p:cNvSpPr txBox="1"/>
          <p:nvPr/>
        </p:nvSpPr>
        <p:spPr>
          <a:xfrm>
            <a:off x="1280160" y="4096512"/>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TF-IDF, four classical models, LSTM</a:t>
            </a:r>
            <a:endParaRPr lang="en-US" sz="1300" dirty="0"/>
          </a:p>
        </p:txBody>
      </p:sp>
      <p:sp>
        <p:nvSpPr>
          <p:cNvPr id="24" name="Agenda item 5"/>
          <p:cNvSpPr/>
          <p:nvPr/>
        </p:nvSpPr>
        <p:spPr>
          <a:xfrm>
            <a:off x="4663440" y="1188720"/>
            <a:ext cx="4023360" cy="731520"/>
          </a:xfrm>
          <a:prstGeom prst="roundRect">
            <a:avLst>
              <a:gd name="adj" fmla="val 15000"/>
            </a:avLst>
          </a:prstGeom>
          <a:solidFill>
            <a:schemeClr val="bg2"/>
          </a:solidFill>
          <a:ln/>
        </p:spPr>
        <p:txBody>
          <a:bodyPr/>
          <a:lstStyle/>
          <a:p>
            <a:endParaRPr lang="en-IN"/>
          </a:p>
        </p:txBody>
      </p:sp>
      <p:sp>
        <p:nvSpPr>
          <p:cNvPr id="25" name="Agenda number 5"/>
          <p:cNvSpPr/>
          <p:nvPr/>
        </p:nvSpPr>
        <p:spPr>
          <a:xfrm>
            <a:off x="4800600" y="1298448"/>
            <a:ext cx="512064" cy="512064"/>
          </a:xfrm>
          <a:prstGeom prst="ellipse">
            <a:avLst/>
          </a:prstGeom>
          <a:solidFill>
            <a:schemeClr val="tx2"/>
          </a:solidFill>
          <a:ln/>
        </p:spPr>
        <p:txBody>
          <a:bodyPr/>
          <a:lstStyle/>
          <a:p>
            <a:endParaRPr lang="en-IN"/>
          </a:p>
        </p:txBody>
      </p:sp>
      <p:sp>
        <p:nvSpPr>
          <p:cNvPr id="26" name="Text 23"/>
          <p:cNvSpPr txBox="1"/>
          <p:nvPr/>
        </p:nvSpPr>
        <p:spPr>
          <a:xfrm>
            <a:off x="4800600" y="129844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mbria" pitchFamily="34" charset="0"/>
                <a:ea typeface="Cambria" pitchFamily="34" charset="-122"/>
                <a:cs typeface="Cambria" pitchFamily="34" charset="-120"/>
              </a:rPr>
              <a:t>5</a:t>
            </a:r>
            <a:endParaRPr lang="en-US" sz="1800" dirty="0"/>
          </a:p>
        </p:txBody>
      </p:sp>
      <p:sp>
        <p:nvSpPr>
          <p:cNvPr id="27" name="Text 24"/>
          <p:cNvSpPr txBox="1"/>
          <p:nvPr/>
        </p:nvSpPr>
        <p:spPr>
          <a:xfrm>
            <a:off x="5486400" y="1280160"/>
            <a:ext cx="31089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Evaluation</a:t>
            </a:r>
            <a:endParaRPr lang="en-US" sz="1600" dirty="0"/>
          </a:p>
        </p:txBody>
      </p:sp>
      <p:sp>
        <p:nvSpPr>
          <p:cNvPr id="28" name="Text 25"/>
          <p:cNvSpPr txBox="1"/>
          <p:nvPr/>
        </p:nvSpPr>
        <p:spPr>
          <a:xfrm>
            <a:off x="5486400" y="1572768"/>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Metrics, results, confusion matrices</a:t>
            </a:r>
            <a:endParaRPr lang="en-US" sz="1300" dirty="0"/>
          </a:p>
        </p:txBody>
      </p:sp>
      <p:sp>
        <p:nvSpPr>
          <p:cNvPr id="29" name="Agenda item 6"/>
          <p:cNvSpPr/>
          <p:nvPr/>
        </p:nvSpPr>
        <p:spPr>
          <a:xfrm>
            <a:off x="4663440" y="2029968"/>
            <a:ext cx="4023360" cy="731520"/>
          </a:xfrm>
          <a:prstGeom prst="roundRect">
            <a:avLst>
              <a:gd name="adj" fmla="val 15000"/>
            </a:avLst>
          </a:prstGeom>
          <a:solidFill>
            <a:schemeClr val="bg2"/>
          </a:solidFill>
          <a:ln/>
        </p:spPr>
        <p:txBody>
          <a:bodyPr/>
          <a:lstStyle/>
          <a:p>
            <a:endParaRPr lang="en-IN"/>
          </a:p>
        </p:txBody>
      </p:sp>
      <p:sp>
        <p:nvSpPr>
          <p:cNvPr id="30" name="Agenda number 6"/>
          <p:cNvSpPr/>
          <p:nvPr/>
        </p:nvSpPr>
        <p:spPr>
          <a:xfrm>
            <a:off x="4800600" y="2139696"/>
            <a:ext cx="512064" cy="512064"/>
          </a:xfrm>
          <a:prstGeom prst="ellipse">
            <a:avLst/>
          </a:prstGeom>
          <a:solidFill>
            <a:schemeClr val="accent5"/>
          </a:solidFill>
          <a:ln/>
        </p:spPr>
        <p:txBody>
          <a:bodyPr/>
          <a:lstStyle/>
          <a:p>
            <a:endParaRPr lang="en-IN"/>
          </a:p>
        </p:txBody>
      </p:sp>
      <p:sp>
        <p:nvSpPr>
          <p:cNvPr id="31" name="Text 28"/>
          <p:cNvSpPr txBox="1"/>
          <p:nvPr/>
        </p:nvSpPr>
        <p:spPr>
          <a:xfrm>
            <a:off x="4800600" y="2139696"/>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mbria" pitchFamily="34" charset="0"/>
                <a:ea typeface="Cambria" pitchFamily="34" charset="-122"/>
                <a:cs typeface="Cambria" pitchFamily="34" charset="-120"/>
              </a:rPr>
              <a:t>6</a:t>
            </a:r>
            <a:endParaRPr lang="en-US" sz="1800" dirty="0"/>
          </a:p>
        </p:txBody>
      </p:sp>
      <p:sp>
        <p:nvSpPr>
          <p:cNvPr id="32" name="Text 29"/>
          <p:cNvSpPr txBox="1"/>
          <p:nvPr/>
        </p:nvSpPr>
        <p:spPr>
          <a:xfrm>
            <a:off x="5486400" y="2121408"/>
            <a:ext cx="31089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Real-time and insights</a:t>
            </a:r>
            <a:endParaRPr lang="en-US" sz="1600" dirty="0"/>
          </a:p>
        </p:txBody>
      </p:sp>
      <p:sp>
        <p:nvSpPr>
          <p:cNvPr id="33" name="Text 30"/>
          <p:cNvSpPr txBox="1"/>
          <p:nvPr/>
        </p:nvSpPr>
        <p:spPr>
          <a:xfrm>
            <a:off x="5486400" y="2414016"/>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Prediction, streaming, forecast, network</a:t>
            </a:r>
            <a:endParaRPr lang="en-US" sz="1300" dirty="0"/>
          </a:p>
        </p:txBody>
      </p:sp>
      <p:sp>
        <p:nvSpPr>
          <p:cNvPr id="34" name="Agenda item 7"/>
          <p:cNvSpPr/>
          <p:nvPr/>
        </p:nvSpPr>
        <p:spPr>
          <a:xfrm>
            <a:off x="4663440" y="2871216"/>
            <a:ext cx="4023360" cy="731520"/>
          </a:xfrm>
          <a:prstGeom prst="roundRect">
            <a:avLst>
              <a:gd name="adj" fmla="val 15000"/>
            </a:avLst>
          </a:prstGeom>
          <a:solidFill>
            <a:schemeClr val="bg2"/>
          </a:solidFill>
          <a:ln/>
        </p:spPr>
        <p:txBody>
          <a:bodyPr/>
          <a:lstStyle/>
          <a:p>
            <a:endParaRPr lang="en-IN"/>
          </a:p>
        </p:txBody>
      </p:sp>
      <p:sp>
        <p:nvSpPr>
          <p:cNvPr id="35" name="Agenda number 7"/>
          <p:cNvSpPr/>
          <p:nvPr/>
        </p:nvSpPr>
        <p:spPr>
          <a:xfrm>
            <a:off x="4800600" y="2980944"/>
            <a:ext cx="512064" cy="512064"/>
          </a:xfrm>
          <a:prstGeom prst="ellipse">
            <a:avLst/>
          </a:prstGeom>
          <a:solidFill>
            <a:schemeClr val="accent4"/>
          </a:solidFill>
          <a:ln/>
        </p:spPr>
        <p:txBody>
          <a:bodyPr/>
          <a:lstStyle/>
          <a:p>
            <a:endParaRPr lang="en-IN"/>
          </a:p>
        </p:txBody>
      </p:sp>
      <p:sp>
        <p:nvSpPr>
          <p:cNvPr id="36" name="Text 33"/>
          <p:cNvSpPr txBox="1"/>
          <p:nvPr/>
        </p:nvSpPr>
        <p:spPr>
          <a:xfrm>
            <a:off x="4800600" y="2980944"/>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mbria" pitchFamily="34" charset="0"/>
                <a:ea typeface="Cambria" pitchFamily="34" charset="-122"/>
                <a:cs typeface="Cambria" pitchFamily="34" charset="-120"/>
              </a:rPr>
              <a:t>7</a:t>
            </a:r>
            <a:endParaRPr lang="en-US" sz="1800" dirty="0"/>
          </a:p>
        </p:txBody>
      </p:sp>
      <p:sp>
        <p:nvSpPr>
          <p:cNvPr id="37" name="Text 34"/>
          <p:cNvSpPr txBox="1"/>
          <p:nvPr/>
        </p:nvSpPr>
        <p:spPr>
          <a:xfrm>
            <a:off x="5486400" y="2962656"/>
            <a:ext cx="31089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Wrap-up</a:t>
            </a:r>
            <a:endParaRPr lang="en-US" sz="1600" dirty="0"/>
          </a:p>
        </p:txBody>
      </p:sp>
      <p:sp>
        <p:nvSpPr>
          <p:cNvPr id="38" name="Text 35"/>
          <p:cNvSpPr txBox="1"/>
          <p:nvPr/>
        </p:nvSpPr>
        <p:spPr>
          <a:xfrm>
            <a:off x="5486400" y="3255264"/>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Challenges, future scope, conclusion</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Why sentiment matters</a:t>
            </a:r>
            <a:endParaRPr lang="en-US" sz="3200" dirty="0"/>
          </a:p>
        </p:txBody>
      </p:sp>
      <p:sp>
        <p:nvSpPr>
          <p:cNvPr id="4" name="Problem card"/>
          <p:cNvSpPr/>
          <p:nvPr/>
        </p:nvSpPr>
        <p:spPr>
          <a:xfrm>
            <a:off x="457200" y="1188720"/>
            <a:ext cx="3200400" cy="3291840"/>
          </a:xfrm>
          <a:prstGeom prst="roundRect">
            <a:avLst>
              <a:gd name="adj" fmla="val 3429"/>
            </a:avLst>
          </a:prstGeom>
          <a:solidFill>
            <a:schemeClr val="tx2"/>
          </a:solidFill>
          <a:ln/>
        </p:spPr>
        <p:txBody>
          <a:bodyPr/>
          <a:lstStyle/>
          <a:p>
            <a:endParaRPr lang="en-IN"/>
          </a:p>
        </p:txBody>
      </p:sp>
      <p:sp>
        <p:nvSpPr>
          <p:cNvPr id="5" name="Text 2"/>
          <p:cNvSpPr txBox="1"/>
          <p:nvPr/>
        </p:nvSpPr>
        <p:spPr>
          <a:xfrm>
            <a:off x="731520" y="1417320"/>
            <a:ext cx="2651760" cy="365760"/>
          </a:xfrm>
          <a:prstGeom prst="rect">
            <a:avLst/>
          </a:prstGeom>
          <a:noFill/>
          <a:ln/>
        </p:spPr>
        <p:txBody>
          <a:bodyPr wrap="square" lIns="0" tIns="0" rIns="0" bIns="0" rtlCol="0" anchor="t"/>
          <a:lstStyle/>
          <a:p>
            <a:pPr marL="0" indent="0">
              <a:buNone/>
            </a:pPr>
            <a:r>
              <a:rPr lang="en-US" sz="2200" b="1" dirty="0">
                <a:solidFill>
                  <a:schemeClr val="bg1"/>
                </a:solidFill>
                <a:latin typeface="Cambria" pitchFamily="34" charset="0"/>
                <a:ea typeface="Cambria" pitchFamily="34" charset="-122"/>
                <a:cs typeface="Cambria" pitchFamily="34" charset="-120"/>
              </a:rPr>
              <a:t>The problem</a:t>
            </a:r>
            <a:endParaRPr lang="en-US" sz="2200" dirty="0"/>
          </a:p>
        </p:txBody>
      </p:sp>
      <p:sp>
        <p:nvSpPr>
          <p:cNvPr id="6" name="Text 3"/>
          <p:cNvSpPr txBox="1"/>
          <p:nvPr/>
        </p:nvSpPr>
        <p:spPr>
          <a:xfrm>
            <a:off x="731520" y="1920240"/>
            <a:ext cx="2651760" cy="2377440"/>
          </a:xfrm>
          <a:prstGeom prst="rect">
            <a:avLst/>
          </a:prstGeom>
          <a:noFill/>
          <a:ln/>
        </p:spPr>
        <p:txBody>
          <a:bodyPr wrap="square" lIns="0" tIns="0" rIns="0" bIns="0" rtlCol="0" anchor="t"/>
          <a:lstStyle/>
          <a:p>
            <a:pPr marL="0" indent="0">
              <a:buNone/>
            </a:pPr>
            <a:r>
              <a:rPr lang="en-US" sz="1800" dirty="0">
                <a:solidFill>
                  <a:schemeClr val="bg1"/>
                </a:solidFill>
                <a:latin typeface="Calibri" pitchFamily="34" charset="0"/>
                <a:ea typeface="Calibri" pitchFamily="34" charset="-122"/>
                <a:cs typeface="Calibri" pitchFamily="34" charset="-120"/>
              </a:rPr>
              <a:t>Social media produces opinions faster than anyone can read them. We need the mood of the crowd as it changes, not days later.</a:t>
            </a:r>
            <a:endParaRPr lang="en-US" sz="1800" dirty="0"/>
          </a:p>
        </p:txBody>
      </p:sp>
      <p:sp>
        <p:nvSpPr>
          <p:cNvPr id="7" name="Use case Brand monitoring"/>
          <p:cNvSpPr/>
          <p:nvPr/>
        </p:nvSpPr>
        <p:spPr>
          <a:xfrm>
            <a:off x="3931920" y="1188720"/>
            <a:ext cx="2286000" cy="1554480"/>
          </a:xfrm>
          <a:prstGeom prst="roundRect">
            <a:avLst>
              <a:gd name="adj" fmla="val 7059"/>
            </a:avLst>
          </a:prstGeom>
          <a:solidFill>
            <a:schemeClr val="bg2"/>
          </a:solidFill>
          <a:ln/>
        </p:spPr>
        <p:txBody>
          <a:bodyPr/>
          <a:lstStyle/>
          <a:p>
            <a:endParaRPr lang="en-IN"/>
          </a:p>
        </p:txBody>
      </p:sp>
      <p:sp>
        <p:nvSpPr>
          <p:cNvPr id="8" name="Brand monitoring circle"/>
          <p:cNvSpPr/>
          <p:nvPr/>
        </p:nvSpPr>
        <p:spPr>
          <a:xfrm>
            <a:off x="4114800" y="1371600"/>
            <a:ext cx="502920" cy="502920"/>
          </a:xfrm>
          <a:prstGeom prst="ellipse">
            <a:avLst/>
          </a:prstGeom>
          <a:solidFill>
            <a:schemeClr val="accent4"/>
          </a:solidFill>
          <a:ln/>
        </p:spPr>
        <p:txBody>
          <a:bodyPr/>
          <a:lstStyle/>
          <a:p>
            <a:endParaRPr lang="en-IN"/>
          </a:p>
        </p:txBody>
      </p:sp>
      <p:pic>
        <p:nvPicPr>
          <p:cNvPr id="9" name="Brand monitoring icon" descr="Brand monitoring"/>
          <p:cNvPicPr>
            <a:picLocks noChangeAspect="1"/>
          </p:cNvPicPr>
          <p:nvPr/>
        </p:nvPicPr>
        <p:blipFill>
          <a:blip r:embed="rId3"/>
          <a:stretch>
            <a:fillRect/>
          </a:stretch>
        </p:blipFill>
        <p:spPr>
          <a:xfrm>
            <a:off x="4240530" y="1497330"/>
            <a:ext cx="251460" cy="251460"/>
          </a:xfrm>
          <a:prstGeom prst="rect">
            <a:avLst/>
          </a:prstGeom>
        </p:spPr>
      </p:pic>
      <p:sp>
        <p:nvSpPr>
          <p:cNvPr id="10" name="Text 6"/>
          <p:cNvSpPr txBox="1"/>
          <p:nvPr/>
        </p:nvSpPr>
        <p:spPr>
          <a:xfrm>
            <a:off x="4114800" y="1993392"/>
            <a:ext cx="192024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Brand monitoring</a:t>
            </a:r>
            <a:endParaRPr lang="en-US" sz="1500" dirty="0"/>
          </a:p>
        </p:txBody>
      </p:sp>
      <p:sp>
        <p:nvSpPr>
          <p:cNvPr id="11" name="Text 7"/>
          <p:cNvSpPr txBox="1"/>
          <p:nvPr/>
        </p:nvSpPr>
        <p:spPr>
          <a:xfrm>
            <a:off x="4114800" y="2286000"/>
            <a:ext cx="1920240" cy="41148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Spot a wave of complaints within minutes</a:t>
            </a:r>
            <a:endParaRPr lang="en-US" sz="1200" dirty="0"/>
          </a:p>
        </p:txBody>
      </p:sp>
      <p:sp>
        <p:nvSpPr>
          <p:cNvPr id="12" name="Use case Public health"/>
          <p:cNvSpPr/>
          <p:nvPr/>
        </p:nvSpPr>
        <p:spPr>
          <a:xfrm>
            <a:off x="6355080" y="1188720"/>
            <a:ext cx="2286000" cy="1554480"/>
          </a:xfrm>
          <a:prstGeom prst="roundRect">
            <a:avLst>
              <a:gd name="adj" fmla="val 7059"/>
            </a:avLst>
          </a:prstGeom>
          <a:solidFill>
            <a:schemeClr val="bg2"/>
          </a:solidFill>
          <a:ln/>
        </p:spPr>
        <p:txBody>
          <a:bodyPr/>
          <a:lstStyle/>
          <a:p>
            <a:endParaRPr lang="en-IN"/>
          </a:p>
        </p:txBody>
      </p:sp>
      <p:sp>
        <p:nvSpPr>
          <p:cNvPr id="13" name="Public health circle"/>
          <p:cNvSpPr/>
          <p:nvPr/>
        </p:nvSpPr>
        <p:spPr>
          <a:xfrm>
            <a:off x="6537960" y="1371600"/>
            <a:ext cx="502920" cy="502920"/>
          </a:xfrm>
          <a:prstGeom prst="ellipse">
            <a:avLst/>
          </a:prstGeom>
          <a:solidFill>
            <a:schemeClr val="accent2"/>
          </a:solidFill>
          <a:ln/>
        </p:spPr>
        <p:txBody>
          <a:bodyPr/>
          <a:lstStyle/>
          <a:p>
            <a:endParaRPr lang="en-IN"/>
          </a:p>
        </p:txBody>
      </p:sp>
      <p:pic>
        <p:nvPicPr>
          <p:cNvPr id="14" name="Public health icon" descr="Public health"/>
          <p:cNvPicPr>
            <a:picLocks noChangeAspect="1"/>
          </p:cNvPicPr>
          <p:nvPr/>
        </p:nvPicPr>
        <p:blipFill>
          <a:blip r:embed="rId4"/>
          <a:stretch>
            <a:fillRect/>
          </a:stretch>
        </p:blipFill>
        <p:spPr>
          <a:xfrm>
            <a:off x="6663690" y="1497330"/>
            <a:ext cx="251460" cy="251460"/>
          </a:xfrm>
          <a:prstGeom prst="rect">
            <a:avLst/>
          </a:prstGeom>
        </p:spPr>
      </p:pic>
      <p:sp>
        <p:nvSpPr>
          <p:cNvPr id="15" name="Text 10"/>
          <p:cNvSpPr txBox="1"/>
          <p:nvPr/>
        </p:nvSpPr>
        <p:spPr>
          <a:xfrm>
            <a:off x="6537960" y="1993392"/>
            <a:ext cx="192024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Public health</a:t>
            </a:r>
            <a:endParaRPr lang="en-US" sz="1500" dirty="0"/>
          </a:p>
        </p:txBody>
      </p:sp>
      <p:sp>
        <p:nvSpPr>
          <p:cNvPr id="16" name="Text 11"/>
          <p:cNvSpPr txBox="1"/>
          <p:nvPr/>
        </p:nvSpPr>
        <p:spPr>
          <a:xfrm>
            <a:off x="6537960" y="2286000"/>
            <a:ext cx="1920240" cy="41148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Track fear and panic during an outbreak</a:t>
            </a:r>
            <a:endParaRPr lang="en-US" sz="1200" dirty="0"/>
          </a:p>
        </p:txBody>
      </p:sp>
      <p:sp>
        <p:nvSpPr>
          <p:cNvPr id="17" name="Use case Policy and politics"/>
          <p:cNvSpPr/>
          <p:nvPr/>
        </p:nvSpPr>
        <p:spPr>
          <a:xfrm>
            <a:off x="3931920" y="2880360"/>
            <a:ext cx="2286000" cy="1554480"/>
          </a:xfrm>
          <a:prstGeom prst="roundRect">
            <a:avLst>
              <a:gd name="adj" fmla="val 7059"/>
            </a:avLst>
          </a:prstGeom>
          <a:solidFill>
            <a:schemeClr val="bg2"/>
          </a:solidFill>
          <a:ln/>
        </p:spPr>
        <p:txBody>
          <a:bodyPr/>
          <a:lstStyle/>
          <a:p>
            <a:endParaRPr lang="en-IN"/>
          </a:p>
        </p:txBody>
      </p:sp>
      <p:sp>
        <p:nvSpPr>
          <p:cNvPr id="18" name="Policy and politics circle"/>
          <p:cNvSpPr/>
          <p:nvPr/>
        </p:nvSpPr>
        <p:spPr>
          <a:xfrm>
            <a:off x="4114800" y="3063240"/>
            <a:ext cx="502920" cy="502920"/>
          </a:xfrm>
          <a:prstGeom prst="ellipse">
            <a:avLst/>
          </a:prstGeom>
          <a:solidFill>
            <a:schemeClr val="accent5"/>
          </a:solidFill>
          <a:ln/>
        </p:spPr>
        <p:txBody>
          <a:bodyPr/>
          <a:lstStyle/>
          <a:p>
            <a:endParaRPr lang="en-IN"/>
          </a:p>
        </p:txBody>
      </p:sp>
      <p:pic>
        <p:nvPicPr>
          <p:cNvPr id="19" name="Policy and politics icon" descr="Policy and politics"/>
          <p:cNvPicPr>
            <a:picLocks noChangeAspect="1"/>
          </p:cNvPicPr>
          <p:nvPr/>
        </p:nvPicPr>
        <p:blipFill>
          <a:blip r:embed="rId5"/>
          <a:stretch>
            <a:fillRect/>
          </a:stretch>
        </p:blipFill>
        <p:spPr>
          <a:xfrm>
            <a:off x="4240530" y="3188970"/>
            <a:ext cx="251460" cy="251460"/>
          </a:xfrm>
          <a:prstGeom prst="rect">
            <a:avLst/>
          </a:prstGeom>
        </p:spPr>
      </p:pic>
      <p:sp>
        <p:nvSpPr>
          <p:cNvPr id="20" name="Text 14"/>
          <p:cNvSpPr txBox="1"/>
          <p:nvPr/>
        </p:nvSpPr>
        <p:spPr>
          <a:xfrm>
            <a:off x="4114800" y="3685032"/>
            <a:ext cx="192024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Policy and politics</a:t>
            </a:r>
            <a:endParaRPr lang="en-US" sz="1500" dirty="0"/>
          </a:p>
        </p:txBody>
      </p:sp>
      <p:sp>
        <p:nvSpPr>
          <p:cNvPr id="21" name="Text 15"/>
          <p:cNvSpPr txBox="1"/>
          <p:nvPr/>
        </p:nvSpPr>
        <p:spPr>
          <a:xfrm>
            <a:off x="4114800" y="3977640"/>
            <a:ext cx="1920240" cy="41148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Read public reaction to new rules</a:t>
            </a:r>
            <a:endParaRPr lang="en-US" sz="1200" dirty="0"/>
          </a:p>
        </p:txBody>
      </p:sp>
      <p:sp>
        <p:nvSpPr>
          <p:cNvPr id="22" name="Use case Finance"/>
          <p:cNvSpPr/>
          <p:nvPr/>
        </p:nvSpPr>
        <p:spPr>
          <a:xfrm>
            <a:off x="6355080" y="2880360"/>
            <a:ext cx="2286000" cy="1554480"/>
          </a:xfrm>
          <a:prstGeom prst="roundRect">
            <a:avLst>
              <a:gd name="adj" fmla="val 7059"/>
            </a:avLst>
          </a:prstGeom>
          <a:solidFill>
            <a:schemeClr val="bg2"/>
          </a:solidFill>
          <a:ln/>
        </p:spPr>
        <p:txBody>
          <a:bodyPr/>
          <a:lstStyle/>
          <a:p>
            <a:endParaRPr lang="en-IN"/>
          </a:p>
        </p:txBody>
      </p:sp>
      <p:sp>
        <p:nvSpPr>
          <p:cNvPr id="23" name="Finance circle"/>
          <p:cNvSpPr/>
          <p:nvPr/>
        </p:nvSpPr>
        <p:spPr>
          <a:xfrm>
            <a:off x="6537960" y="3063240"/>
            <a:ext cx="502920" cy="502920"/>
          </a:xfrm>
          <a:prstGeom prst="ellipse">
            <a:avLst/>
          </a:prstGeom>
          <a:solidFill>
            <a:schemeClr val="accent1"/>
          </a:solidFill>
          <a:ln/>
        </p:spPr>
        <p:txBody>
          <a:bodyPr/>
          <a:lstStyle/>
          <a:p>
            <a:endParaRPr lang="en-IN"/>
          </a:p>
        </p:txBody>
      </p:sp>
      <p:pic>
        <p:nvPicPr>
          <p:cNvPr id="24" name="Finance icon" descr="Finance"/>
          <p:cNvPicPr>
            <a:picLocks noChangeAspect="1"/>
          </p:cNvPicPr>
          <p:nvPr/>
        </p:nvPicPr>
        <p:blipFill>
          <a:blip r:embed="rId6"/>
          <a:stretch>
            <a:fillRect/>
          </a:stretch>
        </p:blipFill>
        <p:spPr>
          <a:xfrm>
            <a:off x="6663690" y="3188970"/>
            <a:ext cx="251460" cy="251460"/>
          </a:xfrm>
          <a:prstGeom prst="rect">
            <a:avLst/>
          </a:prstGeom>
        </p:spPr>
      </p:pic>
      <p:sp>
        <p:nvSpPr>
          <p:cNvPr id="25" name="Text 18"/>
          <p:cNvSpPr txBox="1"/>
          <p:nvPr/>
        </p:nvSpPr>
        <p:spPr>
          <a:xfrm>
            <a:off x="6537960" y="3685032"/>
            <a:ext cx="192024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Finance</a:t>
            </a:r>
            <a:endParaRPr lang="en-US" sz="1500" dirty="0"/>
          </a:p>
        </p:txBody>
      </p:sp>
      <p:sp>
        <p:nvSpPr>
          <p:cNvPr id="26" name="Text 19"/>
          <p:cNvSpPr txBox="1"/>
          <p:nvPr/>
        </p:nvSpPr>
        <p:spPr>
          <a:xfrm>
            <a:off x="6537960" y="3977640"/>
            <a:ext cx="1920240" cy="41148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Gauge market mood around news</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Project objectives</a:t>
            </a:r>
            <a:endParaRPr lang="en-US" sz="3200" dirty="0"/>
          </a:p>
        </p:txBody>
      </p:sp>
      <p:sp>
        <p:nvSpPr>
          <p:cNvPr id="4" name="Objective 1"/>
          <p:cNvSpPr/>
          <p:nvPr/>
        </p:nvSpPr>
        <p:spPr>
          <a:xfrm>
            <a:off x="457200" y="1188720"/>
            <a:ext cx="2560320" cy="1508760"/>
          </a:xfrm>
          <a:prstGeom prst="roundRect">
            <a:avLst>
              <a:gd name="adj" fmla="val 7273"/>
            </a:avLst>
          </a:prstGeom>
          <a:solidFill>
            <a:schemeClr val="bg2"/>
          </a:solidFill>
          <a:ln/>
        </p:spPr>
        <p:txBody>
          <a:bodyPr/>
          <a:lstStyle/>
          <a:p>
            <a:endParaRPr lang="en-IN"/>
          </a:p>
        </p:txBody>
      </p:sp>
      <p:sp>
        <p:nvSpPr>
          <p:cNvPr id="5" name="Load data circle"/>
          <p:cNvSpPr/>
          <p:nvPr/>
        </p:nvSpPr>
        <p:spPr>
          <a:xfrm>
            <a:off x="640080" y="1371600"/>
            <a:ext cx="548640" cy="548640"/>
          </a:xfrm>
          <a:prstGeom prst="ellipse">
            <a:avLst/>
          </a:prstGeom>
          <a:solidFill>
            <a:schemeClr val="accent5"/>
          </a:solidFill>
          <a:ln/>
        </p:spPr>
        <p:txBody>
          <a:bodyPr/>
          <a:lstStyle/>
          <a:p>
            <a:endParaRPr lang="en-IN"/>
          </a:p>
        </p:txBody>
      </p:sp>
      <p:pic>
        <p:nvPicPr>
          <p:cNvPr id="6" name="Load data icon" descr="Load data"/>
          <p:cNvPicPr>
            <a:picLocks noChangeAspect="1"/>
          </p:cNvPicPr>
          <p:nvPr/>
        </p:nvPicPr>
        <p:blipFill>
          <a:blip r:embed="rId3"/>
          <a:stretch>
            <a:fillRect/>
          </a:stretch>
        </p:blipFill>
        <p:spPr>
          <a:xfrm>
            <a:off x="777240" y="1508760"/>
            <a:ext cx="274320" cy="274320"/>
          </a:xfrm>
          <a:prstGeom prst="rect">
            <a:avLst/>
          </a:prstGeom>
        </p:spPr>
      </p:pic>
      <p:sp>
        <p:nvSpPr>
          <p:cNvPr id="7" name="Text 3"/>
          <p:cNvSpPr txBox="1"/>
          <p:nvPr/>
        </p:nvSpPr>
        <p:spPr>
          <a:xfrm>
            <a:off x="2468880" y="1325880"/>
            <a:ext cx="365760" cy="365760"/>
          </a:xfrm>
          <a:prstGeom prst="rect">
            <a:avLst/>
          </a:prstGeom>
          <a:noFill/>
          <a:ln/>
        </p:spPr>
        <p:txBody>
          <a:bodyPr wrap="square" lIns="0" tIns="0" rIns="0" bIns="0" rtlCol="0" anchor="t"/>
          <a:lstStyle/>
          <a:p>
            <a:pPr marL="0" indent="0" algn="r">
              <a:buNone/>
            </a:pPr>
            <a:r>
              <a:rPr lang="en-US" sz="2400" b="1" dirty="0">
                <a:solidFill>
                  <a:srgbClr val="C9CEE3"/>
                </a:solidFill>
                <a:latin typeface="Cambria" pitchFamily="34" charset="0"/>
                <a:ea typeface="Cambria" pitchFamily="34" charset="-122"/>
                <a:cs typeface="Cambria" pitchFamily="34" charset="-120"/>
              </a:rPr>
              <a:t>1</a:t>
            </a:r>
            <a:endParaRPr lang="en-US" sz="2400" dirty="0"/>
          </a:p>
        </p:txBody>
      </p:sp>
      <p:sp>
        <p:nvSpPr>
          <p:cNvPr id="8" name="Text 4"/>
          <p:cNvSpPr txBox="1"/>
          <p:nvPr/>
        </p:nvSpPr>
        <p:spPr>
          <a:xfrm>
            <a:off x="640080" y="1965960"/>
            <a:ext cx="21945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Load data</a:t>
            </a:r>
            <a:endParaRPr lang="en-US" sz="1600" dirty="0"/>
          </a:p>
        </p:txBody>
      </p:sp>
      <p:sp>
        <p:nvSpPr>
          <p:cNvPr id="9" name="Text 5"/>
          <p:cNvSpPr txBox="1"/>
          <p:nvPr/>
        </p:nvSpPr>
        <p:spPr>
          <a:xfrm>
            <a:off x="640080" y="2258568"/>
            <a:ext cx="2194560" cy="38404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Use labelled COVID-19 tweets</a:t>
            </a:r>
            <a:endParaRPr lang="en-US" sz="1300" dirty="0"/>
          </a:p>
        </p:txBody>
      </p:sp>
      <p:sp>
        <p:nvSpPr>
          <p:cNvPr id="10" name="Objective 2"/>
          <p:cNvSpPr/>
          <p:nvPr/>
        </p:nvSpPr>
        <p:spPr>
          <a:xfrm>
            <a:off x="3291840" y="1188720"/>
            <a:ext cx="2560320" cy="1508760"/>
          </a:xfrm>
          <a:prstGeom prst="roundRect">
            <a:avLst>
              <a:gd name="adj" fmla="val 7273"/>
            </a:avLst>
          </a:prstGeom>
          <a:solidFill>
            <a:schemeClr val="bg2"/>
          </a:solidFill>
          <a:ln/>
        </p:spPr>
        <p:txBody>
          <a:bodyPr/>
          <a:lstStyle/>
          <a:p>
            <a:endParaRPr lang="en-IN"/>
          </a:p>
        </p:txBody>
      </p:sp>
      <p:sp>
        <p:nvSpPr>
          <p:cNvPr id="11" name="Clean text circle"/>
          <p:cNvSpPr/>
          <p:nvPr/>
        </p:nvSpPr>
        <p:spPr>
          <a:xfrm>
            <a:off x="3474720" y="1371600"/>
            <a:ext cx="548640" cy="548640"/>
          </a:xfrm>
          <a:prstGeom prst="ellipse">
            <a:avLst/>
          </a:prstGeom>
          <a:solidFill>
            <a:schemeClr val="accent3"/>
          </a:solidFill>
          <a:ln/>
        </p:spPr>
        <p:txBody>
          <a:bodyPr/>
          <a:lstStyle/>
          <a:p>
            <a:endParaRPr lang="en-IN"/>
          </a:p>
        </p:txBody>
      </p:sp>
      <p:pic>
        <p:nvPicPr>
          <p:cNvPr id="12" name="Clean text icon" descr="Clean text"/>
          <p:cNvPicPr>
            <a:picLocks noChangeAspect="1"/>
          </p:cNvPicPr>
          <p:nvPr/>
        </p:nvPicPr>
        <p:blipFill>
          <a:blip r:embed="rId4"/>
          <a:stretch>
            <a:fillRect/>
          </a:stretch>
        </p:blipFill>
        <p:spPr>
          <a:xfrm>
            <a:off x="3611880" y="1508760"/>
            <a:ext cx="274320" cy="274320"/>
          </a:xfrm>
          <a:prstGeom prst="rect">
            <a:avLst/>
          </a:prstGeom>
        </p:spPr>
      </p:pic>
      <p:sp>
        <p:nvSpPr>
          <p:cNvPr id="13" name="Text 8"/>
          <p:cNvSpPr txBox="1"/>
          <p:nvPr/>
        </p:nvSpPr>
        <p:spPr>
          <a:xfrm>
            <a:off x="5303520" y="1325880"/>
            <a:ext cx="365760" cy="365760"/>
          </a:xfrm>
          <a:prstGeom prst="rect">
            <a:avLst/>
          </a:prstGeom>
          <a:noFill/>
          <a:ln/>
        </p:spPr>
        <p:txBody>
          <a:bodyPr wrap="square" lIns="0" tIns="0" rIns="0" bIns="0" rtlCol="0" anchor="t"/>
          <a:lstStyle/>
          <a:p>
            <a:pPr marL="0" indent="0" algn="r">
              <a:buNone/>
            </a:pPr>
            <a:r>
              <a:rPr lang="en-US" sz="2400" b="1" dirty="0">
                <a:solidFill>
                  <a:srgbClr val="C9CEE3"/>
                </a:solidFill>
                <a:latin typeface="Cambria" pitchFamily="34" charset="0"/>
                <a:ea typeface="Cambria" pitchFamily="34" charset="-122"/>
                <a:cs typeface="Cambria" pitchFamily="34" charset="-120"/>
              </a:rPr>
              <a:t>2</a:t>
            </a:r>
            <a:endParaRPr lang="en-US" sz="2400" dirty="0"/>
          </a:p>
        </p:txBody>
      </p:sp>
      <p:sp>
        <p:nvSpPr>
          <p:cNvPr id="14" name="Text 9"/>
          <p:cNvSpPr txBox="1"/>
          <p:nvPr/>
        </p:nvSpPr>
        <p:spPr>
          <a:xfrm>
            <a:off x="3474720" y="1965960"/>
            <a:ext cx="21945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Clean text</a:t>
            </a:r>
            <a:endParaRPr lang="en-US" sz="1600" dirty="0"/>
          </a:p>
        </p:txBody>
      </p:sp>
      <p:sp>
        <p:nvSpPr>
          <p:cNvPr id="15" name="Text 10"/>
          <p:cNvSpPr txBox="1"/>
          <p:nvPr/>
        </p:nvSpPr>
        <p:spPr>
          <a:xfrm>
            <a:off x="3474720" y="2258568"/>
            <a:ext cx="2194560" cy="38404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Turn noisy tweets into tokens</a:t>
            </a:r>
            <a:endParaRPr lang="en-US" sz="1300" dirty="0"/>
          </a:p>
        </p:txBody>
      </p:sp>
      <p:sp>
        <p:nvSpPr>
          <p:cNvPr id="16" name="Objective 3"/>
          <p:cNvSpPr/>
          <p:nvPr/>
        </p:nvSpPr>
        <p:spPr>
          <a:xfrm>
            <a:off x="6126480" y="1188720"/>
            <a:ext cx="2560320" cy="1508760"/>
          </a:xfrm>
          <a:prstGeom prst="roundRect">
            <a:avLst>
              <a:gd name="adj" fmla="val 7273"/>
            </a:avLst>
          </a:prstGeom>
          <a:solidFill>
            <a:schemeClr val="bg2"/>
          </a:solidFill>
          <a:ln/>
        </p:spPr>
        <p:txBody>
          <a:bodyPr/>
          <a:lstStyle/>
          <a:p>
            <a:endParaRPr lang="en-IN"/>
          </a:p>
        </p:txBody>
      </p:sp>
      <p:sp>
        <p:nvSpPr>
          <p:cNvPr id="17" name="Compare models circle"/>
          <p:cNvSpPr/>
          <p:nvPr/>
        </p:nvSpPr>
        <p:spPr>
          <a:xfrm>
            <a:off x="6309360" y="1371600"/>
            <a:ext cx="548640" cy="548640"/>
          </a:xfrm>
          <a:prstGeom prst="ellipse">
            <a:avLst/>
          </a:prstGeom>
          <a:solidFill>
            <a:schemeClr val="accent4"/>
          </a:solidFill>
          <a:ln/>
        </p:spPr>
        <p:txBody>
          <a:bodyPr/>
          <a:lstStyle/>
          <a:p>
            <a:endParaRPr lang="en-IN"/>
          </a:p>
        </p:txBody>
      </p:sp>
      <p:pic>
        <p:nvPicPr>
          <p:cNvPr id="18" name="Compare models icon" descr="Compare models"/>
          <p:cNvPicPr>
            <a:picLocks noChangeAspect="1"/>
          </p:cNvPicPr>
          <p:nvPr/>
        </p:nvPicPr>
        <p:blipFill>
          <a:blip r:embed="rId5"/>
          <a:stretch>
            <a:fillRect/>
          </a:stretch>
        </p:blipFill>
        <p:spPr>
          <a:xfrm>
            <a:off x="6446520" y="1508760"/>
            <a:ext cx="274320" cy="274320"/>
          </a:xfrm>
          <a:prstGeom prst="rect">
            <a:avLst/>
          </a:prstGeom>
        </p:spPr>
      </p:pic>
      <p:sp>
        <p:nvSpPr>
          <p:cNvPr id="19" name="Text 13"/>
          <p:cNvSpPr txBox="1"/>
          <p:nvPr/>
        </p:nvSpPr>
        <p:spPr>
          <a:xfrm>
            <a:off x="8138160" y="1325880"/>
            <a:ext cx="365760" cy="365760"/>
          </a:xfrm>
          <a:prstGeom prst="rect">
            <a:avLst/>
          </a:prstGeom>
          <a:noFill/>
          <a:ln/>
        </p:spPr>
        <p:txBody>
          <a:bodyPr wrap="square" lIns="0" tIns="0" rIns="0" bIns="0" rtlCol="0" anchor="t"/>
          <a:lstStyle/>
          <a:p>
            <a:pPr marL="0" indent="0" algn="r">
              <a:buNone/>
            </a:pPr>
            <a:r>
              <a:rPr lang="en-US" sz="2400" b="1" dirty="0">
                <a:solidFill>
                  <a:srgbClr val="C9CEE3"/>
                </a:solidFill>
                <a:latin typeface="Cambria" pitchFamily="34" charset="0"/>
                <a:ea typeface="Cambria" pitchFamily="34" charset="-122"/>
                <a:cs typeface="Cambria" pitchFamily="34" charset="-120"/>
              </a:rPr>
              <a:t>3</a:t>
            </a:r>
            <a:endParaRPr lang="en-US" sz="2400" dirty="0"/>
          </a:p>
        </p:txBody>
      </p:sp>
      <p:sp>
        <p:nvSpPr>
          <p:cNvPr id="20" name="Text 14"/>
          <p:cNvSpPr txBox="1"/>
          <p:nvPr/>
        </p:nvSpPr>
        <p:spPr>
          <a:xfrm>
            <a:off x="6309360" y="1965960"/>
            <a:ext cx="21945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Compare models</a:t>
            </a:r>
            <a:endParaRPr lang="en-US" sz="1600" dirty="0"/>
          </a:p>
        </p:txBody>
      </p:sp>
      <p:sp>
        <p:nvSpPr>
          <p:cNvPr id="21" name="Text 15"/>
          <p:cNvSpPr txBox="1"/>
          <p:nvPr/>
        </p:nvSpPr>
        <p:spPr>
          <a:xfrm>
            <a:off x="6309360" y="2258568"/>
            <a:ext cx="2194560" cy="38404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Four classical models vs an LSTM</a:t>
            </a:r>
            <a:endParaRPr lang="en-US" sz="1300" dirty="0"/>
          </a:p>
        </p:txBody>
      </p:sp>
      <p:sp>
        <p:nvSpPr>
          <p:cNvPr id="22" name="Objective 4"/>
          <p:cNvSpPr/>
          <p:nvPr/>
        </p:nvSpPr>
        <p:spPr>
          <a:xfrm>
            <a:off x="457200" y="2880360"/>
            <a:ext cx="2560320" cy="1508760"/>
          </a:xfrm>
          <a:prstGeom prst="roundRect">
            <a:avLst>
              <a:gd name="adj" fmla="val 7273"/>
            </a:avLst>
          </a:prstGeom>
          <a:solidFill>
            <a:schemeClr val="bg2"/>
          </a:solidFill>
          <a:ln/>
        </p:spPr>
        <p:txBody>
          <a:bodyPr/>
          <a:lstStyle/>
          <a:p>
            <a:endParaRPr lang="en-IN"/>
          </a:p>
        </p:txBody>
      </p:sp>
      <p:sp>
        <p:nvSpPr>
          <p:cNvPr id="23" name="Simulate a stream circle"/>
          <p:cNvSpPr/>
          <p:nvPr/>
        </p:nvSpPr>
        <p:spPr>
          <a:xfrm>
            <a:off x="640080" y="3063240"/>
            <a:ext cx="548640" cy="548640"/>
          </a:xfrm>
          <a:prstGeom prst="ellipse">
            <a:avLst/>
          </a:prstGeom>
          <a:solidFill>
            <a:schemeClr val="accent1"/>
          </a:solidFill>
          <a:ln/>
        </p:spPr>
        <p:txBody>
          <a:bodyPr/>
          <a:lstStyle/>
          <a:p>
            <a:endParaRPr lang="en-IN"/>
          </a:p>
        </p:txBody>
      </p:sp>
      <p:pic>
        <p:nvPicPr>
          <p:cNvPr id="24" name="Simulate a stream icon" descr="Simulate a stream"/>
          <p:cNvPicPr>
            <a:picLocks noChangeAspect="1"/>
          </p:cNvPicPr>
          <p:nvPr/>
        </p:nvPicPr>
        <p:blipFill>
          <a:blip r:embed="rId6"/>
          <a:stretch>
            <a:fillRect/>
          </a:stretch>
        </p:blipFill>
        <p:spPr>
          <a:xfrm>
            <a:off x="777240" y="3200400"/>
            <a:ext cx="274320" cy="274320"/>
          </a:xfrm>
          <a:prstGeom prst="rect">
            <a:avLst/>
          </a:prstGeom>
        </p:spPr>
      </p:pic>
      <p:sp>
        <p:nvSpPr>
          <p:cNvPr id="25" name="Text 18"/>
          <p:cNvSpPr txBox="1"/>
          <p:nvPr/>
        </p:nvSpPr>
        <p:spPr>
          <a:xfrm>
            <a:off x="2468880" y="3017520"/>
            <a:ext cx="365760" cy="365760"/>
          </a:xfrm>
          <a:prstGeom prst="rect">
            <a:avLst/>
          </a:prstGeom>
          <a:noFill/>
          <a:ln/>
        </p:spPr>
        <p:txBody>
          <a:bodyPr wrap="square" lIns="0" tIns="0" rIns="0" bIns="0" rtlCol="0" anchor="t"/>
          <a:lstStyle/>
          <a:p>
            <a:pPr marL="0" indent="0" algn="r">
              <a:buNone/>
            </a:pPr>
            <a:r>
              <a:rPr lang="en-US" sz="2400" b="1" dirty="0">
                <a:solidFill>
                  <a:srgbClr val="C9CEE3"/>
                </a:solidFill>
                <a:latin typeface="Cambria" pitchFamily="34" charset="0"/>
                <a:ea typeface="Cambria" pitchFamily="34" charset="-122"/>
                <a:cs typeface="Cambria" pitchFamily="34" charset="-120"/>
              </a:rPr>
              <a:t>4</a:t>
            </a:r>
            <a:endParaRPr lang="en-US" sz="2400" dirty="0"/>
          </a:p>
        </p:txBody>
      </p:sp>
      <p:sp>
        <p:nvSpPr>
          <p:cNvPr id="26" name="Text 19"/>
          <p:cNvSpPr txBox="1"/>
          <p:nvPr/>
        </p:nvSpPr>
        <p:spPr>
          <a:xfrm>
            <a:off x="640080" y="3657600"/>
            <a:ext cx="21945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Simulate a stream</a:t>
            </a:r>
            <a:endParaRPr lang="en-US" sz="1600" dirty="0"/>
          </a:p>
        </p:txBody>
      </p:sp>
      <p:sp>
        <p:nvSpPr>
          <p:cNvPr id="27" name="Text 20"/>
          <p:cNvSpPr txBox="1"/>
          <p:nvPr/>
        </p:nvSpPr>
        <p:spPr>
          <a:xfrm>
            <a:off x="640080" y="3950208"/>
            <a:ext cx="2194560" cy="38404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Kafka feeds Spark micro-batches</a:t>
            </a:r>
            <a:endParaRPr lang="en-US" sz="1300" dirty="0"/>
          </a:p>
        </p:txBody>
      </p:sp>
      <p:sp>
        <p:nvSpPr>
          <p:cNvPr id="28" name="Objective 5"/>
          <p:cNvSpPr/>
          <p:nvPr/>
        </p:nvSpPr>
        <p:spPr>
          <a:xfrm>
            <a:off x="3291840" y="2880360"/>
            <a:ext cx="2560320" cy="1508760"/>
          </a:xfrm>
          <a:prstGeom prst="roundRect">
            <a:avLst>
              <a:gd name="adj" fmla="val 7273"/>
            </a:avLst>
          </a:prstGeom>
          <a:solidFill>
            <a:schemeClr val="bg2"/>
          </a:solidFill>
          <a:ln/>
        </p:spPr>
        <p:txBody>
          <a:bodyPr/>
          <a:lstStyle/>
          <a:p>
            <a:endParaRPr lang="en-IN"/>
          </a:p>
        </p:txBody>
      </p:sp>
      <p:sp>
        <p:nvSpPr>
          <p:cNvPr id="29" name="Predict the future circle"/>
          <p:cNvSpPr/>
          <p:nvPr/>
        </p:nvSpPr>
        <p:spPr>
          <a:xfrm>
            <a:off x="3474720" y="3063240"/>
            <a:ext cx="548640" cy="548640"/>
          </a:xfrm>
          <a:prstGeom prst="ellipse">
            <a:avLst/>
          </a:prstGeom>
          <a:solidFill>
            <a:schemeClr val="accent2"/>
          </a:solidFill>
          <a:ln/>
        </p:spPr>
        <p:txBody>
          <a:bodyPr/>
          <a:lstStyle/>
          <a:p>
            <a:endParaRPr lang="en-IN"/>
          </a:p>
        </p:txBody>
      </p:sp>
      <p:pic>
        <p:nvPicPr>
          <p:cNvPr id="30" name="Predict the future icon" descr="Predict the future"/>
          <p:cNvPicPr>
            <a:picLocks noChangeAspect="1"/>
          </p:cNvPicPr>
          <p:nvPr/>
        </p:nvPicPr>
        <p:blipFill>
          <a:blip r:embed="rId7"/>
          <a:stretch>
            <a:fillRect/>
          </a:stretch>
        </p:blipFill>
        <p:spPr>
          <a:xfrm>
            <a:off x="3611880" y="3200400"/>
            <a:ext cx="274320" cy="274320"/>
          </a:xfrm>
          <a:prstGeom prst="rect">
            <a:avLst/>
          </a:prstGeom>
        </p:spPr>
      </p:pic>
      <p:sp>
        <p:nvSpPr>
          <p:cNvPr id="31" name="Text 23"/>
          <p:cNvSpPr txBox="1"/>
          <p:nvPr/>
        </p:nvSpPr>
        <p:spPr>
          <a:xfrm>
            <a:off x="5303520" y="3017520"/>
            <a:ext cx="365760" cy="365760"/>
          </a:xfrm>
          <a:prstGeom prst="rect">
            <a:avLst/>
          </a:prstGeom>
          <a:noFill/>
          <a:ln/>
        </p:spPr>
        <p:txBody>
          <a:bodyPr wrap="square" lIns="0" tIns="0" rIns="0" bIns="0" rtlCol="0" anchor="t"/>
          <a:lstStyle/>
          <a:p>
            <a:pPr marL="0" indent="0" algn="r">
              <a:buNone/>
            </a:pPr>
            <a:r>
              <a:rPr lang="en-US" sz="2400" b="1" dirty="0">
                <a:solidFill>
                  <a:srgbClr val="C9CEE3"/>
                </a:solidFill>
                <a:latin typeface="Cambria" pitchFamily="34" charset="0"/>
                <a:ea typeface="Cambria" pitchFamily="34" charset="-122"/>
                <a:cs typeface="Cambria" pitchFamily="34" charset="-120"/>
              </a:rPr>
              <a:t>5</a:t>
            </a:r>
            <a:endParaRPr lang="en-US" sz="2400" dirty="0"/>
          </a:p>
        </p:txBody>
      </p:sp>
      <p:sp>
        <p:nvSpPr>
          <p:cNvPr id="32" name="Text 24"/>
          <p:cNvSpPr txBox="1"/>
          <p:nvPr/>
        </p:nvSpPr>
        <p:spPr>
          <a:xfrm>
            <a:off x="3474720" y="3657600"/>
            <a:ext cx="21945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Predict the future</a:t>
            </a:r>
            <a:endParaRPr lang="en-US" sz="1600" dirty="0"/>
          </a:p>
        </p:txBody>
      </p:sp>
      <p:sp>
        <p:nvSpPr>
          <p:cNvPr id="33" name="Text 25"/>
          <p:cNvSpPr txBox="1"/>
          <p:nvPr/>
        </p:nvSpPr>
        <p:spPr>
          <a:xfrm>
            <a:off x="3474720" y="3950208"/>
            <a:ext cx="2194560" cy="38404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7-day sentiment trend forecast</a:t>
            </a:r>
            <a:endParaRPr lang="en-US" sz="1300" dirty="0"/>
          </a:p>
        </p:txBody>
      </p:sp>
      <p:sp>
        <p:nvSpPr>
          <p:cNvPr id="34" name="Objective 6"/>
          <p:cNvSpPr/>
          <p:nvPr/>
        </p:nvSpPr>
        <p:spPr>
          <a:xfrm>
            <a:off x="6126480" y="2880360"/>
            <a:ext cx="2560320" cy="1508760"/>
          </a:xfrm>
          <a:prstGeom prst="roundRect">
            <a:avLst>
              <a:gd name="adj" fmla="val 7273"/>
            </a:avLst>
          </a:prstGeom>
          <a:solidFill>
            <a:schemeClr val="bg2"/>
          </a:solidFill>
          <a:ln/>
        </p:spPr>
        <p:txBody>
          <a:bodyPr/>
          <a:lstStyle/>
          <a:p>
            <a:endParaRPr lang="en-IN"/>
          </a:p>
        </p:txBody>
      </p:sp>
      <p:sp>
        <p:nvSpPr>
          <p:cNvPr id="35" name="Show results circle"/>
          <p:cNvSpPr/>
          <p:nvPr/>
        </p:nvSpPr>
        <p:spPr>
          <a:xfrm>
            <a:off x="6309360" y="3063240"/>
            <a:ext cx="548640" cy="548640"/>
          </a:xfrm>
          <a:prstGeom prst="ellipse">
            <a:avLst/>
          </a:prstGeom>
          <a:solidFill>
            <a:schemeClr val="tx2"/>
          </a:solidFill>
          <a:ln/>
        </p:spPr>
        <p:txBody>
          <a:bodyPr/>
          <a:lstStyle/>
          <a:p>
            <a:endParaRPr lang="en-IN"/>
          </a:p>
        </p:txBody>
      </p:sp>
      <p:pic>
        <p:nvPicPr>
          <p:cNvPr id="36" name="Show results icon" descr="Show results"/>
          <p:cNvPicPr>
            <a:picLocks noChangeAspect="1"/>
          </p:cNvPicPr>
          <p:nvPr/>
        </p:nvPicPr>
        <p:blipFill>
          <a:blip r:embed="rId8"/>
          <a:stretch>
            <a:fillRect/>
          </a:stretch>
        </p:blipFill>
        <p:spPr>
          <a:xfrm>
            <a:off x="6446520" y="3200400"/>
            <a:ext cx="274320" cy="274320"/>
          </a:xfrm>
          <a:prstGeom prst="rect">
            <a:avLst/>
          </a:prstGeom>
        </p:spPr>
      </p:pic>
      <p:sp>
        <p:nvSpPr>
          <p:cNvPr id="37" name="Text 28"/>
          <p:cNvSpPr txBox="1"/>
          <p:nvPr/>
        </p:nvSpPr>
        <p:spPr>
          <a:xfrm>
            <a:off x="8138160" y="3017520"/>
            <a:ext cx="365760" cy="365760"/>
          </a:xfrm>
          <a:prstGeom prst="rect">
            <a:avLst/>
          </a:prstGeom>
          <a:noFill/>
          <a:ln/>
        </p:spPr>
        <p:txBody>
          <a:bodyPr wrap="square" lIns="0" tIns="0" rIns="0" bIns="0" rtlCol="0" anchor="t"/>
          <a:lstStyle/>
          <a:p>
            <a:pPr marL="0" indent="0" algn="r">
              <a:buNone/>
            </a:pPr>
            <a:r>
              <a:rPr lang="en-US" sz="2400" b="1" dirty="0">
                <a:solidFill>
                  <a:srgbClr val="C9CEE3"/>
                </a:solidFill>
                <a:latin typeface="Cambria" pitchFamily="34" charset="0"/>
                <a:ea typeface="Cambria" pitchFamily="34" charset="-122"/>
                <a:cs typeface="Cambria" pitchFamily="34" charset="-120"/>
              </a:rPr>
              <a:t>6</a:t>
            </a:r>
            <a:endParaRPr lang="en-US" sz="2400" dirty="0"/>
          </a:p>
        </p:txBody>
      </p:sp>
      <p:sp>
        <p:nvSpPr>
          <p:cNvPr id="38" name="Text 29"/>
          <p:cNvSpPr txBox="1"/>
          <p:nvPr/>
        </p:nvSpPr>
        <p:spPr>
          <a:xfrm>
            <a:off x="6309360" y="3657600"/>
            <a:ext cx="219456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Show results</a:t>
            </a:r>
            <a:endParaRPr lang="en-US" sz="1600" dirty="0"/>
          </a:p>
        </p:txBody>
      </p:sp>
      <p:sp>
        <p:nvSpPr>
          <p:cNvPr id="39" name="Text 30"/>
          <p:cNvSpPr txBox="1"/>
          <p:nvPr/>
        </p:nvSpPr>
        <p:spPr>
          <a:xfrm>
            <a:off x="6309360" y="3950208"/>
            <a:ext cx="2194560" cy="38404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Streamlit dashboard, six tabs</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What is sentiment analysis?</a:t>
            </a:r>
            <a:endParaRPr lang="en-US" sz="3200" dirty="0"/>
          </a:p>
        </p:txBody>
      </p:sp>
      <p:sp>
        <p:nvSpPr>
          <p:cNvPr id="4" name="Text 1"/>
          <p:cNvSpPr txBox="1"/>
          <p:nvPr/>
        </p:nvSpPr>
        <p:spPr>
          <a:xfrm>
            <a:off x="457200" y="1143000"/>
            <a:ext cx="3657600" cy="274320"/>
          </a:xfrm>
          <a:prstGeom prst="rect">
            <a:avLst/>
          </a:prstGeom>
          <a:noFill/>
          <a:ln/>
        </p:spPr>
        <p:txBody>
          <a:bodyPr wrap="square" lIns="0" tIns="0" rIns="0" bIns="0" rtlCol="0" anchor="t"/>
          <a:lstStyle/>
          <a:p>
            <a:pPr marL="0" indent="0">
              <a:buNone/>
            </a:pPr>
            <a:r>
              <a:rPr lang="en-US" sz="1400" b="1" dirty="0">
                <a:solidFill>
                  <a:schemeClr val="accent5"/>
                </a:solidFill>
                <a:latin typeface="Calibri" pitchFamily="34" charset="0"/>
                <a:ea typeface="Calibri" pitchFamily="34" charset="-122"/>
                <a:cs typeface="Calibri" pitchFamily="34" charset="-120"/>
              </a:rPr>
              <a:t>Three levels of analysis</a:t>
            </a:r>
            <a:endParaRPr lang="en-US" sz="1400" dirty="0"/>
          </a:p>
        </p:txBody>
      </p:sp>
      <p:sp>
        <p:nvSpPr>
          <p:cNvPr id="5" name="Level Document level"/>
          <p:cNvSpPr/>
          <p:nvPr/>
        </p:nvSpPr>
        <p:spPr>
          <a:xfrm>
            <a:off x="457200" y="1508760"/>
            <a:ext cx="3657600" cy="868680"/>
          </a:xfrm>
          <a:prstGeom prst="roundRect">
            <a:avLst>
              <a:gd name="adj" fmla="val 12632"/>
            </a:avLst>
          </a:prstGeom>
          <a:solidFill>
            <a:schemeClr val="tx2"/>
          </a:solidFill>
          <a:ln/>
        </p:spPr>
        <p:txBody>
          <a:bodyPr/>
          <a:lstStyle/>
          <a:p>
            <a:endParaRPr lang="en-IN"/>
          </a:p>
        </p:txBody>
      </p:sp>
      <p:sp>
        <p:nvSpPr>
          <p:cNvPr id="6" name="Text 3"/>
          <p:cNvSpPr txBox="1"/>
          <p:nvPr/>
        </p:nvSpPr>
        <p:spPr>
          <a:xfrm>
            <a:off x="685800" y="1627632"/>
            <a:ext cx="3200400" cy="274320"/>
          </a:xfrm>
          <a:prstGeom prst="rect">
            <a:avLst/>
          </a:prstGeom>
          <a:noFill/>
          <a:ln/>
        </p:spPr>
        <p:txBody>
          <a:bodyPr wrap="square" lIns="0" tIns="0" rIns="0" bIns="0" rtlCol="0" anchor="t"/>
          <a:lstStyle/>
          <a:p>
            <a:pPr marL="0" indent="0">
              <a:buNone/>
            </a:pPr>
            <a:r>
              <a:rPr lang="en-US" sz="1600" b="1" dirty="0">
                <a:solidFill>
                  <a:schemeClr val="bg1"/>
                </a:solidFill>
                <a:latin typeface="Calibri" pitchFamily="34" charset="0"/>
                <a:ea typeface="Calibri" pitchFamily="34" charset="-122"/>
                <a:cs typeface="Calibri" pitchFamily="34" charset="-120"/>
              </a:rPr>
              <a:t>Document level  (used here)</a:t>
            </a:r>
            <a:endParaRPr lang="en-US" sz="1600" dirty="0"/>
          </a:p>
        </p:txBody>
      </p:sp>
      <p:sp>
        <p:nvSpPr>
          <p:cNvPr id="7" name="Text 4"/>
          <p:cNvSpPr txBox="1"/>
          <p:nvPr/>
        </p:nvSpPr>
        <p:spPr>
          <a:xfrm>
            <a:off x="685800" y="1965960"/>
            <a:ext cx="3200400" cy="274320"/>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One label for a whole text</a:t>
            </a:r>
            <a:endParaRPr lang="en-US" sz="1400" dirty="0"/>
          </a:p>
        </p:txBody>
      </p:sp>
      <p:sp>
        <p:nvSpPr>
          <p:cNvPr id="8" name="Level Sentence level"/>
          <p:cNvSpPr/>
          <p:nvPr/>
        </p:nvSpPr>
        <p:spPr>
          <a:xfrm>
            <a:off x="457200" y="2514600"/>
            <a:ext cx="3657600" cy="868680"/>
          </a:xfrm>
          <a:prstGeom prst="roundRect">
            <a:avLst>
              <a:gd name="adj" fmla="val 12632"/>
            </a:avLst>
          </a:prstGeom>
          <a:solidFill>
            <a:schemeClr val="bg2"/>
          </a:solidFill>
          <a:ln/>
        </p:spPr>
        <p:txBody>
          <a:bodyPr/>
          <a:lstStyle/>
          <a:p>
            <a:endParaRPr lang="en-IN"/>
          </a:p>
        </p:txBody>
      </p:sp>
      <p:sp>
        <p:nvSpPr>
          <p:cNvPr id="9" name="Text 6"/>
          <p:cNvSpPr txBox="1"/>
          <p:nvPr/>
        </p:nvSpPr>
        <p:spPr>
          <a:xfrm>
            <a:off x="685800" y="2633472"/>
            <a:ext cx="32004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Sentence level</a:t>
            </a:r>
            <a:endParaRPr lang="en-US" sz="1600" dirty="0"/>
          </a:p>
        </p:txBody>
      </p:sp>
      <p:sp>
        <p:nvSpPr>
          <p:cNvPr id="10" name="Text 7"/>
          <p:cNvSpPr txBox="1"/>
          <p:nvPr/>
        </p:nvSpPr>
        <p:spPr>
          <a:xfrm>
            <a:off x="685800" y="2971800"/>
            <a:ext cx="3200400" cy="2743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One label per sentence</a:t>
            </a:r>
            <a:endParaRPr lang="en-US" sz="1400" dirty="0"/>
          </a:p>
        </p:txBody>
      </p:sp>
      <p:sp>
        <p:nvSpPr>
          <p:cNvPr id="11" name="Level Aspect level"/>
          <p:cNvSpPr/>
          <p:nvPr/>
        </p:nvSpPr>
        <p:spPr>
          <a:xfrm>
            <a:off x="457200" y="3520440"/>
            <a:ext cx="3657600" cy="868680"/>
          </a:xfrm>
          <a:prstGeom prst="roundRect">
            <a:avLst>
              <a:gd name="adj" fmla="val 12632"/>
            </a:avLst>
          </a:prstGeom>
          <a:solidFill>
            <a:schemeClr val="bg2"/>
          </a:solidFill>
          <a:ln/>
        </p:spPr>
        <p:txBody>
          <a:bodyPr/>
          <a:lstStyle/>
          <a:p>
            <a:endParaRPr lang="en-IN"/>
          </a:p>
        </p:txBody>
      </p:sp>
      <p:sp>
        <p:nvSpPr>
          <p:cNvPr id="12" name="Text 9"/>
          <p:cNvSpPr txBox="1"/>
          <p:nvPr/>
        </p:nvSpPr>
        <p:spPr>
          <a:xfrm>
            <a:off x="685800" y="3639312"/>
            <a:ext cx="32004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Aspect level</a:t>
            </a:r>
            <a:endParaRPr lang="en-US" sz="1600" dirty="0"/>
          </a:p>
        </p:txBody>
      </p:sp>
      <p:sp>
        <p:nvSpPr>
          <p:cNvPr id="13" name="Text 10"/>
          <p:cNvSpPr txBox="1"/>
          <p:nvPr/>
        </p:nvSpPr>
        <p:spPr>
          <a:xfrm>
            <a:off x="685800" y="3977640"/>
            <a:ext cx="3200400" cy="2743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 label per feature, e.g. battery</a:t>
            </a:r>
            <a:endParaRPr lang="en-US" sz="1400" dirty="0"/>
          </a:p>
        </p:txBody>
      </p:sp>
      <p:sp>
        <p:nvSpPr>
          <p:cNvPr id="14" name="Text 11"/>
          <p:cNvSpPr txBox="1"/>
          <p:nvPr/>
        </p:nvSpPr>
        <p:spPr>
          <a:xfrm>
            <a:off x="4480560" y="1143000"/>
            <a:ext cx="4206240" cy="274320"/>
          </a:xfrm>
          <a:prstGeom prst="rect">
            <a:avLst/>
          </a:prstGeom>
          <a:noFill/>
          <a:ln/>
        </p:spPr>
        <p:txBody>
          <a:bodyPr wrap="square" lIns="0" tIns="0" rIns="0" bIns="0" rtlCol="0" anchor="t"/>
          <a:lstStyle/>
          <a:p>
            <a:pPr marL="0" indent="0">
              <a:buNone/>
            </a:pPr>
            <a:r>
              <a:rPr lang="en-US" sz="1400" b="1" dirty="0">
                <a:solidFill>
                  <a:schemeClr val="accent5"/>
                </a:solidFill>
                <a:latin typeface="Calibri" pitchFamily="34" charset="0"/>
                <a:ea typeface="Calibri" pitchFamily="34" charset="-122"/>
                <a:cs typeface="Calibri" pitchFamily="34" charset="-120"/>
              </a:rPr>
              <a:t>Illustrative tweets and their labels</a:t>
            </a:r>
            <a:endParaRPr lang="en-US" sz="1400" dirty="0"/>
          </a:p>
        </p:txBody>
      </p:sp>
      <p:sp>
        <p:nvSpPr>
          <p:cNvPr id="15" name="Example tweet 1"/>
          <p:cNvSpPr/>
          <p:nvPr/>
        </p:nvSpPr>
        <p:spPr>
          <a:xfrm>
            <a:off x="4480560" y="1508760"/>
            <a:ext cx="4206240" cy="868680"/>
          </a:xfrm>
          <a:prstGeom prst="roundRect">
            <a:avLst>
              <a:gd name="adj" fmla="val 12632"/>
            </a:avLst>
          </a:prstGeom>
          <a:solidFill>
            <a:schemeClr val="bg2"/>
          </a:solidFill>
          <a:ln/>
        </p:spPr>
        <p:txBody>
          <a:bodyPr/>
          <a:lstStyle/>
          <a:p>
            <a:endParaRPr lang="en-IN"/>
          </a:p>
        </p:txBody>
      </p:sp>
      <p:sp>
        <p:nvSpPr>
          <p:cNvPr id="16" name="Text 13"/>
          <p:cNvSpPr txBox="1"/>
          <p:nvPr/>
        </p:nvSpPr>
        <p:spPr>
          <a:xfrm>
            <a:off x="4663440" y="1600200"/>
            <a:ext cx="2743200" cy="685800"/>
          </a:xfrm>
          <a:prstGeom prst="rect">
            <a:avLst/>
          </a:prstGeom>
          <a:noFill/>
          <a:ln/>
        </p:spPr>
        <p:txBody>
          <a:bodyPr wrap="square" lIns="0" tIns="0" rIns="0" bIns="0" rtlCol="0" anchor="ctr"/>
          <a:lstStyle/>
          <a:p>
            <a:pPr marL="0" indent="0">
              <a:buNone/>
            </a:pPr>
            <a:r>
              <a:rPr lang="en-US" sz="1300" i="1" dirty="0">
                <a:solidFill>
                  <a:schemeClr val="tx1"/>
                </a:solidFill>
                <a:latin typeface="Calibri" pitchFamily="34" charset="0"/>
                <a:ea typeface="Calibri" pitchFamily="34" charset="-122"/>
                <a:cs typeface="Calibri" pitchFamily="34" charset="-120"/>
              </a:rPr>
              <a:t>“Huge thanks to the nurses working night shifts. You are heroes!”</a:t>
            </a:r>
            <a:endParaRPr lang="en-US" sz="1300" dirty="0"/>
          </a:p>
        </p:txBody>
      </p:sp>
      <p:sp>
        <p:nvSpPr>
          <p:cNvPr id="17" name="Label chip Positive"/>
          <p:cNvSpPr/>
          <p:nvPr/>
        </p:nvSpPr>
        <p:spPr>
          <a:xfrm>
            <a:off x="7498080" y="1783080"/>
            <a:ext cx="1051560" cy="329184"/>
          </a:xfrm>
          <a:prstGeom prst="roundRect">
            <a:avLst>
              <a:gd name="adj" fmla="val 50000"/>
            </a:avLst>
          </a:prstGeom>
          <a:solidFill>
            <a:schemeClr val="accent1"/>
          </a:solidFill>
          <a:ln/>
        </p:spPr>
        <p:txBody>
          <a:bodyPr/>
          <a:lstStyle/>
          <a:p>
            <a:endParaRPr lang="en-IN"/>
          </a:p>
        </p:txBody>
      </p:sp>
      <p:sp>
        <p:nvSpPr>
          <p:cNvPr id="18" name="Text 15"/>
          <p:cNvSpPr txBox="1"/>
          <p:nvPr/>
        </p:nvSpPr>
        <p:spPr>
          <a:xfrm>
            <a:off x="7498080" y="1783080"/>
            <a:ext cx="1051560" cy="329184"/>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Positive</a:t>
            </a:r>
            <a:endParaRPr lang="en-US" sz="1300" dirty="0"/>
          </a:p>
        </p:txBody>
      </p:sp>
      <p:sp>
        <p:nvSpPr>
          <p:cNvPr id="19" name="Example tweet 2"/>
          <p:cNvSpPr/>
          <p:nvPr/>
        </p:nvSpPr>
        <p:spPr>
          <a:xfrm>
            <a:off x="4480560" y="2514600"/>
            <a:ext cx="4206240" cy="868680"/>
          </a:xfrm>
          <a:prstGeom prst="roundRect">
            <a:avLst>
              <a:gd name="adj" fmla="val 12632"/>
            </a:avLst>
          </a:prstGeom>
          <a:solidFill>
            <a:schemeClr val="bg2"/>
          </a:solidFill>
          <a:ln/>
        </p:spPr>
        <p:txBody>
          <a:bodyPr/>
          <a:lstStyle/>
          <a:p>
            <a:endParaRPr lang="en-IN"/>
          </a:p>
        </p:txBody>
      </p:sp>
      <p:sp>
        <p:nvSpPr>
          <p:cNvPr id="20" name="Text 17"/>
          <p:cNvSpPr txBox="1"/>
          <p:nvPr/>
        </p:nvSpPr>
        <p:spPr>
          <a:xfrm>
            <a:off x="4663440" y="2606040"/>
            <a:ext cx="2743200" cy="685800"/>
          </a:xfrm>
          <a:prstGeom prst="rect">
            <a:avLst/>
          </a:prstGeom>
          <a:noFill/>
          <a:ln/>
        </p:spPr>
        <p:txBody>
          <a:bodyPr wrap="square" lIns="0" tIns="0" rIns="0" bIns="0" rtlCol="0" anchor="ctr"/>
          <a:lstStyle/>
          <a:p>
            <a:pPr marL="0" indent="0">
              <a:buNone/>
            </a:pPr>
            <a:r>
              <a:rPr lang="en-US" sz="1300" i="1" dirty="0">
                <a:solidFill>
                  <a:schemeClr val="tx1"/>
                </a:solidFill>
                <a:latin typeface="Calibri" pitchFamily="34" charset="0"/>
                <a:ea typeface="Calibri" pitchFamily="34" charset="-122"/>
                <a:cs typeface="Calibri" pitchFamily="34" charset="-120"/>
              </a:rPr>
              <a:t>“Shelves are empty again. People are panicking and I am scared.”</a:t>
            </a:r>
            <a:endParaRPr lang="en-US" sz="1300" dirty="0"/>
          </a:p>
        </p:txBody>
      </p:sp>
      <p:sp>
        <p:nvSpPr>
          <p:cNvPr id="21" name="Label chip Negative"/>
          <p:cNvSpPr/>
          <p:nvPr/>
        </p:nvSpPr>
        <p:spPr>
          <a:xfrm>
            <a:off x="7498080" y="2788920"/>
            <a:ext cx="1051560" cy="329184"/>
          </a:xfrm>
          <a:prstGeom prst="roundRect">
            <a:avLst>
              <a:gd name="adj" fmla="val 50000"/>
            </a:avLst>
          </a:prstGeom>
          <a:solidFill>
            <a:schemeClr val="accent2"/>
          </a:solidFill>
          <a:ln/>
        </p:spPr>
        <p:txBody>
          <a:bodyPr/>
          <a:lstStyle/>
          <a:p>
            <a:endParaRPr lang="en-IN"/>
          </a:p>
        </p:txBody>
      </p:sp>
      <p:sp>
        <p:nvSpPr>
          <p:cNvPr id="22" name="Text 19"/>
          <p:cNvSpPr txBox="1"/>
          <p:nvPr/>
        </p:nvSpPr>
        <p:spPr>
          <a:xfrm>
            <a:off x="7498080" y="2788920"/>
            <a:ext cx="1051560" cy="329184"/>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Negative</a:t>
            </a:r>
            <a:endParaRPr lang="en-US" sz="1300" dirty="0"/>
          </a:p>
        </p:txBody>
      </p:sp>
      <p:sp>
        <p:nvSpPr>
          <p:cNvPr id="23" name="Example tweet 3"/>
          <p:cNvSpPr/>
          <p:nvPr/>
        </p:nvSpPr>
        <p:spPr>
          <a:xfrm>
            <a:off x="4480560" y="3520440"/>
            <a:ext cx="4206240" cy="868680"/>
          </a:xfrm>
          <a:prstGeom prst="roundRect">
            <a:avLst>
              <a:gd name="adj" fmla="val 12632"/>
            </a:avLst>
          </a:prstGeom>
          <a:solidFill>
            <a:schemeClr val="bg2"/>
          </a:solidFill>
          <a:ln/>
        </p:spPr>
        <p:txBody>
          <a:bodyPr/>
          <a:lstStyle/>
          <a:p>
            <a:endParaRPr lang="en-IN"/>
          </a:p>
        </p:txBody>
      </p:sp>
      <p:sp>
        <p:nvSpPr>
          <p:cNvPr id="24" name="Text 21"/>
          <p:cNvSpPr txBox="1"/>
          <p:nvPr/>
        </p:nvSpPr>
        <p:spPr>
          <a:xfrm>
            <a:off x="4663440" y="3611880"/>
            <a:ext cx="2743200" cy="685800"/>
          </a:xfrm>
          <a:prstGeom prst="rect">
            <a:avLst/>
          </a:prstGeom>
          <a:noFill/>
          <a:ln/>
        </p:spPr>
        <p:txBody>
          <a:bodyPr wrap="square" lIns="0" tIns="0" rIns="0" bIns="0" rtlCol="0" anchor="ctr"/>
          <a:lstStyle/>
          <a:p>
            <a:pPr marL="0" indent="0">
              <a:buNone/>
            </a:pPr>
            <a:r>
              <a:rPr lang="en-US" sz="1300" i="1" dirty="0">
                <a:solidFill>
                  <a:schemeClr val="tx1"/>
                </a:solidFill>
                <a:latin typeface="Calibri" pitchFamily="34" charset="0"/>
                <a:ea typeface="Calibri" pitchFamily="34" charset="-122"/>
                <a:cs typeface="Calibri" pitchFamily="34" charset="-120"/>
              </a:rPr>
              <a:t>“The government published new guidelines for shops from Monday.”</a:t>
            </a:r>
            <a:endParaRPr lang="en-US" sz="1300" dirty="0"/>
          </a:p>
        </p:txBody>
      </p:sp>
      <p:sp>
        <p:nvSpPr>
          <p:cNvPr id="25" name="Label chip Neutral"/>
          <p:cNvSpPr/>
          <p:nvPr/>
        </p:nvSpPr>
        <p:spPr>
          <a:xfrm>
            <a:off x="7498080" y="3794760"/>
            <a:ext cx="1051560" cy="329184"/>
          </a:xfrm>
          <a:prstGeom prst="roundRect">
            <a:avLst>
              <a:gd name="adj" fmla="val 50000"/>
            </a:avLst>
          </a:prstGeom>
          <a:solidFill>
            <a:schemeClr val="accent3"/>
          </a:solidFill>
          <a:ln/>
        </p:spPr>
        <p:txBody>
          <a:bodyPr/>
          <a:lstStyle/>
          <a:p>
            <a:endParaRPr lang="en-IN"/>
          </a:p>
        </p:txBody>
      </p:sp>
      <p:sp>
        <p:nvSpPr>
          <p:cNvPr id="26" name="Text 23"/>
          <p:cNvSpPr txBox="1"/>
          <p:nvPr/>
        </p:nvSpPr>
        <p:spPr>
          <a:xfrm>
            <a:off x="7498080" y="3794760"/>
            <a:ext cx="1051560" cy="329184"/>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Neutral</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Why this is a big data problem</a:t>
            </a:r>
            <a:endParaRPr lang="en-US" sz="3200" dirty="0"/>
          </a:p>
        </p:txBody>
      </p:sp>
      <p:sp>
        <p:nvSpPr>
          <p:cNvPr id="4" name="V card Volume"/>
          <p:cNvSpPr/>
          <p:nvPr/>
        </p:nvSpPr>
        <p:spPr>
          <a:xfrm>
            <a:off x="457200" y="1188720"/>
            <a:ext cx="1554480" cy="3291840"/>
          </a:xfrm>
          <a:prstGeom prst="roundRect">
            <a:avLst>
              <a:gd name="adj" fmla="val 7059"/>
            </a:avLst>
          </a:prstGeom>
          <a:solidFill>
            <a:schemeClr val="bg2"/>
          </a:solidFill>
          <a:ln/>
        </p:spPr>
        <p:txBody>
          <a:bodyPr/>
          <a:lstStyle/>
          <a:p>
            <a:endParaRPr lang="en-IN"/>
          </a:p>
        </p:txBody>
      </p:sp>
      <p:sp>
        <p:nvSpPr>
          <p:cNvPr id="5" name="Volume circle"/>
          <p:cNvSpPr/>
          <p:nvPr/>
        </p:nvSpPr>
        <p:spPr>
          <a:xfrm>
            <a:off x="868680" y="1417320"/>
            <a:ext cx="731520" cy="731520"/>
          </a:xfrm>
          <a:prstGeom prst="ellipse">
            <a:avLst/>
          </a:prstGeom>
          <a:solidFill>
            <a:schemeClr val="accent4"/>
          </a:solidFill>
          <a:ln/>
        </p:spPr>
        <p:txBody>
          <a:bodyPr/>
          <a:lstStyle/>
          <a:p>
            <a:endParaRPr lang="en-IN"/>
          </a:p>
        </p:txBody>
      </p:sp>
      <p:pic>
        <p:nvPicPr>
          <p:cNvPr id="6" name="Volume icon" descr="Volume"/>
          <p:cNvPicPr>
            <a:picLocks noChangeAspect="1"/>
          </p:cNvPicPr>
          <p:nvPr/>
        </p:nvPicPr>
        <p:blipFill>
          <a:blip r:embed="rId3"/>
          <a:stretch>
            <a:fillRect/>
          </a:stretch>
        </p:blipFill>
        <p:spPr>
          <a:xfrm>
            <a:off x="1051560" y="1600200"/>
            <a:ext cx="365760" cy="365760"/>
          </a:xfrm>
          <a:prstGeom prst="rect">
            <a:avLst/>
          </a:prstGeom>
        </p:spPr>
      </p:pic>
      <p:sp>
        <p:nvSpPr>
          <p:cNvPr id="7" name="Text 3"/>
          <p:cNvSpPr txBox="1"/>
          <p:nvPr/>
        </p:nvSpPr>
        <p:spPr>
          <a:xfrm>
            <a:off x="457200" y="2331720"/>
            <a:ext cx="1554480" cy="365760"/>
          </a:xfrm>
          <a:prstGeom prst="rect">
            <a:avLst/>
          </a:prstGeom>
          <a:noFill/>
          <a:ln/>
        </p:spPr>
        <p:txBody>
          <a:bodyPr wrap="square" lIns="0" tIns="0" rIns="0" bIns="0" rtlCol="0" anchor="t"/>
          <a:lstStyle/>
          <a:p>
            <a:pPr marL="0" indent="0" algn="ctr">
              <a:buNone/>
            </a:pPr>
            <a:r>
              <a:rPr lang="en-US" sz="2000" b="1" dirty="0">
                <a:solidFill>
                  <a:schemeClr val="tx2"/>
                </a:solidFill>
                <a:latin typeface="Cambria" pitchFamily="34" charset="0"/>
                <a:ea typeface="Cambria" pitchFamily="34" charset="-122"/>
                <a:cs typeface="Cambria" pitchFamily="34" charset="-120"/>
              </a:rPr>
              <a:t>Volume</a:t>
            </a:r>
            <a:endParaRPr lang="en-US" sz="2000" dirty="0"/>
          </a:p>
        </p:txBody>
      </p:sp>
      <p:sp>
        <p:nvSpPr>
          <p:cNvPr id="8" name="Text 4"/>
          <p:cNvSpPr txBox="1"/>
          <p:nvPr/>
        </p:nvSpPr>
        <p:spPr>
          <a:xfrm>
            <a:off x="594360" y="2834640"/>
            <a:ext cx="1280160" cy="1554480"/>
          </a:xfrm>
          <a:prstGeom prst="rect">
            <a:avLst/>
          </a:prstGeom>
          <a:noFill/>
          <a:ln/>
        </p:spPr>
        <p:txBody>
          <a:bodyPr wrap="square" lIns="0" tIns="0" rIns="0" bIns="0" rtlCol="0" anchor="t"/>
          <a:lstStyle/>
          <a:p>
            <a:pPr marL="0" indent="0" algn="ctr">
              <a:buNone/>
            </a:pPr>
            <a:r>
              <a:rPr lang="en-US" sz="1300" dirty="0">
                <a:solidFill>
                  <a:schemeClr val="tx1"/>
                </a:solidFill>
                <a:latin typeface="Calibri" pitchFamily="34" charset="0"/>
                <a:ea typeface="Calibri" pitchFamily="34" charset="-122"/>
                <a:cs typeface="Calibri" pitchFamily="34" charset="-120"/>
              </a:rPr>
              <a:t>Millions of posts a day; we use 41,157 tweets as a sample</a:t>
            </a:r>
            <a:endParaRPr lang="en-US" sz="1300" dirty="0"/>
          </a:p>
        </p:txBody>
      </p:sp>
      <p:sp>
        <p:nvSpPr>
          <p:cNvPr id="9" name="V card Velocity"/>
          <p:cNvSpPr/>
          <p:nvPr/>
        </p:nvSpPr>
        <p:spPr>
          <a:xfrm>
            <a:off x="2125980" y="1188720"/>
            <a:ext cx="1554480" cy="3291840"/>
          </a:xfrm>
          <a:prstGeom prst="roundRect">
            <a:avLst>
              <a:gd name="adj" fmla="val 7059"/>
            </a:avLst>
          </a:prstGeom>
          <a:solidFill>
            <a:schemeClr val="bg2"/>
          </a:solidFill>
          <a:ln/>
        </p:spPr>
        <p:txBody>
          <a:bodyPr/>
          <a:lstStyle/>
          <a:p>
            <a:endParaRPr lang="en-IN"/>
          </a:p>
        </p:txBody>
      </p:sp>
      <p:sp>
        <p:nvSpPr>
          <p:cNvPr id="10" name="Velocity circle"/>
          <p:cNvSpPr/>
          <p:nvPr/>
        </p:nvSpPr>
        <p:spPr>
          <a:xfrm>
            <a:off x="2537460" y="1417320"/>
            <a:ext cx="731520" cy="731520"/>
          </a:xfrm>
          <a:prstGeom prst="ellipse">
            <a:avLst/>
          </a:prstGeom>
          <a:solidFill>
            <a:schemeClr val="accent2"/>
          </a:solidFill>
          <a:ln/>
        </p:spPr>
        <p:txBody>
          <a:bodyPr/>
          <a:lstStyle/>
          <a:p>
            <a:endParaRPr lang="en-IN"/>
          </a:p>
        </p:txBody>
      </p:sp>
      <p:pic>
        <p:nvPicPr>
          <p:cNvPr id="11" name="Velocity icon" descr="Velocity"/>
          <p:cNvPicPr>
            <a:picLocks noChangeAspect="1"/>
          </p:cNvPicPr>
          <p:nvPr/>
        </p:nvPicPr>
        <p:blipFill>
          <a:blip r:embed="rId4"/>
          <a:stretch>
            <a:fillRect/>
          </a:stretch>
        </p:blipFill>
        <p:spPr>
          <a:xfrm>
            <a:off x="2720340" y="1600200"/>
            <a:ext cx="365760" cy="365760"/>
          </a:xfrm>
          <a:prstGeom prst="rect">
            <a:avLst/>
          </a:prstGeom>
        </p:spPr>
      </p:pic>
      <p:sp>
        <p:nvSpPr>
          <p:cNvPr id="12" name="Text 7"/>
          <p:cNvSpPr txBox="1"/>
          <p:nvPr/>
        </p:nvSpPr>
        <p:spPr>
          <a:xfrm>
            <a:off x="2125980" y="2331720"/>
            <a:ext cx="1554480" cy="365760"/>
          </a:xfrm>
          <a:prstGeom prst="rect">
            <a:avLst/>
          </a:prstGeom>
          <a:noFill/>
          <a:ln/>
        </p:spPr>
        <p:txBody>
          <a:bodyPr wrap="square" lIns="0" tIns="0" rIns="0" bIns="0" rtlCol="0" anchor="t"/>
          <a:lstStyle/>
          <a:p>
            <a:pPr marL="0" indent="0" algn="ctr">
              <a:buNone/>
            </a:pPr>
            <a:r>
              <a:rPr lang="en-US" sz="2000" b="1" dirty="0">
                <a:solidFill>
                  <a:schemeClr val="tx2"/>
                </a:solidFill>
                <a:latin typeface="Cambria" pitchFamily="34" charset="0"/>
                <a:ea typeface="Cambria" pitchFamily="34" charset="-122"/>
                <a:cs typeface="Cambria" pitchFamily="34" charset="-120"/>
              </a:rPr>
              <a:t>Velocity</a:t>
            </a:r>
            <a:endParaRPr lang="en-US" sz="2000" dirty="0"/>
          </a:p>
        </p:txBody>
      </p:sp>
      <p:sp>
        <p:nvSpPr>
          <p:cNvPr id="13" name="Text 8"/>
          <p:cNvSpPr txBox="1"/>
          <p:nvPr/>
        </p:nvSpPr>
        <p:spPr>
          <a:xfrm>
            <a:off x="2263140" y="2834640"/>
            <a:ext cx="1280160" cy="1554480"/>
          </a:xfrm>
          <a:prstGeom prst="rect">
            <a:avLst/>
          </a:prstGeom>
          <a:noFill/>
          <a:ln/>
        </p:spPr>
        <p:txBody>
          <a:bodyPr wrap="square" lIns="0" tIns="0" rIns="0" bIns="0" rtlCol="0" anchor="t"/>
          <a:lstStyle/>
          <a:p>
            <a:pPr marL="0" indent="0" algn="ctr">
              <a:buNone/>
            </a:pPr>
            <a:r>
              <a:rPr lang="en-US" sz="1300" dirty="0">
                <a:solidFill>
                  <a:schemeClr val="tx1"/>
                </a:solidFill>
                <a:latin typeface="Calibri" pitchFamily="34" charset="0"/>
                <a:ea typeface="Calibri" pitchFamily="34" charset="-122"/>
                <a:cs typeface="Calibri" pitchFamily="34" charset="-120"/>
              </a:rPr>
              <a:t>Posts arrive non-stop, so they are handled as a stream</a:t>
            </a:r>
            <a:endParaRPr lang="en-US" sz="1300" dirty="0"/>
          </a:p>
        </p:txBody>
      </p:sp>
      <p:sp>
        <p:nvSpPr>
          <p:cNvPr id="14" name="V card Variety"/>
          <p:cNvSpPr/>
          <p:nvPr/>
        </p:nvSpPr>
        <p:spPr>
          <a:xfrm>
            <a:off x="3794760" y="1188720"/>
            <a:ext cx="1554480" cy="3291840"/>
          </a:xfrm>
          <a:prstGeom prst="roundRect">
            <a:avLst>
              <a:gd name="adj" fmla="val 7059"/>
            </a:avLst>
          </a:prstGeom>
          <a:solidFill>
            <a:schemeClr val="bg2"/>
          </a:solidFill>
          <a:ln/>
        </p:spPr>
        <p:txBody>
          <a:bodyPr/>
          <a:lstStyle/>
          <a:p>
            <a:endParaRPr lang="en-IN"/>
          </a:p>
        </p:txBody>
      </p:sp>
      <p:sp>
        <p:nvSpPr>
          <p:cNvPr id="15" name="Variety circle"/>
          <p:cNvSpPr/>
          <p:nvPr/>
        </p:nvSpPr>
        <p:spPr>
          <a:xfrm>
            <a:off x="4206240" y="1417320"/>
            <a:ext cx="731520" cy="731520"/>
          </a:xfrm>
          <a:prstGeom prst="ellipse">
            <a:avLst/>
          </a:prstGeom>
          <a:solidFill>
            <a:schemeClr val="accent3"/>
          </a:solidFill>
          <a:ln/>
        </p:spPr>
        <p:txBody>
          <a:bodyPr/>
          <a:lstStyle/>
          <a:p>
            <a:endParaRPr lang="en-IN"/>
          </a:p>
        </p:txBody>
      </p:sp>
      <p:pic>
        <p:nvPicPr>
          <p:cNvPr id="16" name="Variety icon" descr="Variety"/>
          <p:cNvPicPr>
            <a:picLocks noChangeAspect="1"/>
          </p:cNvPicPr>
          <p:nvPr/>
        </p:nvPicPr>
        <p:blipFill>
          <a:blip r:embed="rId5"/>
          <a:stretch>
            <a:fillRect/>
          </a:stretch>
        </p:blipFill>
        <p:spPr>
          <a:xfrm>
            <a:off x="4389120" y="1600200"/>
            <a:ext cx="365760" cy="365760"/>
          </a:xfrm>
          <a:prstGeom prst="rect">
            <a:avLst/>
          </a:prstGeom>
        </p:spPr>
      </p:pic>
      <p:sp>
        <p:nvSpPr>
          <p:cNvPr id="17" name="Text 11"/>
          <p:cNvSpPr txBox="1"/>
          <p:nvPr/>
        </p:nvSpPr>
        <p:spPr>
          <a:xfrm>
            <a:off x="3794760" y="2331720"/>
            <a:ext cx="1554480" cy="365760"/>
          </a:xfrm>
          <a:prstGeom prst="rect">
            <a:avLst/>
          </a:prstGeom>
          <a:noFill/>
          <a:ln/>
        </p:spPr>
        <p:txBody>
          <a:bodyPr wrap="square" lIns="0" tIns="0" rIns="0" bIns="0" rtlCol="0" anchor="t"/>
          <a:lstStyle/>
          <a:p>
            <a:pPr marL="0" indent="0" algn="ctr">
              <a:buNone/>
            </a:pPr>
            <a:r>
              <a:rPr lang="en-US" sz="2000" b="1" dirty="0">
                <a:solidFill>
                  <a:schemeClr val="tx2"/>
                </a:solidFill>
                <a:latin typeface="Cambria" pitchFamily="34" charset="0"/>
                <a:ea typeface="Cambria" pitchFamily="34" charset="-122"/>
                <a:cs typeface="Cambria" pitchFamily="34" charset="-120"/>
              </a:rPr>
              <a:t>Variety</a:t>
            </a:r>
            <a:endParaRPr lang="en-US" sz="2000" dirty="0"/>
          </a:p>
        </p:txBody>
      </p:sp>
      <p:sp>
        <p:nvSpPr>
          <p:cNvPr id="18" name="Text 12"/>
          <p:cNvSpPr txBox="1"/>
          <p:nvPr/>
        </p:nvSpPr>
        <p:spPr>
          <a:xfrm>
            <a:off x="3931920" y="2834640"/>
            <a:ext cx="1280160" cy="1554480"/>
          </a:xfrm>
          <a:prstGeom prst="rect">
            <a:avLst/>
          </a:prstGeom>
          <a:noFill/>
          <a:ln/>
        </p:spPr>
        <p:txBody>
          <a:bodyPr wrap="square" lIns="0" tIns="0" rIns="0" bIns="0" rtlCol="0" anchor="t"/>
          <a:lstStyle/>
          <a:p>
            <a:pPr marL="0" indent="0" algn="ctr">
              <a:buNone/>
            </a:pPr>
            <a:r>
              <a:rPr lang="en-US" sz="1300" dirty="0">
                <a:solidFill>
                  <a:schemeClr val="tx1"/>
                </a:solidFill>
                <a:latin typeface="Calibri" pitchFamily="34" charset="0"/>
                <a:ea typeface="Calibri" pitchFamily="34" charset="-122"/>
                <a:cs typeface="Calibri" pitchFamily="34" charset="-120"/>
              </a:rPr>
              <a:t>Text, hashtags, links, mentions and emojis mixed together</a:t>
            </a:r>
            <a:endParaRPr lang="en-US" sz="1300" dirty="0"/>
          </a:p>
        </p:txBody>
      </p:sp>
      <p:sp>
        <p:nvSpPr>
          <p:cNvPr id="19" name="V card Veracity"/>
          <p:cNvSpPr/>
          <p:nvPr/>
        </p:nvSpPr>
        <p:spPr>
          <a:xfrm>
            <a:off x="5463540" y="1188720"/>
            <a:ext cx="1554480" cy="3291840"/>
          </a:xfrm>
          <a:prstGeom prst="roundRect">
            <a:avLst>
              <a:gd name="adj" fmla="val 7059"/>
            </a:avLst>
          </a:prstGeom>
          <a:solidFill>
            <a:schemeClr val="bg2"/>
          </a:solidFill>
          <a:ln/>
        </p:spPr>
        <p:txBody>
          <a:bodyPr/>
          <a:lstStyle/>
          <a:p>
            <a:endParaRPr lang="en-IN"/>
          </a:p>
        </p:txBody>
      </p:sp>
      <p:sp>
        <p:nvSpPr>
          <p:cNvPr id="20" name="Veracity circle"/>
          <p:cNvSpPr/>
          <p:nvPr/>
        </p:nvSpPr>
        <p:spPr>
          <a:xfrm>
            <a:off x="5875020" y="1417320"/>
            <a:ext cx="731520" cy="731520"/>
          </a:xfrm>
          <a:prstGeom prst="ellipse">
            <a:avLst/>
          </a:prstGeom>
          <a:solidFill>
            <a:schemeClr val="accent5"/>
          </a:solidFill>
          <a:ln/>
        </p:spPr>
        <p:txBody>
          <a:bodyPr/>
          <a:lstStyle/>
          <a:p>
            <a:endParaRPr lang="en-IN"/>
          </a:p>
        </p:txBody>
      </p:sp>
      <p:pic>
        <p:nvPicPr>
          <p:cNvPr id="21" name="Veracity icon" descr="Veracity"/>
          <p:cNvPicPr>
            <a:picLocks noChangeAspect="1"/>
          </p:cNvPicPr>
          <p:nvPr/>
        </p:nvPicPr>
        <p:blipFill>
          <a:blip r:embed="rId6"/>
          <a:stretch>
            <a:fillRect/>
          </a:stretch>
        </p:blipFill>
        <p:spPr>
          <a:xfrm>
            <a:off x="6057900" y="1600200"/>
            <a:ext cx="365760" cy="365760"/>
          </a:xfrm>
          <a:prstGeom prst="rect">
            <a:avLst/>
          </a:prstGeom>
        </p:spPr>
      </p:pic>
      <p:sp>
        <p:nvSpPr>
          <p:cNvPr id="22" name="Text 15"/>
          <p:cNvSpPr txBox="1"/>
          <p:nvPr/>
        </p:nvSpPr>
        <p:spPr>
          <a:xfrm>
            <a:off x="5463540" y="2331720"/>
            <a:ext cx="1554480" cy="365760"/>
          </a:xfrm>
          <a:prstGeom prst="rect">
            <a:avLst/>
          </a:prstGeom>
          <a:noFill/>
          <a:ln/>
        </p:spPr>
        <p:txBody>
          <a:bodyPr wrap="square" lIns="0" tIns="0" rIns="0" bIns="0" rtlCol="0" anchor="t"/>
          <a:lstStyle/>
          <a:p>
            <a:pPr marL="0" indent="0" algn="ctr">
              <a:buNone/>
            </a:pPr>
            <a:r>
              <a:rPr lang="en-US" sz="2000" b="1" dirty="0">
                <a:solidFill>
                  <a:schemeClr val="tx2"/>
                </a:solidFill>
                <a:latin typeface="Cambria" pitchFamily="34" charset="0"/>
                <a:ea typeface="Cambria" pitchFamily="34" charset="-122"/>
                <a:cs typeface="Cambria" pitchFamily="34" charset="-120"/>
              </a:rPr>
              <a:t>Veracity</a:t>
            </a:r>
            <a:endParaRPr lang="en-US" sz="2000" dirty="0"/>
          </a:p>
        </p:txBody>
      </p:sp>
      <p:sp>
        <p:nvSpPr>
          <p:cNvPr id="23" name="Text 16"/>
          <p:cNvSpPr txBox="1"/>
          <p:nvPr/>
        </p:nvSpPr>
        <p:spPr>
          <a:xfrm>
            <a:off x="5600700" y="2834640"/>
            <a:ext cx="1280160" cy="1554480"/>
          </a:xfrm>
          <a:prstGeom prst="rect">
            <a:avLst/>
          </a:prstGeom>
          <a:noFill/>
          <a:ln/>
        </p:spPr>
        <p:txBody>
          <a:bodyPr wrap="square" lIns="0" tIns="0" rIns="0" bIns="0" rtlCol="0" anchor="t"/>
          <a:lstStyle/>
          <a:p>
            <a:pPr marL="0" indent="0" algn="ctr">
              <a:buNone/>
            </a:pPr>
            <a:r>
              <a:rPr lang="en-US" sz="1300" dirty="0">
                <a:solidFill>
                  <a:schemeClr val="tx1"/>
                </a:solidFill>
                <a:latin typeface="Calibri" pitchFamily="34" charset="0"/>
                <a:ea typeface="Calibri" pitchFamily="34" charset="-122"/>
                <a:cs typeface="Calibri" pitchFamily="34" charset="-120"/>
              </a:rPr>
              <a:t>Slang, typos, sarcasm and spam make labels noisy</a:t>
            </a:r>
            <a:endParaRPr lang="en-US" sz="1300" dirty="0"/>
          </a:p>
        </p:txBody>
      </p:sp>
      <p:sp>
        <p:nvSpPr>
          <p:cNvPr id="24" name="V card Value"/>
          <p:cNvSpPr/>
          <p:nvPr/>
        </p:nvSpPr>
        <p:spPr>
          <a:xfrm>
            <a:off x="7132320" y="1188720"/>
            <a:ext cx="1554480" cy="3291840"/>
          </a:xfrm>
          <a:prstGeom prst="roundRect">
            <a:avLst>
              <a:gd name="adj" fmla="val 7059"/>
            </a:avLst>
          </a:prstGeom>
          <a:solidFill>
            <a:schemeClr val="bg2"/>
          </a:solidFill>
          <a:ln/>
        </p:spPr>
        <p:txBody>
          <a:bodyPr/>
          <a:lstStyle/>
          <a:p>
            <a:endParaRPr lang="en-IN"/>
          </a:p>
        </p:txBody>
      </p:sp>
      <p:sp>
        <p:nvSpPr>
          <p:cNvPr id="25" name="Value circle"/>
          <p:cNvSpPr/>
          <p:nvPr/>
        </p:nvSpPr>
        <p:spPr>
          <a:xfrm>
            <a:off x="7543800" y="1417320"/>
            <a:ext cx="731520" cy="731520"/>
          </a:xfrm>
          <a:prstGeom prst="ellipse">
            <a:avLst/>
          </a:prstGeom>
          <a:solidFill>
            <a:schemeClr val="accent1"/>
          </a:solidFill>
          <a:ln/>
        </p:spPr>
        <p:txBody>
          <a:bodyPr/>
          <a:lstStyle/>
          <a:p>
            <a:endParaRPr lang="en-IN"/>
          </a:p>
        </p:txBody>
      </p:sp>
      <p:pic>
        <p:nvPicPr>
          <p:cNvPr id="26" name="Value icon" descr="Value"/>
          <p:cNvPicPr>
            <a:picLocks noChangeAspect="1"/>
          </p:cNvPicPr>
          <p:nvPr/>
        </p:nvPicPr>
        <p:blipFill>
          <a:blip r:embed="rId7"/>
          <a:stretch>
            <a:fillRect/>
          </a:stretch>
        </p:blipFill>
        <p:spPr>
          <a:xfrm>
            <a:off x="7726680" y="1600200"/>
            <a:ext cx="365760" cy="365760"/>
          </a:xfrm>
          <a:prstGeom prst="rect">
            <a:avLst/>
          </a:prstGeom>
        </p:spPr>
      </p:pic>
      <p:sp>
        <p:nvSpPr>
          <p:cNvPr id="27" name="Text 19"/>
          <p:cNvSpPr txBox="1"/>
          <p:nvPr/>
        </p:nvSpPr>
        <p:spPr>
          <a:xfrm>
            <a:off x="7132320" y="2331720"/>
            <a:ext cx="1554480" cy="365760"/>
          </a:xfrm>
          <a:prstGeom prst="rect">
            <a:avLst/>
          </a:prstGeom>
          <a:noFill/>
          <a:ln/>
        </p:spPr>
        <p:txBody>
          <a:bodyPr wrap="square" lIns="0" tIns="0" rIns="0" bIns="0" rtlCol="0" anchor="t"/>
          <a:lstStyle/>
          <a:p>
            <a:pPr marL="0" indent="0" algn="ctr">
              <a:buNone/>
            </a:pPr>
            <a:r>
              <a:rPr lang="en-US" sz="2000" b="1" dirty="0">
                <a:solidFill>
                  <a:schemeClr val="tx2"/>
                </a:solidFill>
                <a:latin typeface="Cambria" pitchFamily="34" charset="0"/>
                <a:ea typeface="Cambria" pitchFamily="34" charset="-122"/>
                <a:cs typeface="Cambria" pitchFamily="34" charset="-120"/>
              </a:rPr>
              <a:t>Value</a:t>
            </a:r>
            <a:endParaRPr lang="en-US" sz="2000" dirty="0"/>
          </a:p>
        </p:txBody>
      </p:sp>
      <p:sp>
        <p:nvSpPr>
          <p:cNvPr id="28" name="Text 20"/>
          <p:cNvSpPr txBox="1"/>
          <p:nvPr/>
        </p:nvSpPr>
        <p:spPr>
          <a:xfrm>
            <a:off x="7269480" y="2834640"/>
            <a:ext cx="1280160" cy="1554480"/>
          </a:xfrm>
          <a:prstGeom prst="rect">
            <a:avLst/>
          </a:prstGeom>
          <a:noFill/>
          <a:ln/>
        </p:spPr>
        <p:txBody>
          <a:bodyPr wrap="square" lIns="0" tIns="0" rIns="0" bIns="0" rtlCol="0" anchor="t"/>
          <a:lstStyle/>
          <a:p>
            <a:pPr marL="0" indent="0" algn="ctr">
              <a:buNone/>
            </a:pPr>
            <a:r>
              <a:rPr lang="en-US" sz="1300" dirty="0">
                <a:solidFill>
                  <a:schemeClr val="tx1"/>
                </a:solidFill>
                <a:latin typeface="Calibri" pitchFamily="34" charset="0"/>
                <a:ea typeface="Calibri" pitchFamily="34" charset="-122"/>
                <a:cs typeface="Calibri" pitchFamily="34" charset="-120"/>
              </a:rPr>
              <a:t>Raw posts become a live view of public mood</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How the field evolved</a:t>
            </a:r>
            <a:endParaRPr lang="en-US" sz="3200" dirty="0"/>
          </a:p>
        </p:txBody>
      </p:sp>
      <p:sp>
        <p:nvSpPr>
          <p:cNvPr id="4" name="Timeline 1997"/>
          <p:cNvSpPr/>
          <p:nvPr/>
        </p:nvSpPr>
        <p:spPr>
          <a:xfrm>
            <a:off x="457200" y="1188720"/>
            <a:ext cx="1280160" cy="2468880"/>
          </a:xfrm>
          <a:prstGeom prst="roundRect">
            <a:avLst>
              <a:gd name="adj" fmla="val 8571"/>
            </a:avLst>
          </a:prstGeom>
          <a:solidFill>
            <a:schemeClr val="bg2"/>
          </a:solidFill>
          <a:ln/>
        </p:spPr>
        <p:txBody>
          <a:bodyPr/>
          <a:lstStyle/>
          <a:p>
            <a:endParaRPr lang="en-IN"/>
          </a:p>
        </p:txBody>
      </p:sp>
      <p:sp>
        <p:nvSpPr>
          <p:cNvPr id="5" name="Year chip 1997"/>
          <p:cNvSpPr/>
          <p:nvPr/>
        </p:nvSpPr>
        <p:spPr>
          <a:xfrm>
            <a:off x="548640" y="1298448"/>
            <a:ext cx="1097280" cy="384048"/>
          </a:xfrm>
          <a:prstGeom prst="roundRect">
            <a:avLst>
              <a:gd name="adj" fmla="val 50000"/>
            </a:avLst>
          </a:prstGeom>
          <a:solidFill>
            <a:schemeClr val="tx2"/>
          </a:solidFill>
          <a:ln/>
        </p:spPr>
        <p:txBody>
          <a:bodyPr/>
          <a:lstStyle/>
          <a:p>
            <a:endParaRPr lang="en-IN"/>
          </a:p>
        </p:txBody>
      </p:sp>
      <p:sp>
        <p:nvSpPr>
          <p:cNvPr id="6" name="Text 3"/>
          <p:cNvSpPr txBox="1"/>
          <p:nvPr/>
        </p:nvSpPr>
        <p:spPr>
          <a:xfrm>
            <a:off x="548640" y="1298448"/>
            <a:ext cx="1097280"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1997</a:t>
            </a:r>
            <a:endParaRPr lang="en-US" sz="1400" dirty="0"/>
          </a:p>
        </p:txBody>
      </p:sp>
      <p:sp>
        <p:nvSpPr>
          <p:cNvPr id="7" name="Text 4"/>
          <p:cNvSpPr txBox="1"/>
          <p:nvPr/>
        </p:nvSpPr>
        <p:spPr>
          <a:xfrm>
            <a:off x="548640" y="1847088"/>
            <a:ext cx="109728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Hochreiter</a:t>
            </a:r>
            <a:endParaRPr lang="en-US" sz="1400" dirty="0"/>
          </a:p>
        </p:txBody>
      </p:sp>
      <p:sp>
        <p:nvSpPr>
          <p:cNvPr id="8" name="Text 5"/>
          <p:cNvSpPr txBox="1"/>
          <p:nvPr/>
        </p:nvSpPr>
        <p:spPr>
          <a:xfrm>
            <a:off x="548640" y="2240280"/>
            <a:ext cx="1097280" cy="13716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LSTM adds gated memory for sequences</a:t>
            </a:r>
            <a:endParaRPr lang="en-US" sz="1300" dirty="0"/>
          </a:p>
        </p:txBody>
      </p:sp>
      <p:sp>
        <p:nvSpPr>
          <p:cNvPr id="9" name="Timeline 2002"/>
          <p:cNvSpPr/>
          <p:nvPr/>
        </p:nvSpPr>
        <p:spPr>
          <a:xfrm>
            <a:off x="1847088" y="1188720"/>
            <a:ext cx="1280160" cy="2468880"/>
          </a:xfrm>
          <a:prstGeom prst="roundRect">
            <a:avLst>
              <a:gd name="adj" fmla="val 8571"/>
            </a:avLst>
          </a:prstGeom>
          <a:solidFill>
            <a:schemeClr val="bg2"/>
          </a:solidFill>
          <a:ln/>
        </p:spPr>
        <p:txBody>
          <a:bodyPr/>
          <a:lstStyle/>
          <a:p>
            <a:endParaRPr lang="en-IN"/>
          </a:p>
        </p:txBody>
      </p:sp>
      <p:sp>
        <p:nvSpPr>
          <p:cNvPr id="10" name="Year chip 2002"/>
          <p:cNvSpPr/>
          <p:nvPr/>
        </p:nvSpPr>
        <p:spPr>
          <a:xfrm>
            <a:off x="1938528" y="1298448"/>
            <a:ext cx="1097280" cy="384048"/>
          </a:xfrm>
          <a:prstGeom prst="roundRect">
            <a:avLst>
              <a:gd name="adj" fmla="val 50000"/>
            </a:avLst>
          </a:prstGeom>
          <a:solidFill>
            <a:schemeClr val="accent4"/>
          </a:solidFill>
          <a:ln/>
        </p:spPr>
        <p:txBody>
          <a:bodyPr/>
          <a:lstStyle/>
          <a:p>
            <a:endParaRPr lang="en-IN"/>
          </a:p>
        </p:txBody>
      </p:sp>
      <p:sp>
        <p:nvSpPr>
          <p:cNvPr id="11" name="Text 8"/>
          <p:cNvSpPr txBox="1"/>
          <p:nvPr/>
        </p:nvSpPr>
        <p:spPr>
          <a:xfrm>
            <a:off x="1938528" y="1298448"/>
            <a:ext cx="1097280"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2002</a:t>
            </a:r>
            <a:endParaRPr lang="en-US" sz="1400" dirty="0"/>
          </a:p>
        </p:txBody>
      </p:sp>
      <p:sp>
        <p:nvSpPr>
          <p:cNvPr id="12" name="Text 9"/>
          <p:cNvSpPr txBox="1"/>
          <p:nvPr/>
        </p:nvSpPr>
        <p:spPr>
          <a:xfrm>
            <a:off x="1938528" y="1847088"/>
            <a:ext cx="109728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Pang et al.</a:t>
            </a:r>
            <a:endParaRPr lang="en-US" sz="1400" dirty="0"/>
          </a:p>
        </p:txBody>
      </p:sp>
      <p:sp>
        <p:nvSpPr>
          <p:cNvPr id="13" name="Text 10"/>
          <p:cNvSpPr txBox="1"/>
          <p:nvPr/>
        </p:nvSpPr>
        <p:spPr>
          <a:xfrm>
            <a:off x="1938528" y="2240280"/>
            <a:ext cx="1097280" cy="13716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Machine learning beats rules on reviews</a:t>
            </a:r>
            <a:endParaRPr lang="en-US" sz="1300" dirty="0"/>
          </a:p>
        </p:txBody>
      </p:sp>
      <p:sp>
        <p:nvSpPr>
          <p:cNvPr id="14" name="Timeline 2009–10"/>
          <p:cNvSpPr/>
          <p:nvPr/>
        </p:nvSpPr>
        <p:spPr>
          <a:xfrm>
            <a:off x="3236976" y="1188720"/>
            <a:ext cx="1280160" cy="2468880"/>
          </a:xfrm>
          <a:prstGeom prst="roundRect">
            <a:avLst>
              <a:gd name="adj" fmla="val 8571"/>
            </a:avLst>
          </a:prstGeom>
          <a:solidFill>
            <a:schemeClr val="bg2"/>
          </a:solidFill>
          <a:ln/>
        </p:spPr>
        <p:txBody>
          <a:bodyPr/>
          <a:lstStyle/>
          <a:p>
            <a:endParaRPr lang="en-IN"/>
          </a:p>
        </p:txBody>
      </p:sp>
      <p:sp>
        <p:nvSpPr>
          <p:cNvPr id="15" name="Year chip 2009–10"/>
          <p:cNvSpPr/>
          <p:nvPr/>
        </p:nvSpPr>
        <p:spPr>
          <a:xfrm>
            <a:off x="3328416" y="1298448"/>
            <a:ext cx="1097280" cy="384048"/>
          </a:xfrm>
          <a:prstGeom prst="roundRect">
            <a:avLst>
              <a:gd name="adj" fmla="val 50000"/>
            </a:avLst>
          </a:prstGeom>
          <a:solidFill>
            <a:schemeClr val="accent1"/>
          </a:solidFill>
          <a:ln/>
        </p:spPr>
        <p:txBody>
          <a:bodyPr/>
          <a:lstStyle/>
          <a:p>
            <a:endParaRPr lang="en-IN"/>
          </a:p>
        </p:txBody>
      </p:sp>
      <p:sp>
        <p:nvSpPr>
          <p:cNvPr id="16" name="Text 13"/>
          <p:cNvSpPr txBox="1"/>
          <p:nvPr/>
        </p:nvSpPr>
        <p:spPr>
          <a:xfrm>
            <a:off x="3328416" y="1298448"/>
            <a:ext cx="1097280"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2009–10</a:t>
            </a:r>
            <a:endParaRPr lang="en-US" sz="1400" dirty="0"/>
          </a:p>
        </p:txBody>
      </p:sp>
      <p:sp>
        <p:nvSpPr>
          <p:cNvPr id="17" name="Text 14"/>
          <p:cNvSpPr txBox="1"/>
          <p:nvPr/>
        </p:nvSpPr>
        <p:spPr>
          <a:xfrm>
            <a:off x="3328416" y="1847088"/>
            <a:ext cx="109728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Go; Pak</a:t>
            </a:r>
            <a:endParaRPr lang="en-US" sz="1400" dirty="0"/>
          </a:p>
        </p:txBody>
      </p:sp>
      <p:sp>
        <p:nvSpPr>
          <p:cNvPr id="18" name="Text 15"/>
          <p:cNvSpPr txBox="1"/>
          <p:nvPr/>
        </p:nvSpPr>
        <p:spPr>
          <a:xfrm>
            <a:off x="3328416" y="2240280"/>
            <a:ext cx="1097280" cy="13716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Tweets labelled automatically from emoticons</a:t>
            </a:r>
            <a:endParaRPr lang="en-US" sz="1300" dirty="0"/>
          </a:p>
        </p:txBody>
      </p:sp>
      <p:sp>
        <p:nvSpPr>
          <p:cNvPr id="19" name="Timeline 2013"/>
          <p:cNvSpPr/>
          <p:nvPr/>
        </p:nvSpPr>
        <p:spPr>
          <a:xfrm>
            <a:off x="4626864" y="1188720"/>
            <a:ext cx="1280160" cy="2468880"/>
          </a:xfrm>
          <a:prstGeom prst="roundRect">
            <a:avLst>
              <a:gd name="adj" fmla="val 8571"/>
            </a:avLst>
          </a:prstGeom>
          <a:solidFill>
            <a:schemeClr val="bg2"/>
          </a:solidFill>
          <a:ln/>
        </p:spPr>
        <p:txBody>
          <a:bodyPr/>
          <a:lstStyle/>
          <a:p>
            <a:endParaRPr lang="en-IN"/>
          </a:p>
        </p:txBody>
      </p:sp>
      <p:sp>
        <p:nvSpPr>
          <p:cNvPr id="20" name="Year chip 2013"/>
          <p:cNvSpPr/>
          <p:nvPr/>
        </p:nvSpPr>
        <p:spPr>
          <a:xfrm>
            <a:off x="4718304" y="1298448"/>
            <a:ext cx="1097280" cy="384048"/>
          </a:xfrm>
          <a:prstGeom prst="roundRect">
            <a:avLst>
              <a:gd name="adj" fmla="val 50000"/>
            </a:avLst>
          </a:prstGeom>
          <a:solidFill>
            <a:schemeClr val="accent3"/>
          </a:solidFill>
          <a:ln/>
        </p:spPr>
        <p:txBody>
          <a:bodyPr/>
          <a:lstStyle/>
          <a:p>
            <a:endParaRPr lang="en-IN"/>
          </a:p>
        </p:txBody>
      </p:sp>
      <p:sp>
        <p:nvSpPr>
          <p:cNvPr id="21" name="Text 18"/>
          <p:cNvSpPr txBox="1"/>
          <p:nvPr/>
        </p:nvSpPr>
        <p:spPr>
          <a:xfrm>
            <a:off x="4718304" y="1298448"/>
            <a:ext cx="1097280" cy="384048"/>
          </a:xfrm>
          <a:prstGeom prst="rect">
            <a:avLst/>
          </a:prstGeom>
          <a:noFill/>
          <a:ln/>
        </p:spPr>
        <p:txBody>
          <a:bodyPr wrap="square" lIns="0" tIns="0" rIns="0" bIns="0" rtlCol="0" anchor="ctr"/>
          <a:lstStyle/>
          <a:p>
            <a:pPr marL="0" indent="0" algn="ctr">
              <a:buNone/>
            </a:pPr>
            <a:r>
              <a:rPr lang="en-US" sz="1400" b="1" dirty="0">
                <a:solidFill>
                  <a:schemeClr val="tx1"/>
                </a:solidFill>
                <a:latin typeface="Cambria" pitchFamily="34" charset="0"/>
                <a:ea typeface="Cambria" pitchFamily="34" charset="-122"/>
                <a:cs typeface="Cambria" pitchFamily="34" charset="-120"/>
              </a:rPr>
              <a:t>2013</a:t>
            </a:r>
            <a:endParaRPr lang="en-US" sz="1400" dirty="0"/>
          </a:p>
        </p:txBody>
      </p:sp>
      <p:sp>
        <p:nvSpPr>
          <p:cNvPr id="22" name="Text 19"/>
          <p:cNvSpPr txBox="1"/>
          <p:nvPr/>
        </p:nvSpPr>
        <p:spPr>
          <a:xfrm>
            <a:off x="4718304" y="1847088"/>
            <a:ext cx="109728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NRC-Canada</a:t>
            </a:r>
            <a:endParaRPr lang="en-US" sz="1400" dirty="0"/>
          </a:p>
        </p:txBody>
      </p:sp>
      <p:sp>
        <p:nvSpPr>
          <p:cNvPr id="23" name="Text 20"/>
          <p:cNvSpPr txBox="1"/>
          <p:nvPr/>
        </p:nvSpPr>
        <p:spPr>
          <a:xfrm>
            <a:off x="4718304" y="2240280"/>
            <a:ext cx="1097280" cy="13716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SVM with lexicons wins a tweet task</a:t>
            </a:r>
            <a:endParaRPr lang="en-US" sz="1300" dirty="0"/>
          </a:p>
        </p:txBody>
      </p:sp>
      <p:sp>
        <p:nvSpPr>
          <p:cNvPr id="24" name="Timeline 2014"/>
          <p:cNvSpPr/>
          <p:nvPr/>
        </p:nvSpPr>
        <p:spPr>
          <a:xfrm>
            <a:off x="6016752" y="1188720"/>
            <a:ext cx="1280160" cy="2468880"/>
          </a:xfrm>
          <a:prstGeom prst="roundRect">
            <a:avLst>
              <a:gd name="adj" fmla="val 8571"/>
            </a:avLst>
          </a:prstGeom>
          <a:solidFill>
            <a:schemeClr val="bg2"/>
          </a:solidFill>
          <a:ln/>
        </p:spPr>
        <p:txBody>
          <a:bodyPr/>
          <a:lstStyle/>
          <a:p>
            <a:endParaRPr lang="en-IN"/>
          </a:p>
        </p:txBody>
      </p:sp>
      <p:sp>
        <p:nvSpPr>
          <p:cNvPr id="25" name="Year chip 2014"/>
          <p:cNvSpPr/>
          <p:nvPr/>
        </p:nvSpPr>
        <p:spPr>
          <a:xfrm>
            <a:off x="6108192" y="1298448"/>
            <a:ext cx="1097280" cy="384048"/>
          </a:xfrm>
          <a:prstGeom prst="roundRect">
            <a:avLst>
              <a:gd name="adj" fmla="val 50000"/>
            </a:avLst>
          </a:prstGeom>
          <a:solidFill>
            <a:schemeClr val="accent5"/>
          </a:solidFill>
          <a:ln/>
        </p:spPr>
        <p:txBody>
          <a:bodyPr/>
          <a:lstStyle/>
          <a:p>
            <a:endParaRPr lang="en-IN"/>
          </a:p>
        </p:txBody>
      </p:sp>
      <p:sp>
        <p:nvSpPr>
          <p:cNvPr id="26" name="Text 23"/>
          <p:cNvSpPr txBox="1"/>
          <p:nvPr/>
        </p:nvSpPr>
        <p:spPr>
          <a:xfrm>
            <a:off x="6108192" y="1298448"/>
            <a:ext cx="1097280"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2014</a:t>
            </a:r>
            <a:endParaRPr lang="en-US" sz="1400" dirty="0"/>
          </a:p>
        </p:txBody>
      </p:sp>
      <p:sp>
        <p:nvSpPr>
          <p:cNvPr id="27" name="Text 24"/>
          <p:cNvSpPr txBox="1"/>
          <p:nvPr/>
        </p:nvSpPr>
        <p:spPr>
          <a:xfrm>
            <a:off x="6108192" y="1847088"/>
            <a:ext cx="109728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Kim</a:t>
            </a:r>
            <a:endParaRPr lang="en-US" sz="1400" dirty="0"/>
          </a:p>
        </p:txBody>
      </p:sp>
      <p:sp>
        <p:nvSpPr>
          <p:cNvPr id="28" name="Text 25"/>
          <p:cNvSpPr txBox="1"/>
          <p:nvPr/>
        </p:nvSpPr>
        <p:spPr>
          <a:xfrm>
            <a:off x="6108192" y="2240280"/>
            <a:ext cx="1097280" cy="13716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CNNs classify short sentences well</a:t>
            </a:r>
            <a:endParaRPr lang="en-US" sz="1300" dirty="0"/>
          </a:p>
        </p:txBody>
      </p:sp>
      <p:sp>
        <p:nvSpPr>
          <p:cNvPr id="29" name="Timeline 2019–20"/>
          <p:cNvSpPr/>
          <p:nvPr/>
        </p:nvSpPr>
        <p:spPr>
          <a:xfrm>
            <a:off x="7406640" y="1188720"/>
            <a:ext cx="1280160" cy="2468880"/>
          </a:xfrm>
          <a:prstGeom prst="roundRect">
            <a:avLst>
              <a:gd name="adj" fmla="val 8571"/>
            </a:avLst>
          </a:prstGeom>
          <a:solidFill>
            <a:schemeClr val="bg2"/>
          </a:solidFill>
          <a:ln/>
        </p:spPr>
        <p:txBody>
          <a:bodyPr/>
          <a:lstStyle/>
          <a:p>
            <a:endParaRPr lang="en-IN"/>
          </a:p>
        </p:txBody>
      </p:sp>
      <p:sp>
        <p:nvSpPr>
          <p:cNvPr id="30" name="Year chip 2019–20"/>
          <p:cNvSpPr/>
          <p:nvPr/>
        </p:nvSpPr>
        <p:spPr>
          <a:xfrm>
            <a:off x="7498080" y="1298448"/>
            <a:ext cx="1097280" cy="384048"/>
          </a:xfrm>
          <a:prstGeom prst="roundRect">
            <a:avLst>
              <a:gd name="adj" fmla="val 50000"/>
            </a:avLst>
          </a:prstGeom>
          <a:solidFill>
            <a:schemeClr val="accent2"/>
          </a:solidFill>
          <a:ln/>
        </p:spPr>
        <p:txBody>
          <a:bodyPr/>
          <a:lstStyle/>
          <a:p>
            <a:endParaRPr lang="en-IN"/>
          </a:p>
        </p:txBody>
      </p:sp>
      <p:sp>
        <p:nvSpPr>
          <p:cNvPr id="31" name="Text 28"/>
          <p:cNvSpPr txBox="1"/>
          <p:nvPr/>
        </p:nvSpPr>
        <p:spPr>
          <a:xfrm>
            <a:off x="7498080" y="1298448"/>
            <a:ext cx="1097280"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mbria" pitchFamily="34" charset="0"/>
                <a:ea typeface="Cambria" pitchFamily="34" charset="-122"/>
                <a:cs typeface="Cambria" pitchFamily="34" charset="-120"/>
              </a:rPr>
              <a:t>2019–20</a:t>
            </a:r>
            <a:endParaRPr lang="en-US" sz="1400" dirty="0"/>
          </a:p>
        </p:txBody>
      </p:sp>
      <p:sp>
        <p:nvSpPr>
          <p:cNvPr id="32" name="Text 29"/>
          <p:cNvSpPr txBox="1"/>
          <p:nvPr/>
        </p:nvSpPr>
        <p:spPr>
          <a:xfrm>
            <a:off x="7498080" y="1847088"/>
            <a:ext cx="109728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BERT era</a:t>
            </a:r>
            <a:endParaRPr lang="en-US" sz="1400" dirty="0"/>
          </a:p>
        </p:txBody>
      </p:sp>
      <p:sp>
        <p:nvSpPr>
          <p:cNvPr id="33" name="Text 30"/>
          <p:cNvSpPr txBox="1"/>
          <p:nvPr/>
        </p:nvSpPr>
        <p:spPr>
          <a:xfrm>
            <a:off x="7498080" y="2240280"/>
            <a:ext cx="1097280" cy="13716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Pre-trained transformers lead</a:t>
            </a:r>
            <a:endParaRPr lang="en-US" sz="1300" dirty="0"/>
          </a:p>
        </p:txBody>
      </p:sp>
      <p:sp>
        <p:nvSpPr>
          <p:cNvPr id="34" name="Gap card"/>
          <p:cNvSpPr/>
          <p:nvPr/>
        </p:nvSpPr>
        <p:spPr>
          <a:xfrm>
            <a:off x="457200" y="3840480"/>
            <a:ext cx="8229600" cy="640080"/>
          </a:xfrm>
          <a:prstGeom prst="roundRect">
            <a:avLst>
              <a:gd name="adj" fmla="val 17143"/>
            </a:avLst>
          </a:prstGeom>
          <a:solidFill>
            <a:schemeClr val="tx2"/>
          </a:solidFill>
          <a:ln/>
        </p:spPr>
        <p:txBody>
          <a:bodyPr/>
          <a:lstStyle/>
          <a:p>
            <a:endParaRPr lang="en-IN"/>
          </a:p>
        </p:txBody>
      </p:sp>
      <p:sp>
        <p:nvSpPr>
          <p:cNvPr id="35" name="Text 32"/>
          <p:cNvSpPr txBox="1"/>
          <p:nvPr/>
        </p:nvSpPr>
        <p:spPr>
          <a:xfrm>
            <a:off x="685800" y="3840480"/>
            <a:ext cx="7772400" cy="640080"/>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Many studies stop at offline accuracy. This project adds streaming, a forecast and a dashboard around the model.</a:t>
            </a:r>
            <a:endParaRPr lang="en-US" sz="15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System architecture</a:t>
            </a:r>
            <a:endParaRPr lang="en-US" sz="3200" dirty="0"/>
          </a:p>
        </p:txBody>
      </p:sp>
      <p:sp>
        <p:nvSpPr>
          <p:cNvPr id="4" name="Stage card Dataset"/>
          <p:cNvSpPr/>
          <p:nvPr/>
        </p:nvSpPr>
        <p:spPr>
          <a:xfrm>
            <a:off x="457200" y="1188720"/>
            <a:ext cx="1463040" cy="2103120"/>
          </a:xfrm>
          <a:prstGeom prst="roundRect">
            <a:avLst>
              <a:gd name="adj" fmla="val 7500"/>
            </a:avLst>
          </a:prstGeom>
          <a:solidFill>
            <a:schemeClr val="bg2"/>
          </a:solidFill>
          <a:ln/>
        </p:spPr>
        <p:txBody>
          <a:bodyPr/>
          <a:lstStyle/>
          <a:p>
            <a:endParaRPr lang="en-IN"/>
          </a:p>
        </p:txBody>
      </p:sp>
      <p:sp>
        <p:nvSpPr>
          <p:cNvPr id="5" name="Dataset circle"/>
          <p:cNvSpPr/>
          <p:nvPr/>
        </p:nvSpPr>
        <p:spPr>
          <a:xfrm>
            <a:off x="868680" y="1371600"/>
            <a:ext cx="640080" cy="640080"/>
          </a:xfrm>
          <a:prstGeom prst="ellipse">
            <a:avLst/>
          </a:prstGeom>
          <a:solidFill>
            <a:schemeClr val="accent5"/>
          </a:solidFill>
          <a:ln/>
        </p:spPr>
        <p:txBody>
          <a:bodyPr/>
          <a:lstStyle/>
          <a:p>
            <a:endParaRPr lang="en-IN"/>
          </a:p>
        </p:txBody>
      </p:sp>
      <p:pic>
        <p:nvPicPr>
          <p:cNvPr id="6" name="Dataset icon" descr="Dataset"/>
          <p:cNvPicPr>
            <a:picLocks noChangeAspect="1"/>
          </p:cNvPicPr>
          <p:nvPr/>
        </p:nvPicPr>
        <p:blipFill>
          <a:blip r:embed="rId3"/>
          <a:stretch>
            <a:fillRect/>
          </a:stretch>
        </p:blipFill>
        <p:spPr>
          <a:xfrm>
            <a:off x="1028700" y="1531620"/>
            <a:ext cx="320040" cy="320040"/>
          </a:xfrm>
          <a:prstGeom prst="rect">
            <a:avLst/>
          </a:prstGeom>
        </p:spPr>
      </p:pic>
      <p:sp>
        <p:nvSpPr>
          <p:cNvPr id="7" name="Text 3"/>
          <p:cNvSpPr txBox="1"/>
          <p:nvPr/>
        </p:nvSpPr>
        <p:spPr>
          <a:xfrm>
            <a:off x="457200" y="2148840"/>
            <a:ext cx="1463040" cy="32004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Dataset</a:t>
            </a:r>
            <a:endParaRPr lang="en-US" sz="1600" dirty="0"/>
          </a:p>
        </p:txBody>
      </p:sp>
      <p:sp>
        <p:nvSpPr>
          <p:cNvPr id="8" name="Text 4"/>
          <p:cNvSpPr txBox="1"/>
          <p:nvPr/>
        </p:nvSpPr>
        <p:spPr>
          <a:xfrm>
            <a:off x="566928" y="2542032"/>
            <a:ext cx="1243584" cy="64008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Kaggle COVID-19 tweets</a:t>
            </a:r>
            <a:endParaRPr lang="en-US" sz="1200" dirty="0"/>
          </a:p>
        </p:txBody>
      </p:sp>
      <p:sp>
        <p:nvSpPr>
          <p:cNvPr id="9" name="Arrow 1"/>
          <p:cNvSpPr/>
          <p:nvPr/>
        </p:nvSpPr>
        <p:spPr>
          <a:xfrm>
            <a:off x="1956816" y="2057400"/>
            <a:ext cx="182880" cy="256032"/>
          </a:xfrm>
          <a:prstGeom prst="rightArrow">
            <a:avLst/>
          </a:prstGeom>
          <a:solidFill>
            <a:schemeClr val="accent5"/>
          </a:solidFill>
          <a:ln/>
        </p:spPr>
        <p:txBody>
          <a:bodyPr/>
          <a:lstStyle/>
          <a:p>
            <a:endParaRPr lang="en-IN"/>
          </a:p>
        </p:txBody>
      </p:sp>
      <p:sp>
        <p:nvSpPr>
          <p:cNvPr id="10" name="Stage card Kafka 3.7.0"/>
          <p:cNvSpPr/>
          <p:nvPr/>
        </p:nvSpPr>
        <p:spPr>
          <a:xfrm>
            <a:off x="2148840" y="1188720"/>
            <a:ext cx="1463040" cy="2103120"/>
          </a:xfrm>
          <a:prstGeom prst="roundRect">
            <a:avLst>
              <a:gd name="adj" fmla="val 7500"/>
            </a:avLst>
          </a:prstGeom>
          <a:solidFill>
            <a:schemeClr val="bg2"/>
          </a:solidFill>
          <a:ln/>
        </p:spPr>
        <p:txBody>
          <a:bodyPr/>
          <a:lstStyle/>
          <a:p>
            <a:endParaRPr lang="en-IN"/>
          </a:p>
        </p:txBody>
      </p:sp>
      <p:sp>
        <p:nvSpPr>
          <p:cNvPr id="11" name="Kafka 3.7.0 circle"/>
          <p:cNvSpPr/>
          <p:nvPr/>
        </p:nvSpPr>
        <p:spPr>
          <a:xfrm>
            <a:off x="2560320" y="1371600"/>
            <a:ext cx="640080" cy="640080"/>
          </a:xfrm>
          <a:prstGeom prst="ellipse">
            <a:avLst/>
          </a:prstGeom>
          <a:solidFill>
            <a:schemeClr val="accent4"/>
          </a:solidFill>
          <a:ln/>
        </p:spPr>
        <p:txBody>
          <a:bodyPr/>
          <a:lstStyle/>
          <a:p>
            <a:endParaRPr lang="en-IN"/>
          </a:p>
        </p:txBody>
      </p:sp>
      <p:pic>
        <p:nvPicPr>
          <p:cNvPr id="12" name="Kafka 3.7.0 icon" descr="Kafka 3.7.0"/>
          <p:cNvPicPr>
            <a:picLocks noChangeAspect="1"/>
          </p:cNvPicPr>
          <p:nvPr/>
        </p:nvPicPr>
        <p:blipFill>
          <a:blip r:embed="rId4"/>
          <a:stretch>
            <a:fillRect/>
          </a:stretch>
        </p:blipFill>
        <p:spPr>
          <a:xfrm>
            <a:off x="2720340" y="1531620"/>
            <a:ext cx="320040" cy="320040"/>
          </a:xfrm>
          <a:prstGeom prst="rect">
            <a:avLst/>
          </a:prstGeom>
        </p:spPr>
      </p:pic>
      <p:sp>
        <p:nvSpPr>
          <p:cNvPr id="13" name="Text 8"/>
          <p:cNvSpPr txBox="1"/>
          <p:nvPr/>
        </p:nvSpPr>
        <p:spPr>
          <a:xfrm>
            <a:off x="2148840" y="2148840"/>
            <a:ext cx="1463040" cy="32004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Kafka 3.7.0</a:t>
            </a:r>
            <a:endParaRPr lang="en-US" sz="1600" dirty="0"/>
          </a:p>
        </p:txBody>
      </p:sp>
      <p:sp>
        <p:nvSpPr>
          <p:cNvPr id="14" name="Text 9"/>
          <p:cNvSpPr txBox="1"/>
          <p:nvPr/>
        </p:nvSpPr>
        <p:spPr>
          <a:xfrm>
            <a:off x="2258568" y="2542032"/>
            <a:ext cx="1243584" cy="64008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Topic carries the stream</a:t>
            </a:r>
            <a:endParaRPr lang="en-US" sz="1200" dirty="0"/>
          </a:p>
        </p:txBody>
      </p:sp>
      <p:sp>
        <p:nvSpPr>
          <p:cNvPr id="15" name="Arrow 2"/>
          <p:cNvSpPr/>
          <p:nvPr/>
        </p:nvSpPr>
        <p:spPr>
          <a:xfrm>
            <a:off x="3648456" y="2057400"/>
            <a:ext cx="182880" cy="256032"/>
          </a:xfrm>
          <a:prstGeom prst="rightArrow">
            <a:avLst/>
          </a:prstGeom>
          <a:solidFill>
            <a:schemeClr val="accent5"/>
          </a:solidFill>
          <a:ln/>
        </p:spPr>
        <p:txBody>
          <a:bodyPr/>
          <a:lstStyle/>
          <a:p>
            <a:endParaRPr lang="en-IN"/>
          </a:p>
        </p:txBody>
      </p:sp>
      <p:sp>
        <p:nvSpPr>
          <p:cNvPr id="16" name="Stage card Spark 3.5.1"/>
          <p:cNvSpPr/>
          <p:nvPr/>
        </p:nvSpPr>
        <p:spPr>
          <a:xfrm>
            <a:off x="3840480" y="1188720"/>
            <a:ext cx="1463040" cy="2103120"/>
          </a:xfrm>
          <a:prstGeom prst="roundRect">
            <a:avLst>
              <a:gd name="adj" fmla="val 7500"/>
            </a:avLst>
          </a:prstGeom>
          <a:solidFill>
            <a:schemeClr val="bg2"/>
          </a:solidFill>
          <a:ln/>
        </p:spPr>
        <p:txBody>
          <a:bodyPr/>
          <a:lstStyle/>
          <a:p>
            <a:endParaRPr lang="en-IN"/>
          </a:p>
        </p:txBody>
      </p:sp>
      <p:sp>
        <p:nvSpPr>
          <p:cNvPr id="17" name="Spark 3.5.1 circle"/>
          <p:cNvSpPr/>
          <p:nvPr/>
        </p:nvSpPr>
        <p:spPr>
          <a:xfrm>
            <a:off x="4251960" y="1371600"/>
            <a:ext cx="640080" cy="640080"/>
          </a:xfrm>
          <a:prstGeom prst="ellipse">
            <a:avLst/>
          </a:prstGeom>
          <a:solidFill>
            <a:schemeClr val="accent3"/>
          </a:solidFill>
          <a:ln/>
        </p:spPr>
        <p:txBody>
          <a:bodyPr/>
          <a:lstStyle/>
          <a:p>
            <a:endParaRPr lang="en-IN"/>
          </a:p>
        </p:txBody>
      </p:sp>
      <p:pic>
        <p:nvPicPr>
          <p:cNvPr id="18" name="Spark 3.5.1 icon" descr="Spark 3.5.1"/>
          <p:cNvPicPr>
            <a:picLocks noChangeAspect="1"/>
          </p:cNvPicPr>
          <p:nvPr/>
        </p:nvPicPr>
        <p:blipFill>
          <a:blip r:embed="rId5"/>
          <a:stretch>
            <a:fillRect/>
          </a:stretch>
        </p:blipFill>
        <p:spPr>
          <a:xfrm>
            <a:off x="4411980" y="1531620"/>
            <a:ext cx="320040" cy="320040"/>
          </a:xfrm>
          <a:prstGeom prst="rect">
            <a:avLst/>
          </a:prstGeom>
        </p:spPr>
      </p:pic>
      <p:sp>
        <p:nvSpPr>
          <p:cNvPr id="19" name="Text 13"/>
          <p:cNvSpPr txBox="1"/>
          <p:nvPr/>
        </p:nvSpPr>
        <p:spPr>
          <a:xfrm>
            <a:off x="3840480" y="2148840"/>
            <a:ext cx="1463040" cy="32004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Spark 3.5.1</a:t>
            </a:r>
            <a:endParaRPr lang="en-US" sz="1600" dirty="0"/>
          </a:p>
        </p:txBody>
      </p:sp>
      <p:sp>
        <p:nvSpPr>
          <p:cNvPr id="20" name="Text 14"/>
          <p:cNvSpPr txBox="1"/>
          <p:nvPr/>
        </p:nvSpPr>
        <p:spPr>
          <a:xfrm>
            <a:off x="3950208" y="2542032"/>
            <a:ext cx="1243584" cy="64008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Micro-batch processing</a:t>
            </a:r>
            <a:endParaRPr lang="en-US" sz="1200" dirty="0"/>
          </a:p>
        </p:txBody>
      </p:sp>
      <p:sp>
        <p:nvSpPr>
          <p:cNvPr id="21" name="Arrow 3"/>
          <p:cNvSpPr/>
          <p:nvPr/>
        </p:nvSpPr>
        <p:spPr>
          <a:xfrm>
            <a:off x="5340096" y="2057400"/>
            <a:ext cx="182880" cy="256032"/>
          </a:xfrm>
          <a:prstGeom prst="rightArrow">
            <a:avLst/>
          </a:prstGeom>
          <a:solidFill>
            <a:schemeClr val="accent5"/>
          </a:solidFill>
          <a:ln/>
        </p:spPr>
        <p:txBody>
          <a:bodyPr/>
          <a:lstStyle/>
          <a:p>
            <a:endParaRPr lang="en-IN"/>
          </a:p>
        </p:txBody>
      </p:sp>
      <p:sp>
        <p:nvSpPr>
          <p:cNvPr id="22" name="Stage card Model"/>
          <p:cNvSpPr/>
          <p:nvPr/>
        </p:nvSpPr>
        <p:spPr>
          <a:xfrm>
            <a:off x="5532120" y="1188720"/>
            <a:ext cx="1463040" cy="2103120"/>
          </a:xfrm>
          <a:prstGeom prst="roundRect">
            <a:avLst>
              <a:gd name="adj" fmla="val 7500"/>
            </a:avLst>
          </a:prstGeom>
          <a:solidFill>
            <a:schemeClr val="bg2"/>
          </a:solidFill>
          <a:ln/>
        </p:spPr>
        <p:txBody>
          <a:bodyPr/>
          <a:lstStyle/>
          <a:p>
            <a:endParaRPr lang="en-IN"/>
          </a:p>
        </p:txBody>
      </p:sp>
      <p:sp>
        <p:nvSpPr>
          <p:cNvPr id="23" name="Model circle"/>
          <p:cNvSpPr/>
          <p:nvPr/>
        </p:nvSpPr>
        <p:spPr>
          <a:xfrm>
            <a:off x="5943600" y="1371600"/>
            <a:ext cx="640080" cy="640080"/>
          </a:xfrm>
          <a:prstGeom prst="ellipse">
            <a:avLst/>
          </a:prstGeom>
          <a:solidFill>
            <a:schemeClr val="accent1"/>
          </a:solidFill>
          <a:ln/>
        </p:spPr>
        <p:txBody>
          <a:bodyPr/>
          <a:lstStyle/>
          <a:p>
            <a:endParaRPr lang="en-IN"/>
          </a:p>
        </p:txBody>
      </p:sp>
      <p:pic>
        <p:nvPicPr>
          <p:cNvPr id="24" name="Model icon" descr="Model"/>
          <p:cNvPicPr>
            <a:picLocks noChangeAspect="1"/>
          </p:cNvPicPr>
          <p:nvPr/>
        </p:nvPicPr>
        <p:blipFill>
          <a:blip r:embed="rId6"/>
          <a:stretch>
            <a:fillRect/>
          </a:stretch>
        </p:blipFill>
        <p:spPr>
          <a:xfrm>
            <a:off x="6103620" y="1531620"/>
            <a:ext cx="320040" cy="320040"/>
          </a:xfrm>
          <a:prstGeom prst="rect">
            <a:avLst/>
          </a:prstGeom>
        </p:spPr>
      </p:pic>
      <p:sp>
        <p:nvSpPr>
          <p:cNvPr id="25" name="Text 18"/>
          <p:cNvSpPr txBox="1"/>
          <p:nvPr/>
        </p:nvSpPr>
        <p:spPr>
          <a:xfrm>
            <a:off x="5532120" y="2148840"/>
            <a:ext cx="1463040" cy="32004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Model</a:t>
            </a:r>
            <a:endParaRPr lang="en-US" sz="1600" dirty="0"/>
          </a:p>
        </p:txBody>
      </p:sp>
      <p:sp>
        <p:nvSpPr>
          <p:cNvPr id="26" name="Text 19"/>
          <p:cNvSpPr txBox="1"/>
          <p:nvPr/>
        </p:nvSpPr>
        <p:spPr>
          <a:xfrm>
            <a:off x="5641848" y="2542032"/>
            <a:ext cx="1243584" cy="64008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scikit-learn, XGBoost, TensorFlow</a:t>
            </a:r>
            <a:endParaRPr lang="en-US" sz="1200" dirty="0"/>
          </a:p>
        </p:txBody>
      </p:sp>
      <p:sp>
        <p:nvSpPr>
          <p:cNvPr id="27" name="Arrow 4"/>
          <p:cNvSpPr/>
          <p:nvPr/>
        </p:nvSpPr>
        <p:spPr>
          <a:xfrm>
            <a:off x="7031736" y="2057400"/>
            <a:ext cx="182880" cy="256032"/>
          </a:xfrm>
          <a:prstGeom prst="rightArrow">
            <a:avLst/>
          </a:prstGeom>
          <a:solidFill>
            <a:schemeClr val="accent5"/>
          </a:solidFill>
          <a:ln/>
        </p:spPr>
        <p:txBody>
          <a:bodyPr/>
          <a:lstStyle/>
          <a:p>
            <a:endParaRPr lang="en-IN"/>
          </a:p>
        </p:txBody>
      </p:sp>
      <p:sp>
        <p:nvSpPr>
          <p:cNvPr id="28" name="Stage card Dashboard"/>
          <p:cNvSpPr/>
          <p:nvPr/>
        </p:nvSpPr>
        <p:spPr>
          <a:xfrm>
            <a:off x="7223760" y="1188720"/>
            <a:ext cx="1463040" cy="2103120"/>
          </a:xfrm>
          <a:prstGeom prst="roundRect">
            <a:avLst>
              <a:gd name="adj" fmla="val 7500"/>
            </a:avLst>
          </a:prstGeom>
          <a:solidFill>
            <a:schemeClr val="bg2"/>
          </a:solidFill>
          <a:ln/>
        </p:spPr>
        <p:txBody>
          <a:bodyPr/>
          <a:lstStyle/>
          <a:p>
            <a:endParaRPr lang="en-IN"/>
          </a:p>
        </p:txBody>
      </p:sp>
      <p:sp>
        <p:nvSpPr>
          <p:cNvPr id="29" name="Dashboard circle"/>
          <p:cNvSpPr/>
          <p:nvPr/>
        </p:nvSpPr>
        <p:spPr>
          <a:xfrm>
            <a:off x="7635240" y="1371600"/>
            <a:ext cx="640080" cy="640080"/>
          </a:xfrm>
          <a:prstGeom prst="ellipse">
            <a:avLst/>
          </a:prstGeom>
          <a:solidFill>
            <a:schemeClr val="accent2"/>
          </a:solidFill>
          <a:ln/>
        </p:spPr>
        <p:txBody>
          <a:bodyPr/>
          <a:lstStyle/>
          <a:p>
            <a:endParaRPr lang="en-IN"/>
          </a:p>
        </p:txBody>
      </p:sp>
      <p:pic>
        <p:nvPicPr>
          <p:cNvPr id="30" name="Dashboard icon" descr="Dashboard"/>
          <p:cNvPicPr>
            <a:picLocks noChangeAspect="1"/>
          </p:cNvPicPr>
          <p:nvPr/>
        </p:nvPicPr>
        <p:blipFill>
          <a:blip r:embed="rId7"/>
          <a:stretch>
            <a:fillRect/>
          </a:stretch>
        </p:blipFill>
        <p:spPr>
          <a:xfrm>
            <a:off x="7795260" y="1531620"/>
            <a:ext cx="320040" cy="320040"/>
          </a:xfrm>
          <a:prstGeom prst="rect">
            <a:avLst/>
          </a:prstGeom>
        </p:spPr>
      </p:pic>
      <p:sp>
        <p:nvSpPr>
          <p:cNvPr id="31" name="Text 23"/>
          <p:cNvSpPr txBox="1"/>
          <p:nvPr/>
        </p:nvSpPr>
        <p:spPr>
          <a:xfrm>
            <a:off x="7223760" y="2148840"/>
            <a:ext cx="1463040" cy="320040"/>
          </a:xfrm>
          <a:prstGeom prst="rect">
            <a:avLst/>
          </a:prstGeom>
          <a:noFill/>
          <a:ln/>
        </p:spPr>
        <p:txBody>
          <a:bodyPr wrap="square" lIns="0" tIns="0" rIns="0" bIns="0" rtlCol="0" anchor="t"/>
          <a:lstStyle/>
          <a:p>
            <a:pPr marL="0" indent="0" algn="ctr">
              <a:buNone/>
            </a:pPr>
            <a:r>
              <a:rPr lang="en-US" sz="1600" b="1" dirty="0">
                <a:solidFill>
                  <a:schemeClr val="tx2"/>
                </a:solidFill>
                <a:latin typeface="Cambria" pitchFamily="34" charset="0"/>
                <a:ea typeface="Cambria" pitchFamily="34" charset="-122"/>
                <a:cs typeface="Cambria" pitchFamily="34" charset="-120"/>
              </a:rPr>
              <a:t>Dashboard</a:t>
            </a:r>
            <a:endParaRPr lang="en-US" sz="1600" dirty="0"/>
          </a:p>
        </p:txBody>
      </p:sp>
      <p:sp>
        <p:nvSpPr>
          <p:cNvPr id="32" name="Text 24"/>
          <p:cNvSpPr txBox="1"/>
          <p:nvPr/>
        </p:nvSpPr>
        <p:spPr>
          <a:xfrm>
            <a:off x="7333488" y="2542032"/>
            <a:ext cx="1243584" cy="64008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Streamlit, six tabs</a:t>
            </a:r>
            <a:endParaRPr lang="en-US" sz="1200" dirty="0"/>
          </a:p>
        </p:txBody>
      </p:sp>
      <p:sp>
        <p:nvSpPr>
          <p:cNvPr id="33" name="Text 25"/>
          <p:cNvSpPr txBox="1"/>
          <p:nvPr/>
        </p:nvSpPr>
        <p:spPr>
          <a:xfrm>
            <a:off x="457200" y="3520440"/>
            <a:ext cx="3657600" cy="274320"/>
          </a:xfrm>
          <a:prstGeom prst="rect">
            <a:avLst/>
          </a:prstGeom>
          <a:noFill/>
          <a:ln/>
        </p:spPr>
        <p:txBody>
          <a:bodyPr wrap="square" lIns="0" tIns="0" rIns="0" bIns="0" rtlCol="0" anchor="t"/>
          <a:lstStyle/>
          <a:p>
            <a:pPr marL="0" indent="0">
              <a:buNone/>
            </a:pPr>
            <a:r>
              <a:rPr lang="en-US" sz="1400" b="1" dirty="0">
                <a:solidFill>
                  <a:schemeClr val="accent5"/>
                </a:solidFill>
                <a:latin typeface="Calibri" pitchFamily="34" charset="0"/>
                <a:ea typeface="Calibri" pitchFamily="34" charset="-122"/>
                <a:cs typeface="Calibri" pitchFamily="34" charset="-120"/>
              </a:rPr>
              <a:t>Project workflow</a:t>
            </a:r>
            <a:endParaRPr lang="en-US" sz="1400" dirty="0"/>
          </a:p>
        </p:txBody>
      </p:sp>
      <p:sp>
        <p:nvSpPr>
          <p:cNvPr id="34" name="Workflow step 1"/>
          <p:cNvSpPr/>
          <p:nvPr/>
        </p:nvSpPr>
        <p:spPr>
          <a:xfrm>
            <a:off x="457200" y="3886200"/>
            <a:ext cx="1097280" cy="548640"/>
          </a:xfrm>
          <a:prstGeom prst="roundRect">
            <a:avLst>
              <a:gd name="adj" fmla="val 50000"/>
            </a:avLst>
          </a:prstGeom>
          <a:solidFill>
            <a:schemeClr val="tx2"/>
          </a:solidFill>
          <a:ln/>
        </p:spPr>
        <p:txBody>
          <a:bodyPr/>
          <a:lstStyle/>
          <a:p>
            <a:endParaRPr lang="en-IN"/>
          </a:p>
        </p:txBody>
      </p:sp>
      <p:sp>
        <p:nvSpPr>
          <p:cNvPr id="35" name="Text 27"/>
          <p:cNvSpPr txBox="1"/>
          <p:nvPr/>
        </p:nvSpPr>
        <p:spPr>
          <a:xfrm>
            <a:off x="457200" y="3886200"/>
            <a:ext cx="1097280" cy="54864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Load data</a:t>
            </a:r>
            <a:endParaRPr lang="en-US" sz="1200" dirty="0"/>
          </a:p>
        </p:txBody>
      </p:sp>
      <p:sp>
        <p:nvSpPr>
          <p:cNvPr id="36" name="Workflow step 2"/>
          <p:cNvSpPr/>
          <p:nvPr/>
        </p:nvSpPr>
        <p:spPr>
          <a:xfrm>
            <a:off x="1645920" y="3886200"/>
            <a:ext cx="1097280" cy="548640"/>
          </a:xfrm>
          <a:prstGeom prst="roundRect">
            <a:avLst>
              <a:gd name="adj" fmla="val 50000"/>
            </a:avLst>
          </a:prstGeom>
          <a:solidFill>
            <a:schemeClr val="accent4"/>
          </a:solidFill>
          <a:ln/>
        </p:spPr>
        <p:txBody>
          <a:bodyPr/>
          <a:lstStyle/>
          <a:p>
            <a:endParaRPr lang="en-IN"/>
          </a:p>
        </p:txBody>
      </p:sp>
      <p:sp>
        <p:nvSpPr>
          <p:cNvPr id="37" name="Text 29"/>
          <p:cNvSpPr txBox="1"/>
          <p:nvPr/>
        </p:nvSpPr>
        <p:spPr>
          <a:xfrm>
            <a:off x="1645920" y="3886200"/>
            <a:ext cx="1097280" cy="54864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Preprocess</a:t>
            </a:r>
            <a:endParaRPr lang="en-US" sz="1200" dirty="0"/>
          </a:p>
        </p:txBody>
      </p:sp>
      <p:sp>
        <p:nvSpPr>
          <p:cNvPr id="38" name="Workflow step 3"/>
          <p:cNvSpPr/>
          <p:nvPr/>
        </p:nvSpPr>
        <p:spPr>
          <a:xfrm>
            <a:off x="2834640" y="3886200"/>
            <a:ext cx="1097280" cy="548640"/>
          </a:xfrm>
          <a:prstGeom prst="roundRect">
            <a:avLst>
              <a:gd name="adj" fmla="val 50000"/>
            </a:avLst>
          </a:prstGeom>
          <a:solidFill>
            <a:schemeClr val="tx2"/>
          </a:solidFill>
          <a:ln/>
        </p:spPr>
        <p:txBody>
          <a:bodyPr/>
          <a:lstStyle/>
          <a:p>
            <a:endParaRPr lang="en-IN"/>
          </a:p>
        </p:txBody>
      </p:sp>
      <p:sp>
        <p:nvSpPr>
          <p:cNvPr id="39" name="Text 31"/>
          <p:cNvSpPr txBox="1"/>
          <p:nvPr/>
        </p:nvSpPr>
        <p:spPr>
          <a:xfrm>
            <a:off x="2834640" y="3886200"/>
            <a:ext cx="1097280" cy="54864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Select model</a:t>
            </a:r>
            <a:endParaRPr lang="en-US" sz="1200" dirty="0"/>
          </a:p>
        </p:txBody>
      </p:sp>
      <p:sp>
        <p:nvSpPr>
          <p:cNvPr id="40" name="Workflow step 4"/>
          <p:cNvSpPr/>
          <p:nvPr/>
        </p:nvSpPr>
        <p:spPr>
          <a:xfrm>
            <a:off x="4023360" y="3886200"/>
            <a:ext cx="1097280" cy="548640"/>
          </a:xfrm>
          <a:prstGeom prst="roundRect">
            <a:avLst>
              <a:gd name="adj" fmla="val 50000"/>
            </a:avLst>
          </a:prstGeom>
          <a:solidFill>
            <a:schemeClr val="accent4"/>
          </a:solidFill>
          <a:ln/>
        </p:spPr>
        <p:txBody>
          <a:bodyPr/>
          <a:lstStyle/>
          <a:p>
            <a:endParaRPr lang="en-IN"/>
          </a:p>
        </p:txBody>
      </p:sp>
      <p:sp>
        <p:nvSpPr>
          <p:cNvPr id="41" name="Text 33"/>
          <p:cNvSpPr txBox="1"/>
          <p:nvPr/>
        </p:nvSpPr>
        <p:spPr>
          <a:xfrm>
            <a:off x="4023360" y="3886200"/>
            <a:ext cx="1097280" cy="54864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Build model</a:t>
            </a:r>
            <a:endParaRPr lang="en-US" sz="1200" dirty="0"/>
          </a:p>
        </p:txBody>
      </p:sp>
      <p:sp>
        <p:nvSpPr>
          <p:cNvPr id="42" name="Workflow step 5"/>
          <p:cNvSpPr/>
          <p:nvPr/>
        </p:nvSpPr>
        <p:spPr>
          <a:xfrm>
            <a:off x="5212080" y="3886200"/>
            <a:ext cx="1097280" cy="548640"/>
          </a:xfrm>
          <a:prstGeom prst="roundRect">
            <a:avLst>
              <a:gd name="adj" fmla="val 50000"/>
            </a:avLst>
          </a:prstGeom>
          <a:solidFill>
            <a:schemeClr val="tx2"/>
          </a:solidFill>
          <a:ln/>
        </p:spPr>
        <p:txBody>
          <a:bodyPr/>
          <a:lstStyle/>
          <a:p>
            <a:endParaRPr lang="en-IN"/>
          </a:p>
        </p:txBody>
      </p:sp>
      <p:sp>
        <p:nvSpPr>
          <p:cNvPr id="43" name="Text 35"/>
          <p:cNvSpPr txBox="1"/>
          <p:nvPr/>
        </p:nvSpPr>
        <p:spPr>
          <a:xfrm>
            <a:off x="5212080" y="3886200"/>
            <a:ext cx="1097280" cy="54864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Evaluate</a:t>
            </a:r>
            <a:endParaRPr lang="en-US" sz="1200" dirty="0"/>
          </a:p>
        </p:txBody>
      </p:sp>
      <p:sp>
        <p:nvSpPr>
          <p:cNvPr id="44" name="Workflow step 6"/>
          <p:cNvSpPr/>
          <p:nvPr/>
        </p:nvSpPr>
        <p:spPr>
          <a:xfrm>
            <a:off x="6400800" y="3886200"/>
            <a:ext cx="1097280" cy="548640"/>
          </a:xfrm>
          <a:prstGeom prst="roundRect">
            <a:avLst>
              <a:gd name="adj" fmla="val 50000"/>
            </a:avLst>
          </a:prstGeom>
          <a:solidFill>
            <a:schemeClr val="accent4"/>
          </a:solidFill>
          <a:ln/>
        </p:spPr>
        <p:txBody>
          <a:bodyPr/>
          <a:lstStyle/>
          <a:p>
            <a:endParaRPr lang="en-IN"/>
          </a:p>
        </p:txBody>
      </p:sp>
      <p:sp>
        <p:nvSpPr>
          <p:cNvPr id="45" name="Text 37"/>
          <p:cNvSpPr txBox="1"/>
          <p:nvPr/>
        </p:nvSpPr>
        <p:spPr>
          <a:xfrm>
            <a:off x="6400800" y="3886200"/>
            <a:ext cx="1097280" cy="54864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Predict future</a:t>
            </a:r>
            <a:endParaRPr lang="en-US" sz="1200" dirty="0"/>
          </a:p>
        </p:txBody>
      </p:sp>
      <p:sp>
        <p:nvSpPr>
          <p:cNvPr id="46" name="Workflow step 7"/>
          <p:cNvSpPr/>
          <p:nvPr/>
        </p:nvSpPr>
        <p:spPr>
          <a:xfrm>
            <a:off x="7589520" y="3886200"/>
            <a:ext cx="1097280" cy="548640"/>
          </a:xfrm>
          <a:prstGeom prst="roundRect">
            <a:avLst>
              <a:gd name="adj" fmla="val 50000"/>
            </a:avLst>
          </a:prstGeom>
          <a:solidFill>
            <a:schemeClr val="tx2"/>
          </a:solidFill>
          <a:ln/>
        </p:spPr>
        <p:txBody>
          <a:bodyPr/>
          <a:lstStyle/>
          <a:p>
            <a:endParaRPr lang="en-IN"/>
          </a:p>
        </p:txBody>
      </p:sp>
      <p:sp>
        <p:nvSpPr>
          <p:cNvPr id="47" name="Text 39"/>
          <p:cNvSpPr txBox="1"/>
          <p:nvPr/>
        </p:nvSpPr>
        <p:spPr>
          <a:xfrm>
            <a:off x="7589520" y="3886200"/>
            <a:ext cx="1097280" cy="54864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Analyse</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Apache Kafka: the message pipe</a:t>
            </a:r>
            <a:endParaRPr lang="en-US" sz="3200" dirty="0"/>
          </a:p>
        </p:txBody>
      </p:sp>
      <p:sp>
        <p:nvSpPr>
          <p:cNvPr id="4" name="Producer box"/>
          <p:cNvSpPr/>
          <p:nvPr/>
        </p:nvSpPr>
        <p:spPr>
          <a:xfrm>
            <a:off x="457200" y="1188720"/>
            <a:ext cx="1554480" cy="1188720"/>
          </a:xfrm>
          <a:prstGeom prst="roundRect">
            <a:avLst>
              <a:gd name="adj" fmla="val 9231"/>
            </a:avLst>
          </a:prstGeom>
          <a:solidFill>
            <a:schemeClr val="tx2"/>
          </a:solidFill>
          <a:ln/>
        </p:spPr>
        <p:txBody>
          <a:bodyPr/>
          <a:lstStyle/>
          <a:p>
            <a:endParaRPr lang="en-IN"/>
          </a:p>
        </p:txBody>
      </p:sp>
      <p:sp>
        <p:nvSpPr>
          <p:cNvPr id="5" name="Text 2"/>
          <p:cNvSpPr txBox="1"/>
          <p:nvPr/>
        </p:nvSpPr>
        <p:spPr>
          <a:xfrm>
            <a:off x="457200" y="1188720"/>
            <a:ext cx="1554480" cy="118872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Producer</a:t>
            </a:r>
            <a:endParaRPr lang="en-US" sz="1600" dirty="0"/>
          </a:p>
        </p:txBody>
      </p:sp>
      <p:sp>
        <p:nvSpPr>
          <p:cNvPr id="6" name="Producer arrow"/>
          <p:cNvSpPr/>
          <p:nvPr/>
        </p:nvSpPr>
        <p:spPr>
          <a:xfrm>
            <a:off x="2084832" y="1664208"/>
            <a:ext cx="182880" cy="256032"/>
          </a:xfrm>
          <a:prstGeom prst="rightArrow">
            <a:avLst/>
          </a:prstGeom>
          <a:solidFill>
            <a:schemeClr val="accent5"/>
          </a:solidFill>
          <a:ln/>
        </p:spPr>
        <p:txBody>
          <a:bodyPr/>
          <a:lstStyle/>
          <a:p>
            <a:endParaRPr lang="en-IN"/>
          </a:p>
        </p:txBody>
      </p:sp>
      <p:sp>
        <p:nvSpPr>
          <p:cNvPr id="7" name="Text 4"/>
          <p:cNvSpPr txBox="1"/>
          <p:nvPr/>
        </p:nvSpPr>
        <p:spPr>
          <a:xfrm>
            <a:off x="2514600" y="1170432"/>
            <a:ext cx="4023360" cy="237744"/>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Topic: partition 0, an ordered log</a:t>
            </a:r>
            <a:endParaRPr lang="en-US" sz="1200" dirty="0"/>
          </a:p>
        </p:txBody>
      </p:sp>
      <p:sp>
        <p:nvSpPr>
          <p:cNvPr id="8" name="Log record 0"/>
          <p:cNvSpPr/>
          <p:nvPr/>
        </p:nvSpPr>
        <p:spPr>
          <a:xfrm>
            <a:off x="2514600" y="1508760"/>
            <a:ext cx="457200" cy="457200"/>
          </a:xfrm>
          <a:prstGeom prst="roundRect">
            <a:avLst>
              <a:gd name="adj" fmla="val 12000"/>
            </a:avLst>
          </a:prstGeom>
          <a:solidFill>
            <a:schemeClr val="accent4"/>
          </a:solidFill>
          <a:ln/>
        </p:spPr>
        <p:txBody>
          <a:bodyPr/>
          <a:lstStyle/>
          <a:p>
            <a:endParaRPr lang="en-IN"/>
          </a:p>
        </p:txBody>
      </p:sp>
      <p:sp>
        <p:nvSpPr>
          <p:cNvPr id="9" name="Text 6"/>
          <p:cNvSpPr txBox="1"/>
          <p:nvPr/>
        </p:nvSpPr>
        <p:spPr>
          <a:xfrm>
            <a:off x="2514600" y="150876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0</a:t>
            </a:r>
            <a:endParaRPr lang="en-US" sz="1300" dirty="0"/>
          </a:p>
        </p:txBody>
      </p:sp>
      <p:sp>
        <p:nvSpPr>
          <p:cNvPr id="10" name="Log record 1"/>
          <p:cNvSpPr/>
          <p:nvPr/>
        </p:nvSpPr>
        <p:spPr>
          <a:xfrm>
            <a:off x="3026664" y="1508760"/>
            <a:ext cx="457200" cy="457200"/>
          </a:xfrm>
          <a:prstGeom prst="roundRect">
            <a:avLst>
              <a:gd name="adj" fmla="val 12000"/>
            </a:avLst>
          </a:prstGeom>
          <a:solidFill>
            <a:schemeClr val="accent4"/>
          </a:solidFill>
          <a:ln/>
        </p:spPr>
        <p:txBody>
          <a:bodyPr/>
          <a:lstStyle/>
          <a:p>
            <a:endParaRPr lang="en-IN"/>
          </a:p>
        </p:txBody>
      </p:sp>
      <p:sp>
        <p:nvSpPr>
          <p:cNvPr id="11" name="Text 8"/>
          <p:cNvSpPr txBox="1"/>
          <p:nvPr/>
        </p:nvSpPr>
        <p:spPr>
          <a:xfrm>
            <a:off x="3026664" y="150876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12" name="Log record 2"/>
          <p:cNvSpPr/>
          <p:nvPr/>
        </p:nvSpPr>
        <p:spPr>
          <a:xfrm>
            <a:off x="3538728" y="1508760"/>
            <a:ext cx="457200" cy="457200"/>
          </a:xfrm>
          <a:prstGeom prst="roundRect">
            <a:avLst>
              <a:gd name="adj" fmla="val 12000"/>
            </a:avLst>
          </a:prstGeom>
          <a:solidFill>
            <a:schemeClr val="accent4"/>
          </a:solidFill>
          <a:ln/>
        </p:spPr>
        <p:txBody>
          <a:bodyPr/>
          <a:lstStyle/>
          <a:p>
            <a:endParaRPr lang="en-IN"/>
          </a:p>
        </p:txBody>
      </p:sp>
      <p:sp>
        <p:nvSpPr>
          <p:cNvPr id="13" name="Text 10"/>
          <p:cNvSpPr txBox="1"/>
          <p:nvPr/>
        </p:nvSpPr>
        <p:spPr>
          <a:xfrm>
            <a:off x="3538728" y="150876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4" name="Log record 3"/>
          <p:cNvSpPr/>
          <p:nvPr/>
        </p:nvSpPr>
        <p:spPr>
          <a:xfrm>
            <a:off x="4050792" y="1508760"/>
            <a:ext cx="457200" cy="457200"/>
          </a:xfrm>
          <a:prstGeom prst="roundRect">
            <a:avLst>
              <a:gd name="adj" fmla="val 12000"/>
            </a:avLst>
          </a:prstGeom>
          <a:solidFill>
            <a:schemeClr val="accent4"/>
          </a:solidFill>
          <a:ln/>
        </p:spPr>
        <p:txBody>
          <a:bodyPr/>
          <a:lstStyle/>
          <a:p>
            <a:endParaRPr lang="en-IN"/>
          </a:p>
        </p:txBody>
      </p:sp>
      <p:sp>
        <p:nvSpPr>
          <p:cNvPr id="15" name="Text 12"/>
          <p:cNvSpPr txBox="1"/>
          <p:nvPr/>
        </p:nvSpPr>
        <p:spPr>
          <a:xfrm>
            <a:off x="4050792" y="150876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16" name="Log record 4"/>
          <p:cNvSpPr/>
          <p:nvPr/>
        </p:nvSpPr>
        <p:spPr>
          <a:xfrm>
            <a:off x="4562856" y="1508760"/>
            <a:ext cx="457200" cy="457200"/>
          </a:xfrm>
          <a:prstGeom prst="roundRect">
            <a:avLst>
              <a:gd name="adj" fmla="val 12000"/>
            </a:avLst>
          </a:prstGeom>
          <a:solidFill>
            <a:schemeClr val="accent4"/>
          </a:solidFill>
          <a:ln/>
        </p:spPr>
        <p:txBody>
          <a:bodyPr/>
          <a:lstStyle/>
          <a:p>
            <a:endParaRPr lang="en-IN"/>
          </a:p>
        </p:txBody>
      </p:sp>
      <p:sp>
        <p:nvSpPr>
          <p:cNvPr id="17" name="Text 14"/>
          <p:cNvSpPr txBox="1"/>
          <p:nvPr/>
        </p:nvSpPr>
        <p:spPr>
          <a:xfrm>
            <a:off x="4562856" y="150876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4</a:t>
            </a:r>
            <a:endParaRPr lang="en-US" sz="1300" dirty="0"/>
          </a:p>
        </p:txBody>
      </p:sp>
      <p:sp>
        <p:nvSpPr>
          <p:cNvPr id="18" name="Log record 5"/>
          <p:cNvSpPr/>
          <p:nvPr/>
        </p:nvSpPr>
        <p:spPr>
          <a:xfrm>
            <a:off x="5074920" y="1508760"/>
            <a:ext cx="457200" cy="457200"/>
          </a:xfrm>
          <a:prstGeom prst="roundRect">
            <a:avLst>
              <a:gd name="adj" fmla="val 12000"/>
            </a:avLst>
          </a:prstGeom>
          <a:solidFill>
            <a:schemeClr val="accent4"/>
          </a:solidFill>
          <a:ln/>
        </p:spPr>
        <p:txBody>
          <a:bodyPr/>
          <a:lstStyle/>
          <a:p>
            <a:endParaRPr lang="en-IN"/>
          </a:p>
        </p:txBody>
      </p:sp>
      <p:sp>
        <p:nvSpPr>
          <p:cNvPr id="19" name="Text 16"/>
          <p:cNvSpPr txBox="1"/>
          <p:nvPr/>
        </p:nvSpPr>
        <p:spPr>
          <a:xfrm>
            <a:off x="5074920" y="1508760"/>
            <a:ext cx="457200" cy="4572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5</a:t>
            </a:r>
            <a:endParaRPr lang="en-US" sz="1300" dirty="0"/>
          </a:p>
        </p:txBody>
      </p:sp>
      <p:sp>
        <p:nvSpPr>
          <p:cNvPr id="20" name="Log record 6"/>
          <p:cNvSpPr/>
          <p:nvPr/>
        </p:nvSpPr>
        <p:spPr>
          <a:xfrm>
            <a:off x="5586984" y="1508760"/>
            <a:ext cx="457200" cy="457200"/>
          </a:xfrm>
          <a:prstGeom prst="roundRect">
            <a:avLst>
              <a:gd name="adj" fmla="val 12000"/>
            </a:avLst>
          </a:prstGeom>
          <a:solidFill>
            <a:srgbClr val="C9CEE3"/>
          </a:solidFill>
          <a:ln/>
        </p:spPr>
        <p:txBody>
          <a:bodyPr/>
          <a:lstStyle/>
          <a:p>
            <a:endParaRPr lang="en-IN"/>
          </a:p>
        </p:txBody>
      </p:sp>
      <p:sp>
        <p:nvSpPr>
          <p:cNvPr id="21" name="Text 18"/>
          <p:cNvSpPr txBox="1"/>
          <p:nvPr/>
        </p:nvSpPr>
        <p:spPr>
          <a:xfrm>
            <a:off x="5586984" y="1508760"/>
            <a:ext cx="457200" cy="45720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6</a:t>
            </a:r>
            <a:endParaRPr lang="en-US" sz="1300" dirty="0"/>
          </a:p>
        </p:txBody>
      </p:sp>
      <p:sp>
        <p:nvSpPr>
          <p:cNvPr id="22" name="Log record 7"/>
          <p:cNvSpPr/>
          <p:nvPr/>
        </p:nvSpPr>
        <p:spPr>
          <a:xfrm>
            <a:off x="6099048" y="1508760"/>
            <a:ext cx="457200" cy="457200"/>
          </a:xfrm>
          <a:prstGeom prst="roundRect">
            <a:avLst>
              <a:gd name="adj" fmla="val 12000"/>
            </a:avLst>
          </a:prstGeom>
          <a:solidFill>
            <a:srgbClr val="C9CEE3"/>
          </a:solidFill>
          <a:ln/>
        </p:spPr>
        <p:txBody>
          <a:bodyPr/>
          <a:lstStyle/>
          <a:p>
            <a:endParaRPr lang="en-IN"/>
          </a:p>
        </p:txBody>
      </p:sp>
      <p:sp>
        <p:nvSpPr>
          <p:cNvPr id="23" name="Text 20"/>
          <p:cNvSpPr txBox="1"/>
          <p:nvPr/>
        </p:nvSpPr>
        <p:spPr>
          <a:xfrm>
            <a:off x="6099048" y="1508760"/>
            <a:ext cx="457200" cy="45720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7</a:t>
            </a:r>
            <a:endParaRPr lang="en-US" sz="1300" dirty="0"/>
          </a:p>
        </p:txBody>
      </p:sp>
      <p:sp>
        <p:nvSpPr>
          <p:cNvPr id="24" name="Text 21"/>
          <p:cNvSpPr txBox="1"/>
          <p:nvPr/>
        </p:nvSpPr>
        <p:spPr>
          <a:xfrm>
            <a:off x="2514600" y="2057400"/>
            <a:ext cx="4023360" cy="2743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offsets 0, 1, 2 … new records are appended at the end</a:t>
            </a:r>
            <a:endParaRPr lang="en-US" sz="1200" dirty="0"/>
          </a:p>
        </p:txBody>
      </p:sp>
      <p:sp>
        <p:nvSpPr>
          <p:cNvPr id="25" name="Consumer arrow"/>
          <p:cNvSpPr/>
          <p:nvPr/>
        </p:nvSpPr>
        <p:spPr>
          <a:xfrm>
            <a:off x="6675120" y="1664208"/>
            <a:ext cx="182880" cy="256032"/>
          </a:xfrm>
          <a:prstGeom prst="rightArrow">
            <a:avLst/>
          </a:prstGeom>
          <a:solidFill>
            <a:schemeClr val="accent5"/>
          </a:solidFill>
          <a:ln/>
        </p:spPr>
        <p:txBody>
          <a:bodyPr/>
          <a:lstStyle/>
          <a:p>
            <a:endParaRPr lang="en-IN"/>
          </a:p>
        </p:txBody>
      </p:sp>
      <p:sp>
        <p:nvSpPr>
          <p:cNvPr id="26" name="Consumer box"/>
          <p:cNvSpPr/>
          <p:nvPr/>
        </p:nvSpPr>
        <p:spPr>
          <a:xfrm>
            <a:off x="7132320" y="1188720"/>
            <a:ext cx="1554480" cy="1188720"/>
          </a:xfrm>
          <a:prstGeom prst="roundRect">
            <a:avLst>
              <a:gd name="adj" fmla="val 9231"/>
            </a:avLst>
          </a:prstGeom>
          <a:solidFill>
            <a:schemeClr val="tx2"/>
          </a:solidFill>
          <a:ln/>
        </p:spPr>
        <p:txBody>
          <a:bodyPr/>
          <a:lstStyle/>
          <a:p>
            <a:endParaRPr lang="en-IN"/>
          </a:p>
        </p:txBody>
      </p:sp>
      <p:sp>
        <p:nvSpPr>
          <p:cNvPr id="27" name="Text 24"/>
          <p:cNvSpPr txBox="1"/>
          <p:nvPr/>
        </p:nvSpPr>
        <p:spPr>
          <a:xfrm>
            <a:off x="7132320" y="1188720"/>
            <a:ext cx="1554480" cy="118872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Consumer</a:t>
            </a:r>
            <a:endParaRPr lang="en-US" sz="1600" dirty="0"/>
          </a:p>
        </p:txBody>
      </p:sp>
      <p:sp>
        <p:nvSpPr>
          <p:cNvPr id="28" name="Card Producer"/>
          <p:cNvSpPr/>
          <p:nvPr/>
        </p:nvSpPr>
        <p:spPr>
          <a:xfrm>
            <a:off x="457200" y="2697480"/>
            <a:ext cx="1920240" cy="1783080"/>
          </a:xfrm>
          <a:prstGeom prst="roundRect">
            <a:avLst>
              <a:gd name="adj" fmla="val 6154"/>
            </a:avLst>
          </a:prstGeom>
          <a:solidFill>
            <a:schemeClr val="bg2"/>
          </a:solidFill>
          <a:ln/>
        </p:spPr>
        <p:txBody>
          <a:bodyPr/>
          <a:lstStyle/>
          <a:p>
            <a:endParaRPr lang="en-IN"/>
          </a:p>
        </p:txBody>
      </p:sp>
      <p:sp>
        <p:nvSpPr>
          <p:cNvPr id="29" name="Text 26"/>
          <p:cNvSpPr txBox="1"/>
          <p:nvPr/>
        </p:nvSpPr>
        <p:spPr>
          <a:xfrm>
            <a:off x="640080" y="2807208"/>
            <a:ext cx="15544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Producer</a:t>
            </a:r>
            <a:endParaRPr lang="en-US" sz="1500" dirty="0"/>
          </a:p>
        </p:txBody>
      </p:sp>
      <p:sp>
        <p:nvSpPr>
          <p:cNvPr id="30" name="Text 27"/>
          <p:cNvSpPr txBox="1"/>
          <p:nvPr/>
        </p:nvSpPr>
        <p:spPr>
          <a:xfrm>
            <a:off x="640080" y="3136392"/>
            <a:ext cx="1554480" cy="1252728"/>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Publishes records to a topic. Ours replays tweets one by one, like a live feed.</a:t>
            </a:r>
            <a:endParaRPr lang="en-US" sz="1200" dirty="0"/>
          </a:p>
        </p:txBody>
      </p:sp>
      <p:sp>
        <p:nvSpPr>
          <p:cNvPr id="31" name="Card Topic and partition"/>
          <p:cNvSpPr/>
          <p:nvPr/>
        </p:nvSpPr>
        <p:spPr>
          <a:xfrm>
            <a:off x="2560320" y="2697480"/>
            <a:ext cx="1920240" cy="1783080"/>
          </a:xfrm>
          <a:prstGeom prst="roundRect">
            <a:avLst>
              <a:gd name="adj" fmla="val 6154"/>
            </a:avLst>
          </a:prstGeom>
          <a:solidFill>
            <a:schemeClr val="bg2"/>
          </a:solidFill>
          <a:ln/>
        </p:spPr>
        <p:txBody>
          <a:bodyPr/>
          <a:lstStyle/>
          <a:p>
            <a:endParaRPr lang="en-IN"/>
          </a:p>
        </p:txBody>
      </p:sp>
      <p:sp>
        <p:nvSpPr>
          <p:cNvPr id="32" name="Text 29"/>
          <p:cNvSpPr txBox="1"/>
          <p:nvPr/>
        </p:nvSpPr>
        <p:spPr>
          <a:xfrm>
            <a:off x="2743200" y="2807208"/>
            <a:ext cx="15544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Topic and partition</a:t>
            </a:r>
            <a:endParaRPr lang="en-US" sz="1500" dirty="0"/>
          </a:p>
        </p:txBody>
      </p:sp>
      <p:sp>
        <p:nvSpPr>
          <p:cNvPr id="33" name="Text 30"/>
          <p:cNvSpPr txBox="1"/>
          <p:nvPr/>
        </p:nvSpPr>
        <p:spPr>
          <a:xfrm>
            <a:off x="2743200" y="3136392"/>
            <a:ext cx="1554480" cy="1252728"/>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A topic is a named feed. A partition is an ordered log; each record has an offset.</a:t>
            </a:r>
            <a:endParaRPr lang="en-US" sz="1200" dirty="0"/>
          </a:p>
        </p:txBody>
      </p:sp>
      <p:sp>
        <p:nvSpPr>
          <p:cNvPr id="34" name="Card Consumer"/>
          <p:cNvSpPr/>
          <p:nvPr/>
        </p:nvSpPr>
        <p:spPr>
          <a:xfrm>
            <a:off x="4663440" y="2697480"/>
            <a:ext cx="1920240" cy="1783080"/>
          </a:xfrm>
          <a:prstGeom prst="roundRect">
            <a:avLst>
              <a:gd name="adj" fmla="val 6154"/>
            </a:avLst>
          </a:prstGeom>
          <a:solidFill>
            <a:schemeClr val="bg2"/>
          </a:solidFill>
          <a:ln/>
        </p:spPr>
        <p:txBody>
          <a:bodyPr/>
          <a:lstStyle/>
          <a:p>
            <a:endParaRPr lang="en-IN"/>
          </a:p>
        </p:txBody>
      </p:sp>
      <p:sp>
        <p:nvSpPr>
          <p:cNvPr id="35" name="Text 32"/>
          <p:cNvSpPr txBox="1"/>
          <p:nvPr/>
        </p:nvSpPr>
        <p:spPr>
          <a:xfrm>
            <a:off x="4846320" y="2807208"/>
            <a:ext cx="15544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Consumer</a:t>
            </a:r>
            <a:endParaRPr lang="en-US" sz="1500" dirty="0"/>
          </a:p>
        </p:txBody>
      </p:sp>
      <p:sp>
        <p:nvSpPr>
          <p:cNvPr id="36" name="Text 33"/>
          <p:cNvSpPr txBox="1"/>
          <p:nvPr/>
        </p:nvSpPr>
        <p:spPr>
          <a:xfrm>
            <a:off x="4846320" y="3136392"/>
            <a:ext cx="1554480" cy="1252728"/>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Reads at its own pace and tracks its offset, so it can resume or replay.</a:t>
            </a:r>
            <a:endParaRPr lang="en-US" sz="1200" dirty="0"/>
          </a:p>
        </p:txBody>
      </p:sp>
      <p:sp>
        <p:nvSpPr>
          <p:cNvPr id="37" name="Card Our setup"/>
          <p:cNvSpPr/>
          <p:nvPr/>
        </p:nvSpPr>
        <p:spPr>
          <a:xfrm>
            <a:off x="6766560" y="2697480"/>
            <a:ext cx="1920240" cy="1783080"/>
          </a:xfrm>
          <a:prstGeom prst="roundRect">
            <a:avLst>
              <a:gd name="adj" fmla="val 6154"/>
            </a:avLst>
          </a:prstGeom>
          <a:solidFill>
            <a:schemeClr val="tx2"/>
          </a:solidFill>
          <a:ln/>
        </p:spPr>
        <p:txBody>
          <a:bodyPr/>
          <a:lstStyle/>
          <a:p>
            <a:endParaRPr lang="en-IN"/>
          </a:p>
        </p:txBody>
      </p:sp>
      <p:sp>
        <p:nvSpPr>
          <p:cNvPr id="38" name="Text 35"/>
          <p:cNvSpPr txBox="1"/>
          <p:nvPr/>
        </p:nvSpPr>
        <p:spPr>
          <a:xfrm>
            <a:off x="6949440" y="2807208"/>
            <a:ext cx="1554480" cy="274320"/>
          </a:xfrm>
          <a:prstGeom prst="rect">
            <a:avLst/>
          </a:prstGeom>
          <a:noFill/>
          <a:ln/>
        </p:spPr>
        <p:txBody>
          <a:bodyPr wrap="square" lIns="0" tIns="0" rIns="0" bIns="0" rtlCol="0" anchor="t"/>
          <a:lstStyle/>
          <a:p>
            <a:pPr marL="0" indent="0">
              <a:buNone/>
            </a:pPr>
            <a:r>
              <a:rPr lang="en-US" sz="1500" b="1" dirty="0">
                <a:solidFill>
                  <a:schemeClr val="accent6"/>
                </a:solidFill>
                <a:latin typeface="Calibri" pitchFamily="34" charset="0"/>
                <a:ea typeface="Calibri" pitchFamily="34" charset="-122"/>
                <a:cs typeface="Calibri" pitchFamily="34" charset="-120"/>
              </a:rPr>
              <a:t>Our setup</a:t>
            </a:r>
            <a:endParaRPr lang="en-US" sz="1500" dirty="0"/>
          </a:p>
        </p:txBody>
      </p:sp>
      <p:sp>
        <p:nvSpPr>
          <p:cNvPr id="39" name="Text 36"/>
          <p:cNvSpPr txBox="1"/>
          <p:nvPr/>
        </p:nvSpPr>
        <p:spPr>
          <a:xfrm>
            <a:off x="6949440" y="3136392"/>
            <a:ext cx="1554480" cy="1252728"/>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Kafka 3.7.0 in KRaft mode, 1 broker, 1 partition, kafka-python client.</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Apache Spark: the processing engine</a:t>
            </a:r>
            <a:endParaRPr lang="en-US" sz="3200" dirty="0"/>
          </a:p>
        </p:txBody>
      </p:sp>
      <p:sp>
        <p:nvSpPr>
          <p:cNvPr id="4" name="Card DataFrame"/>
          <p:cNvSpPr/>
          <p:nvPr/>
        </p:nvSpPr>
        <p:spPr>
          <a:xfrm>
            <a:off x="457200" y="1188720"/>
            <a:ext cx="2606040" cy="1554480"/>
          </a:xfrm>
          <a:prstGeom prst="roundRect">
            <a:avLst>
              <a:gd name="adj" fmla="val 7059"/>
            </a:avLst>
          </a:prstGeom>
          <a:solidFill>
            <a:schemeClr val="bg2"/>
          </a:solidFill>
          <a:ln/>
        </p:spPr>
        <p:txBody>
          <a:bodyPr/>
          <a:lstStyle/>
          <a:p>
            <a:endParaRPr lang="en-IN"/>
          </a:p>
        </p:txBody>
      </p:sp>
      <p:sp>
        <p:nvSpPr>
          <p:cNvPr id="5" name="Text 2"/>
          <p:cNvSpPr txBox="1"/>
          <p:nvPr/>
        </p:nvSpPr>
        <p:spPr>
          <a:xfrm>
            <a:off x="640080" y="1298448"/>
            <a:ext cx="22402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DataFrame</a:t>
            </a:r>
            <a:endParaRPr lang="en-US" sz="1500" dirty="0"/>
          </a:p>
        </p:txBody>
      </p:sp>
      <p:sp>
        <p:nvSpPr>
          <p:cNvPr id="6" name="Text 3"/>
          <p:cNvSpPr txBox="1"/>
          <p:nvPr/>
        </p:nvSpPr>
        <p:spPr>
          <a:xfrm>
            <a:off x="640080" y="1627632"/>
            <a:ext cx="2240280" cy="102412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A distributed table with named columns. Operations are lazy and optimised together.</a:t>
            </a:r>
            <a:endParaRPr lang="en-US" sz="1300" dirty="0"/>
          </a:p>
        </p:txBody>
      </p:sp>
      <p:sp>
        <p:nvSpPr>
          <p:cNvPr id="7" name="Card Structured Streaming"/>
          <p:cNvSpPr/>
          <p:nvPr/>
        </p:nvSpPr>
        <p:spPr>
          <a:xfrm>
            <a:off x="3200400" y="1188720"/>
            <a:ext cx="2606040" cy="1554480"/>
          </a:xfrm>
          <a:prstGeom prst="roundRect">
            <a:avLst>
              <a:gd name="adj" fmla="val 7059"/>
            </a:avLst>
          </a:prstGeom>
          <a:solidFill>
            <a:schemeClr val="bg2"/>
          </a:solidFill>
          <a:ln/>
        </p:spPr>
        <p:txBody>
          <a:bodyPr/>
          <a:lstStyle/>
          <a:p>
            <a:endParaRPr lang="en-IN"/>
          </a:p>
        </p:txBody>
      </p:sp>
      <p:sp>
        <p:nvSpPr>
          <p:cNvPr id="8" name="Text 5"/>
          <p:cNvSpPr txBox="1"/>
          <p:nvPr/>
        </p:nvSpPr>
        <p:spPr>
          <a:xfrm>
            <a:off x="3383280" y="1298448"/>
            <a:ext cx="22402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Structured Streaming</a:t>
            </a:r>
            <a:endParaRPr lang="en-US" sz="1500" dirty="0"/>
          </a:p>
        </p:txBody>
      </p:sp>
      <p:sp>
        <p:nvSpPr>
          <p:cNvPr id="9" name="Text 6"/>
          <p:cNvSpPr txBox="1"/>
          <p:nvPr/>
        </p:nvSpPr>
        <p:spPr>
          <a:xfrm>
            <a:off x="3383280" y="1627632"/>
            <a:ext cx="2240280" cy="102412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Treats a live stream as an unbounded table and processes it in micro-batches.</a:t>
            </a:r>
            <a:endParaRPr lang="en-US" sz="1300" dirty="0"/>
          </a:p>
        </p:txBody>
      </p:sp>
      <p:sp>
        <p:nvSpPr>
          <p:cNvPr id="10" name="Card foreachBatch"/>
          <p:cNvSpPr/>
          <p:nvPr/>
        </p:nvSpPr>
        <p:spPr>
          <a:xfrm>
            <a:off x="457200" y="2880360"/>
            <a:ext cx="2606040" cy="1554480"/>
          </a:xfrm>
          <a:prstGeom prst="roundRect">
            <a:avLst>
              <a:gd name="adj" fmla="val 7059"/>
            </a:avLst>
          </a:prstGeom>
          <a:solidFill>
            <a:schemeClr val="bg2"/>
          </a:solidFill>
          <a:ln/>
        </p:spPr>
        <p:txBody>
          <a:bodyPr/>
          <a:lstStyle/>
          <a:p>
            <a:endParaRPr lang="en-IN"/>
          </a:p>
        </p:txBody>
      </p:sp>
      <p:sp>
        <p:nvSpPr>
          <p:cNvPr id="11" name="Text 8"/>
          <p:cNvSpPr txBox="1"/>
          <p:nvPr/>
        </p:nvSpPr>
        <p:spPr>
          <a:xfrm>
            <a:off x="640080" y="2990088"/>
            <a:ext cx="22402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foreachBatch</a:t>
            </a:r>
            <a:endParaRPr lang="en-US" sz="1500" dirty="0"/>
          </a:p>
        </p:txBody>
      </p:sp>
      <p:sp>
        <p:nvSpPr>
          <p:cNvPr id="12" name="Text 9"/>
          <p:cNvSpPr txBox="1"/>
          <p:nvPr/>
        </p:nvSpPr>
        <p:spPr>
          <a:xfrm>
            <a:off x="640080" y="3319272"/>
            <a:ext cx="2240280" cy="102412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Runs our own function on every micro-batch; here it scores sentiment.</a:t>
            </a:r>
            <a:endParaRPr lang="en-US" sz="1300" dirty="0"/>
          </a:p>
        </p:txBody>
      </p:sp>
      <p:sp>
        <p:nvSpPr>
          <p:cNvPr id="13" name="Card Local mode"/>
          <p:cNvSpPr/>
          <p:nvPr/>
        </p:nvSpPr>
        <p:spPr>
          <a:xfrm>
            <a:off x="3200400" y="2880360"/>
            <a:ext cx="2606040" cy="1554480"/>
          </a:xfrm>
          <a:prstGeom prst="roundRect">
            <a:avLst>
              <a:gd name="adj" fmla="val 7059"/>
            </a:avLst>
          </a:prstGeom>
          <a:solidFill>
            <a:schemeClr val="bg2"/>
          </a:solidFill>
          <a:ln/>
        </p:spPr>
        <p:txBody>
          <a:bodyPr/>
          <a:lstStyle/>
          <a:p>
            <a:endParaRPr lang="en-IN"/>
          </a:p>
        </p:txBody>
      </p:sp>
      <p:sp>
        <p:nvSpPr>
          <p:cNvPr id="14" name="Text 11"/>
          <p:cNvSpPr txBox="1"/>
          <p:nvPr/>
        </p:nvSpPr>
        <p:spPr>
          <a:xfrm>
            <a:off x="3383280" y="2990088"/>
            <a:ext cx="22402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Local mode</a:t>
            </a:r>
            <a:endParaRPr lang="en-US" sz="1500" dirty="0"/>
          </a:p>
        </p:txBody>
      </p:sp>
      <p:sp>
        <p:nvSpPr>
          <p:cNvPr id="15" name="Text 12"/>
          <p:cNvSpPr txBox="1"/>
          <p:nvPr/>
        </p:nvSpPr>
        <p:spPr>
          <a:xfrm>
            <a:off x="3383280" y="3319272"/>
            <a:ext cx="2240280" cy="102412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Spark 3.5.1 on one machine; the same code scales out to a cluster.</a:t>
            </a:r>
            <a:endParaRPr lang="en-US" sz="1300" dirty="0"/>
          </a:p>
        </p:txBody>
      </p:sp>
      <p:sp>
        <p:nvSpPr>
          <p:cNvPr id="16" name="Spark flow 1"/>
          <p:cNvSpPr/>
          <p:nvPr/>
        </p:nvSpPr>
        <p:spPr>
          <a:xfrm>
            <a:off x="6172200" y="1188720"/>
            <a:ext cx="2514600" cy="594360"/>
          </a:xfrm>
          <a:prstGeom prst="roundRect">
            <a:avLst>
              <a:gd name="adj" fmla="val 15385"/>
            </a:avLst>
          </a:prstGeom>
          <a:solidFill>
            <a:schemeClr val="tx2"/>
          </a:solidFill>
          <a:ln/>
        </p:spPr>
        <p:txBody>
          <a:bodyPr/>
          <a:lstStyle/>
          <a:p>
            <a:endParaRPr lang="en-IN"/>
          </a:p>
        </p:txBody>
      </p:sp>
      <p:sp>
        <p:nvSpPr>
          <p:cNvPr id="17" name="Text 14"/>
          <p:cNvSpPr txBox="1"/>
          <p:nvPr/>
        </p:nvSpPr>
        <p:spPr>
          <a:xfrm>
            <a:off x="6172200" y="1188720"/>
            <a:ext cx="2514600" cy="59436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Unbounded table of tweets</a:t>
            </a:r>
            <a:endParaRPr lang="en-US" sz="1300" dirty="0"/>
          </a:p>
        </p:txBody>
      </p:sp>
      <p:sp>
        <p:nvSpPr>
          <p:cNvPr id="18" name="Spark flow arrow 1"/>
          <p:cNvSpPr/>
          <p:nvPr/>
        </p:nvSpPr>
        <p:spPr>
          <a:xfrm>
            <a:off x="7306056" y="1801368"/>
            <a:ext cx="237744" cy="182880"/>
          </a:xfrm>
          <a:prstGeom prst="downArrow">
            <a:avLst/>
          </a:prstGeom>
          <a:solidFill>
            <a:schemeClr val="accent5"/>
          </a:solidFill>
          <a:ln/>
        </p:spPr>
        <p:txBody>
          <a:bodyPr/>
          <a:lstStyle/>
          <a:p>
            <a:endParaRPr lang="en-IN"/>
          </a:p>
        </p:txBody>
      </p:sp>
      <p:sp>
        <p:nvSpPr>
          <p:cNvPr id="19" name="Spark flow 2"/>
          <p:cNvSpPr/>
          <p:nvPr/>
        </p:nvSpPr>
        <p:spPr>
          <a:xfrm>
            <a:off x="6172200" y="2011680"/>
            <a:ext cx="2514600" cy="594360"/>
          </a:xfrm>
          <a:prstGeom prst="roundRect">
            <a:avLst>
              <a:gd name="adj" fmla="val 15385"/>
            </a:avLst>
          </a:prstGeom>
          <a:solidFill>
            <a:schemeClr val="tx2"/>
          </a:solidFill>
          <a:ln/>
        </p:spPr>
        <p:txBody>
          <a:bodyPr/>
          <a:lstStyle/>
          <a:p>
            <a:endParaRPr lang="en-IN"/>
          </a:p>
        </p:txBody>
      </p:sp>
      <p:sp>
        <p:nvSpPr>
          <p:cNvPr id="20" name="Text 17"/>
          <p:cNvSpPr txBox="1"/>
          <p:nvPr/>
        </p:nvSpPr>
        <p:spPr>
          <a:xfrm>
            <a:off x="6172200" y="2011680"/>
            <a:ext cx="2514600" cy="59436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Micro-batch on each trigger</a:t>
            </a:r>
            <a:endParaRPr lang="en-US" sz="1300" dirty="0"/>
          </a:p>
        </p:txBody>
      </p:sp>
      <p:sp>
        <p:nvSpPr>
          <p:cNvPr id="21" name="Spark flow arrow 2"/>
          <p:cNvSpPr/>
          <p:nvPr/>
        </p:nvSpPr>
        <p:spPr>
          <a:xfrm>
            <a:off x="7306056" y="2624328"/>
            <a:ext cx="237744" cy="182880"/>
          </a:xfrm>
          <a:prstGeom prst="downArrow">
            <a:avLst/>
          </a:prstGeom>
          <a:solidFill>
            <a:schemeClr val="accent5"/>
          </a:solidFill>
          <a:ln/>
        </p:spPr>
        <p:txBody>
          <a:bodyPr/>
          <a:lstStyle/>
          <a:p>
            <a:endParaRPr lang="en-IN"/>
          </a:p>
        </p:txBody>
      </p:sp>
      <p:sp>
        <p:nvSpPr>
          <p:cNvPr id="22" name="Spark flow 3"/>
          <p:cNvSpPr/>
          <p:nvPr/>
        </p:nvSpPr>
        <p:spPr>
          <a:xfrm>
            <a:off x="6172200" y="2834640"/>
            <a:ext cx="2514600" cy="594360"/>
          </a:xfrm>
          <a:prstGeom prst="roundRect">
            <a:avLst>
              <a:gd name="adj" fmla="val 15385"/>
            </a:avLst>
          </a:prstGeom>
          <a:solidFill>
            <a:schemeClr val="accent1"/>
          </a:solidFill>
          <a:ln/>
        </p:spPr>
        <p:txBody>
          <a:bodyPr/>
          <a:lstStyle/>
          <a:p>
            <a:endParaRPr lang="en-IN"/>
          </a:p>
        </p:txBody>
      </p:sp>
      <p:sp>
        <p:nvSpPr>
          <p:cNvPr id="23" name="Text 20"/>
          <p:cNvSpPr txBox="1"/>
          <p:nvPr/>
        </p:nvSpPr>
        <p:spPr>
          <a:xfrm>
            <a:off x="6172200" y="2834640"/>
            <a:ext cx="2514600" cy="59436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foreachBatch: clean and score</a:t>
            </a:r>
            <a:endParaRPr lang="en-US" sz="1300" dirty="0"/>
          </a:p>
        </p:txBody>
      </p:sp>
      <p:sp>
        <p:nvSpPr>
          <p:cNvPr id="24" name="Spark flow arrow 3"/>
          <p:cNvSpPr/>
          <p:nvPr/>
        </p:nvSpPr>
        <p:spPr>
          <a:xfrm>
            <a:off x="7306056" y="3447288"/>
            <a:ext cx="237744" cy="182880"/>
          </a:xfrm>
          <a:prstGeom prst="downArrow">
            <a:avLst/>
          </a:prstGeom>
          <a:solidFill>
            <a:schemeClr val="accent5"/>
          </a:solidFill>
          <a:ln/>
        </p:spPr>
        <p:txBody>
          <a:bodyPr/>
          <a:lstStyle/>
          <a:p>
            <a:endParaRPr lang="en-IN"/>
          </a:p>
        </p:txBody>
      </p:sp>
      <p:sp>
        <p:nvSpPr>
          <p:cNvPr id="25" name="Spark flow 4"/>
          <p:cNvSpPr/>
          <p:nvPr/>
        </p:nvSpPr>
        <p:spPr>
          <a:xfrm>
            <a:off x="6172200" y="3657600"/>
            <a:ext cx="2514600" cy="594360"/>
          </a:xfrm>
          <a:prstGeom prst="roundRect">
            <a:avLst>
              <a:gd name="adj" fmla="val 15385"/>
            </a:avLst>
          </a:prstGeom>
          <a:solidFill>
            <a:schemeClr val="tx2"/>
          </a:solidFill>
          <a:ln/>
        </p:spPr>
        <p:txBody>
          <a:bodyPr/>
          <a:lstStyle/>
          <a:p>
            <a:endParaRPr lang="en-IN"/>
          </a:p>
        </p:txBody>
      </p:sp>
      <p:sp>
        <p:nvSpPr>
          <p:cNvPr id="26" name="Text 23"/>
          <p:cNvSpPr txBox="1"/>
          <p:nvPr/>
        </p:nvSpPr>
        <p:spPr>
          <a:xfrm>
            <a:off x="6172200" y="3657600"/>
            <a:ext cx="2514600" cy="59436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Labels and running counts</a:t>
            </a:r>
            <a:endParaRPr lang="en-US" sz="1300" dirty="0"/>
          </a:p>
        </p:txBody>
      </p:sp>
      <p:sp>
        <p:nvSpPr>
          <p:cNvPr id="27" name="Text 24"/>
          <p:cNvSpPr txBox="1"/>
          <p:nvPr/>
        </p:nvSpPr>
        <p:spPr>
          <a:xfrm>
            <a:off x="6172200" y="4315968"/>
            <a:ext cx="2514600" cy="201168"/>
          </a:xfrm>
          <a:prstGeom prst="rect">
            <a:avLst/>
          </a:prstGeom>
          <a:noFill/>
          <a:ln/>
        </p:spPr>
        <p:txBody>
          <a:bodyPr wrap="square" lIns="0" tIns="0" rIns="0" bIns="0" rtlCol="0" anchor="t"/>
          <a:lstStyle/>
          <a:p>
            <a:pPr marL="0" indent="0" algn="ctr">
              <a:buNone/>
            </a:pPr>
            <a:r>
              <a:rPr lang="en-US" sz="1100" dirty="0">
                <a:solidFill>
                  <a:schemeClr val="accent5"/>
                </a:solidFill>
                <a:latin typeface="Calibri" pitchFamily="34" charset="0"/>
                <a:ea typeface="Calibri" pitchFamily="34" charset="-122"/>
                <a:cs typeface="Calibri" pitchFamily="34" charset="-120"/>
              </a:rPr>
              <a:t>Flow of one micro-batch</a:t>
            </a:r>
            <a:endParaRPr lang="en-US"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Batch vs streaming</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852928"/>
        </p:xfrm>
        <a:graphic>
          <a:graphicData uri="http://schemas.openxmlformats.org/drawingml/2006/table">
            <a:tbl>
              <a:tblPr/>
              <a:tblGrid>
                <a:gridCol w="14630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FFFFFF"/>
                          </a:solidFill>
                        </a:rPr>
                        <a:t>Aspect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tc>
                  <a:txBody>
                    <a:bodyPr/>
                    <a:lstStyle/>
                    <a:p>
                      <a:pPr marL="0" indent="0">
                        <a:buNone/>
                      </a:pPr>
                      <a:r>
                        <a:rPr lang="en-US" sz="1400" b="1" dirty="0">
                          <a:solidFill>
                            <a:srgbClr val="FFFFFF"/>
                          </a:solidFill>
                        </a:rPr>
                        <a:t>Batch (Spark DataFrame)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tc>
                  <a:txBody>
                    <a:bodyPr/>
                    <a:lstStyle/>
                    <a:p>
                      <a:pPr marL="0" indent="0">
                        <a:buNone/>
                      </a:pPr>
                      <a:r>
                        <a:rPr lang="en-US" sz="1400" b="1" dirty="0">
                          <a:solidFill>
                            <a:srgbClr val="FFFFFF"/>
                          </a:solidFill>
                        </a:rPr>
                        <a:t>Streaming (Kafka + Structured Streaming)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14183A"/>
                          </a:solidFill>
                        </a:rPr>
                        <a:t>Data</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buNone/>
                      </a:pPr>
                      <a:r>
                        <a:rPr lang="en-US" sz="1300" dirty="0">
                          <a:solidFill>
                            <a:srgbClr val="14183A"/>
                          </a:solidFill>
                        </a:rPr>
                        <a:t>Complete dataset is available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buNone/>
                      </a:pPr>
                      <a:r>
                        <a:rPr lang="en-US" sz="1300" dirty="0">
                          <a:solidFill>
                            <a:srgbClr val="14183A"/>
                          </a:solidFill>
                        </a:rPr>
                        <a:t>Unbounded, arrives continuously</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14183A"/>
                          </a:solidFill>
                        </a:rPr>
                        <a:t>Latency</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4183A"/>
                          </a:solidFill>
                        </a:rPr>
                        <a:t>Minutes to hours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4183A"/>
                          </a:solidFill>
                        </a:rPr>
                        <a:t>Sub-second to seconds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4183A"/>
                          </a:solidFill>
                        </a:rPr>
                        <a:t>Runs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buNone/>
                      </a:pPr>
                      <a:r>
                        <a:rPr lang="en-US" sz="1300" dirty="0">
                          <a:solidFill>
                            <a:srgbClr val="14183A"/>
                          </a:solidFill>
                        </a:rPr>
                        <a:t>Once, on request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buNone/>
                      </a:pPr>
                      <a:r>
                        <a:rPr lang="en-US" sz="1300" dirty="0">
                          <a:solidFill>
                            <a:srgbClr val="14183A"/>
                          </a:solidFill>
                        </a:rPr>
                        <a:t>On every micro-batch</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14183A"/>
                          </a:solidFill>
                        </a:rPr>
                        <a:t>Our use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4183A"/>
                          </a:solidFill>
                        </a:rPr>
                        <a:t>Score all 3,796 unseen tweets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00" dirty="0">
                          <a:solidFill>
                            <a:srgbClr val="14183A"/>
                          </a:solidFill>
                        </a:rPr>
                        <a:t>Replay 1,200 tweets in 10 batches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rgbClr val="14183A"/>
                          </a:solidFill>
                        </a:rPr>
                        <a:t>Question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buNone/>
                      </a:pPr>
                      <a:r>
                        <a:rPr lang="en-US" sz="1300" dirty="0">
                          <a:solidFill>
                            <a:srgbClr val="14183A"/>
                          </a:solidFill>
                        </a:rPr>
                        <a:t>What was the mood overall?</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buNone/>
                      </a:pPr>
                      <a:r>
                        <a:rPr lang="en-US" sz="1300" dirty="0">
                          <a:solidFill>
                            <a:srgbClr val="14183A"/>
                          </a:solidFill>
                        </a:rPr>
                        <a:t>What is the mood right now?</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extLst>
                  <a:ext uri="{0D108BD9-81ED-4DB2-BD59-A6C34878D82A}">
                    <a16:rowId xmlns:a16="http://schemas.microsoft.com/office/drawing/2014/main" val="10005"/>
                  </a:ext>
                </a:extLst>
              </a:tr>
            </a:tbl>
          </a:graphicData>
        </a:graphic>
      </p:graphicFrame>
      <p:sp>
        <p:nvSpPr>
          <p:cNvPr id="5" name="Shared code card"/>
          <p:cNvSpPr/>
          <p:nvPr/>
        </p:nvSpPr>
        <p:spPr>
          <a:xfrm>
            <a:off x="457200" y="4114800"/>
            <a:ext cx="8229600" cy="457200"/>
          </a:xfrm>
          <a:prstGeom prst="roundRect">
            <a:avLst>
              <a:gd name="adj" fmla="val 24000"/>
            </a:avLst>
          </a:prstGeom>
          <a:solidFill>
            <a:schemeClr val="tx2"/>
          </a:solidFill>
          <a:ln/>
        </p:spPr>
        <p:txBody>
          <a:bodyPr/>
          <a:lstStyle/>
          <a:p>
            <a:endParaRPr lang="en-IN"/>
          </a:p>
        </p:txBody>
      </p:sp>
      <p:sp>
        <p:nvSpPr>
          <p:cNvPr id="6" name="Text 2"/>
          <p:cNvSpPr txBox="1"/>
          <p:nvPr/>
        </p:nvSpPr>
        <p:spPr>
          <a:xfrm>
            <a:off x="685800" y="4114800"/>
            <a:ext cx="7772400" cy="45720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Same preprocessing and the same saved model are used in both paths.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The dataset</a:t>
            </a:r>
            <a:endParaRPr lang="en-US" sz="3200" dirty="0"/>
          </a:p>
        </p:txBody>
      </p:sp>
      <p:graphicFrame>
        <p:nvGraphicFramePr>
          <p:cNvPr id="4" name="Chart 0"/>
          <p:cNvGraphicFramePr/>
          <p:nvPr/>
        </p:nvGraphicFramePr>
        <p:xfrm>
          <a:off x="365760" y="1143000"/>
          <a:ext cx="310896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 card 1"/>
          <p:cNvSpPr/>
          <p:nvPr/>
        </p:nvSpPr>
        <p:spPr>
          <a:xfrm>
            <a:off x="3657600" y="1188720"/>
            <a:ext cx="1554480" cy="960120"/>
          </a:xfrm>
          <a:prstGeom prst="roundRect">
            <a:avLst>
              <a:gd name="adj" fmla="val 11429"/>
            </a:avLst>
          </a:prstGeom>
          <a:solidFill>
            <a:schemeClr val="bg2"/>
          </a:solidFill>
          <a:ln/>
        </p:spPr>
        <p:txBody>
          <a:bodyPr/>
          <a:lstStyle/>
          <a:p>
            <a:endParaRPr lang="en-IN"/>
          </a:p>
        </p:txBody>
      </p:sp>
      <p:sp>
        <p:nvSpPr>
          <p:cNvPr id="6" name="Text 2"/>
          <p:cNvSpPr txBox="1"/>
          <p:nvPr/>
        </p:nvSpPr>
        <p:spPr>
          <a:xfrm>
            <a:off x="3657600" y="1261872"/>
            <a:ext cx="1554480" cy="502920"/>
          </a:xfrm>
          <a:prstGeom prst="rect">
            <a:avLst/>
          </a:prstGeom>
          <a:noFill/>
          <a:ln/>
        </p:spPr>
        <p:txBody>
          <a:bodyPr wrap="square" lIns="0" tIns="0" rIns="0" bIns="0" rtlCol="0" anchor="t"/>
          <a:lstStyle/>
          <a:p>
            <a:pPr marL="0" indent="0" algn="ctr">
              <a:buNone/>
            </a:pPr>
            <a:r>
              <a:rPr lang="en-US" sz="2800" b="1" dirty="0">
                <a:solidFill>
                  <a:schemeClr val="accent4"/>
                </a:solidFill>
                <a:latin typeface="Cambria" pitchFamily="34" charset="0"/>
                <a:ea typeface="Cambria" pitchFamily="34" charset="-122"/>
                <a:cs typeface="Cambria" pitchFamily="34" charset="-120"/>
              </a:rPr>
              <a:t>41,157</a:t>
            </a:r>
            <a:endParaRPr lang="en-US" sz="2800" dirty="0"/>
          </a:p>
        </p:txBody>
      </p:sp>
      <p:sp>
        <p:nvSpPr>
          <p:cNvPr id="7" name="Text 3"/>
          <p:cNvSpPr txBox="1"/>
          <p:nvPr/>
        </p:nvSpPr>
        <p:spPr>
          <a:xfrm>
            <a:off x="3657600" y="1783080"/>
            <a:ext cx="1554480" cy="274320"/>
          </a:xfrm>
          <a:prstGeom prst="rect">
            <a:avLst/>
          </a:prstGeom>
          <a:noFill/>
          <a:ln/>
        </p:spPr>
        <p:txBody>
          <a:bodyPr wrap="square" lIns="0" tIns="0" rIns="0" bIns="0" rtlCol="0" anchor="t"/>
          <a:lstStyle/>
          <a:p>
            <a:pPr marL="0" indent="0" algn="ctr">
              <a:buNone/>
            </a:pPr>
            <a:r>
              <a:rPr lang="en-US" sz="1200" dirty="0">
                <a:solidFill>
                  <a:schemeClr val="accent5"/>
                </a:solidFill>
                <a:latin typeface="Calibri" pitchFamily="34" charset="0"/>
                <a:ea typeface="Calibri" pitchFamily="34" charset="-122"/>
                <a:cs typeface="Calibri" pitchFamily="34" charset="-120"/>
              </a:rPr>
              <a:t>training tweets</a:t>
            </a:r>
            <a:endParaRPr lang="en-US" sz="1200" dirty="0"/>
          </a:p>
        </p:txBody>
      </p:sp>
      <p:sp>
        <p:nvSpPr>
          <p:cNvPr id="8" name="Stat card 2"/>
          <p:cNvSpPr/>
          <p:nvPr/>
        </p:nvSpPr>
        <p:spPr>
          <a:xfrm>
            <a:off x="5394960" y="1188720"/>
            <a:ext cx="1554480" cy="960120"/>
          </a:xfrm>
          <a:prstGeom prst="roundRect">
            <a:avLst>
              <a:gd name="adj" fmla="val 11429"/>
            </a:avLst>
          </a:prstGeom>
          <a:solidFill>
            <a:schemeClr val="bg2"/>
          </a:solidFill>
          <a:ln/>
        </p:spPr>
        <p:txBody>
          <a:bodyPr/>
          <a:lstStyle/>
          <a:p>
            <a:endParaRPr lang="en-IN"/>
          </a:p>
        </p:txBody>
      </p:sp>
      <p:sp>
        <p:nvSpPr>
          <p:cNvPr id="9" name="Text 5"/>
          <p:cNvSpPr txBox="1"/>
          <p:nvPr/>
        </p:nvSpPr>
        <p:spPr>
          <a:xfrm>
            <a:off x="5394960" y="1261872"/>
            <a:ext cx="1554480" cy="502920"/>
          </a:xfrm>
          <a:prstGeom prst="rect">
            <a:avLst/>
          </a:prstGeom>
          <a:noFill/>
          <a:ln/>
        </p:spPr>
        <p:txBody>
          <a:bodyPr wrap="square" lIns="0" tIns="0" rIns="0" bIns="0" rtlCol="0" anchor="t"/>
          <a:lstStyle/>
          <a:p>
            <a:pPr marL="0" indent="0" algn="ctr">
              <a:buNone/>
            </a:pPr>
            <a:r>
              <a:rPr lang="en-US" sz="2800" b="1" dirty="0">
                <a:solidFill>
                  <a:schemeClr val="accent4"/>
                </a:solidFill>
                <a:latin typeface="Cambria" pitchFamily="34" charset="0"/>
                <a:ea typeface="Cambria" pitchFamily="34" charset="-122"/>
                <a:cs typeface="Cambria" pitchFamily="34" charset="-120"/>
              </a:rPr>
              <a:t>3,798</a:t>
            </a:r>
            <a:endParaRPr lang="en-US" sz="2800" dirty="0"/>
          </a:p>
        </p:txBody>
      </p:sp>
      <p:sp>
        <p:nvSpPr>
          <p:cNvPr id="10" name="Text 6"/>
          <p:cNvSpPr txBox="1"/>
          <p:nvPr/>
        </p:nvSpPr>
        <p:spPr>
          <a:xfrm>
            <a:off x="5394960" y="1783080"/>
            <a:ext cx="1554480" cy="274320"/>
          </a:xfrm>
          <a:prstGeom prst="rect">
            <a:avLst/>
          </a:prstGeom>
          <a:noFill/>
          <a:ln/>
        </p:spPr>
        <p:txBody>
          <a:bodyPr wrap="square" lIns="0" tIns="0" rIns="0" bIns="0" rtlCol="0" anchor="t"/>
          <a:lstStyle/>
          <a:p>
            <a:pPr marL="0" indent="0" algn="ctr">
              <a:buNone/>
            </a:pPr>
            <a:r>
              <a:rPr lang="en-US" sz="1200" dirty="0">
                <a:solidFill>
                  <a:schemeClr val="accent5"/>
                </a:solidFill>
                <a:latin typeface="Calibri" pitchFamily="34" charset="0"/>
                <a:ea typeface="Calibri" pitchFamily="34" charset="-122"/>
                <a:cs typeface="Calibri" pitchFamily="34" charset="-120"/>
              </a:rPr>
              <a:t>unseen test tweets</a:t>
            </a:r>
            <a:endParaRPr lang="en-US" sz="1200" dirty="0"/>
          </a:p>
        </p:txBody>
      </p:sp>
      <p:sp>
        <p:nvSpPr>
          <p:cNvPr id="11" name="Stat card 3"/>
          <p:cNvSpPr/>
          <p:nvPr/>
        </p:nvSpPr>
        <p:spPr>
          <a:xfrm>
            <a:off x="7132320" y="1188720"/>
            <a:ext cx="1554480" cy="960120"/>
          </a:xfrm>
          <a:prstGeom prst="roundRect">
            <a:avLst>
              <a:gd name="adj" fmla="val 11429"/>
            </a:avLst>
          </a:prstGeom>
          <a:solidFill>
            <a:schemeClr val="bg2"/>
          </a:solidFill>
          <a:ln/>
        </p:spPr>
        <p:txBody>
          <a:bodyPr/>
          <a:lstStyle/>
          <a:p>
            <a:endParaRPr lang="en-IN"/>
          </a:p>
        </p:txBody>
      </p:sp>
      <p:sp>
        <p:nvSpPr>
          <p:cNvPr id="12" name="Text 8"/>
          <p:cNvSpPr txBox="1"/>
          <p:nvPr/>
        </p:nvSpPr>
        <p:spPr>
          <a:xfrm>
            <a:off x="7132320" y="1261872"/>
            <a:ext cx="1554480" cy="502920"/>
          </a:xfrm>
          <a:prstGeom prst="rect">
            <a:avLst/>
          </a:prstGeom>
          <a:noFill/>
          <a:ln/>
        </p:spPr>
        <p:txBody>
          <a:bodyPr wrap="square" lIns="0" tIns="0" rIns="0" bIns="0" rtlCol="0" anchor="t"/>
          <a:lstStyle/>
          <a:p>
            <a:pPr marL="0" indent="0" algn="ctr">
              <a:buNone/>
            </a:pPr>
            <a:r>
              <a:rPr lang="en-US" sz="2800" b="1" dirty="0">
                <a:solidFill>
                  <a:schemeClr val="accent4"/>
                </a:solidFill>
                <a:latin typeface="Cambria" pitchFamily="34" charset="0"/>
                <a:ea typeface="Cambria" pitchFamily="34" charset="-122"/>
                <a:cs typeface="Cambria" pitchFamily="34" charset="-120"/>
              </a:rPr>
              <a:t>57.7%</a:t>
            </a:r>
            <a:endParaRPr lang="en-US" sz="2800" dirty="0"/>
          </a:p>
        </p:txBody>
      </p:sp>
      <p:sp>
        <p:nvSpPr>
          <p:cNvPr id="13" name="Text 9"/>
          <p:cNvSpPr txBox="1"/>
          <p:nvPr/>
        </p:nvSpPr>
        <p:spPr>
          <a:xfrm>
            <a:off x="7132320" y="1783080"/>
            <a:ext cx="1554480" cy="274320"/>
          </a:xfrm>
          <a:prstGeom prst="rect">
            <a:avLst/>
          </a:prstGeom>
          <a:noFill/>
          <a:ln/>
        </p:spPr>
        <p:txBody>
          <a:bodyPr wrap="square" lIns="0" tIns="0" rIns="0" bIns="0" rtlCol="0" anchor="t"/>
          <a:lstStyle/>
          <a:p>
            <a:pPr marL="0" indent="0" algn="ctr">
              <a:buNone/>
            </a:pPr>
            <a:r>
              <a:rPr lang="en-US" sz="1200" dirty="0">
                <a:solidFill>
                  <a:schemeClr val="accent5"/>
                </a:solidFill>
                <a:latin typeface="Calibri" pitchFamily="34" charset="0"/>
                <a:ea typeface="Calibri" pitchFamily="34" charset="-122"/>
                <a:cs typeface="Calibri" pitchFamily="34" charset="-120"/>
              </a:rPr>
              <a:t>contain hashtags</a:t>
            </a:r>
            <a:endParaRPr lang="en-US" sz="1200" dirty="0"/>
          </a:p>
        </p:txBody>
      </p:sp>
      <p:sp>
        <p:nvSpPr>
          <p:cNvPr id="14" name="Label mapping card"/>
          <p:cNvSpPr/>
          <p:nvPr/>
        </p:nvSpPr>
        <p:spPr>
          <a:xfrm>
            <a:off x="3657600" y="2331720"/>
            <a:ext cx="5029200" cy="2148840"/>
          </a:xfrm>
          <a:prstGeom prst="roundRect">
            <a:avLst>
              <a:gd name="adj" fmla="val 5106"/>
            </a:avLst>
          </a:prstGeom>
          <a:solidFill>
            <a:schemeClr val="bg2"/>
          </a:solidFill>
          <a:ln/>
        </p:spPr>
        <p:txBody>
          <a:bodyPr/>
          <a:lstStyle/>
          <a:p>
            <a:endParaRPr lang="en-IN"/>
          </a:p>
        </p:txBody>
      </p:sp>
      <p:sp>
        <p:nvSpPr>
          <p:cNvPr id="15" name="Text 11"/>
          <p:cNvSpPr txBox="1"/>
          <p:nvPr/>
        </p:nvSpPr>
        <p:spPr>
          <a:xfrm>
            <a:off x="3886200" y="2423160"/>
            <a:ext cx="45720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Five labels become three</a:t>
            </a:r>
            <a:endParaRPr lang="en-US" sz="1600" dirty="0"/>
          </a:p>
        </p:txBody>
      </p:sp>
      <p:sp>
        <p:nvSpPr>
          <p:cNvPr id="16" name="Source label Extremely Positive"/>
          <p:cNvSpPr/>
          <p:nvPr/>
        </p:nvSpPr>
        <p:spPr>
          <a:xfrm>
            <a:off x="3886200" y="2816352"/>
            <a:ext cx="1371600" cy="384048"/>
          </a:xfrm>
          <a:prstGeom prst="roundRect">
            <a:avLst>
              <a:gd name="adj" fmla="val 23810"/>
            </a:avLst>
          </a:prstGeom>
          <a:solidFill>
            <a:srgbClr val="FFFFFF"/>
          </a:solidFill>
          <a:ln w="9525">
            <a:solidFill>
              <a:srgbClr val="C9CEE3"/>
            </a:solidFill>
            <a:prstDash val="solid"/>
          </a:ln>
        </p:spPr>
        <p:txBody>
          <a:bodyPr/>
          <a:lstStyle/>
          <a:p>
            <a:endParaRPr lang="en-IN"/>
          </a:p>
        </p:txBody>
      </p:sp>
      <p:sp>
        <p:nvSpPr>
          <p:cNvPr id="17" name="Text 13"/>
          <p:cNvSpPr txBox="1"/>
          <p:nvPr/>
        </p:nvSpPr>
        <p:spPr>
          <a:xfrm>
            <a:off x="3886200" y="2816352"/>
            <a:ext cx="1371600" cy="384048"/>
          </a:xfrm>
          <a:prstGeom prst="rect">
            <a:avLst/>
          </a:prstGeom>
          <a:noFill/>
          <a:ln/>
        </p:spPr>
        <p:txBody>
          <a:bodyPr wrap="square" lIns="0" tIns="0" rIns="0" bIns="0" rtlCol="0" anchor="ctr"/>
          <a:lstStyle/>
          <a:p>
            <a:pPr marL="0" indent="0" algn="ctr">
              <a:buNone/>
            </a:pPr>
            <a:r>
              <a:rPr lang="en-US" sz="1200" dirty="0">
                <a:solidFill>
                  <a:schemeClr val="tx1"/>
                </a:solidFill>
                <a:latin typeface="Calibri" pitchFamily="34" charset="0"/>
                <a:ea typeface="Calibri" pitchFamily="34" charset="-122"/>
                <a:cs typeface="Calibri" pitchFamily="34" charset="-120"/>
              </a:rPr>
              <a:t>Extremely Positive</a:t>
            </a:r>
            <a:endParaRPr lang="en-US" sz="1200" dirty="0"/>
          </a:p>
        </p:txBody>
      </p:sp>
      <p:sp>
        <p:nvSpPr>
          <p:cNvPr id="18" name="Source label Positive"/>
          <p:cNvSpPr/>
          <p:nvPr/>
        </p:nvSpPr>
        <p:spPr>
          <a:xfrm>
            <a:off x="5330952" y="2816352"/>
            <a:ext cx="1371600" cy="384048"/>
          </a:xfrm>
          <a:prstGeom prst="roundRect">
            <a:avLst>
              <a:gd name="adj" fmla="val 23810"/>
            </a:avLst>
          </a:prstGeom>
          <a:solidFill>
            <a:srgbClr val="FFFFFF"/>
          </a:solidFill>
          <a:ln w="9525">
            <a:solidFill>
              <a:srgbClr val="C9CEE3"/>
            </a:solidFill>
            <a:prstDash val="solid"/>
          </a:ln>
        </p:spPr>
        <p:txBody>
          <a:bodyPr/>
          <a:lstStyle/>
          <a:p>
            <a:endParaRPr lang="en-IN"/>
          </a:p>
        </p:txBody>
      </p:sp>
      <p:sp>
        <p:nvSpPr>
          <p:cNvPr id="19" name="Text 15"/>
          <p:cNvSpPr txBox="1"/>
          <p:nvPr/>
        </p:nvSpPr>
        <p:spPr>
          <a:xfrm>
            <a:off x="5330952" y="2816352"/>
            <a:ext cx="1371600" cy="384048"/>
          </a:xfrm>
          <a:prstGeom prst="rect">
            <a:avLst/>
          </a:prstGeom>
          <a:noFill/>
          <a:ln/>
        </p:spPr>
        <p:txBody>
          <a:bodyPr wrap="square" lIns="0" tIns="0" rIns="0" bIns="0" rtlCol="0" anchor="ctr"/>
          <a:lstStyle/>
          <a:p>
            <a:pPr marL="0" indent="0" algn="ctr">
              <a:buNone/>
            </a:pPr>
            <a:r>
              <a:rPr lang="en-US" sz="1200" dirty="0">
                <a:solidFill>
                  <a:schemeClr val="tx1"/>
                </a:solidFill>
                <a:latin typeface="Calibri" pitchFamily="34" charset="0"/>
                <a:ea typeface="Calibri" pitchFamily="34" charset="-122"/>
                <a:cs typeface="Calibri" pitchFamily="34" charset="-120"/>
              </a:rPr>
              <a:t>Positive</a:t>
            </a:r>
            <a:endParaRPr lang="en-US" sz="1200" dirty="0"/>
          </a:p>
        </p:txBody>
      </p:sp>
      <p:sp>
        <p:nvSpPr>
          <p:cNvPr id="20" name="Mapping arrow 1"/>
          <p:cNvSpPr/>
          <p:nvPr/>
        </p:nvSpPr>
        <p:spPr>
          <a:xfrm>
            <a:off x="6858000" y="2880360"/>
            <a:ext cx="274320" cy="256032"/>
          </a:xfrm>
          <a:prstGeom prst="rightArrow">
            <a:avLst/>
          </a:prstGeom>
          <a:solidFill>
            <a:schemeClr val="accent5"/>
          </a:solidFill>
          <a:ln/>
        </p:spPr>
        <p:txBody>
          <a:bodyPr/>
          <a:lstStyle/>
          <a:p>
            <a:endParaRPr lang="en-IN"/>
          </a:p>
        </p:txBody>
      </p:sp>
      <p:sp>
        <p:nvSpPr>
          <p:cNvPr id="21" name="Target label Positive"/>
          <p:cNvSpPr/>
          <p:nvPr/>
        </p:nvSpPr>
        <p:spPr>
          <a:xfrm>
            <a:off x="7269480" y="2816352"/>
            <a:ext cx="1188720" cy="384048"/>
          </a:xfrm>
          <a:prstGeom prst="roundRect">
            <a:avLst>
              <a:gd name="adj" fmla="val 23810"/>
            </a:avLst>
          </a:prstGeom>
          <a:solidFill>
            <a:schemeClr val="accent1"/>
          </a:solidFill>
          <a:ln/>
        </p:spPr>
        <p:txBody>
          <a:bodyPr/>
          <a:lstStyle/>
          <a:p>
            <a:endParaRPr lang="en-IN"/>
          </a:p>
        </p:txBody>
      </p:sp>
      <p:sp>
        <p:nvSpPr>
          <p:cNvPr id="22" name="Text 18"/>
          <p:cNvSpPr txBox="1"/>
          <p:nvPr/>
        </p:nvSpPr>
        <p:spPr>
          <a:xfrm>
            <a:off x="7269480" y="2816352"/>
            <a:ext cx="1188720"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Positive</a:t>
            </a:r>
            <a:endParaRPr lang="en-US" sz="1300" dirty="0"/>
          </a:p>
        </p:txBody>
      </p:sp>
      <p:sp>
        <p:nvSpPr>
          <p:cNvPr id="23" name="Source label Neutral"/>
          <p:cNvSpPr/>
          <p:nvPr/>
        </p:nvSpPr>
        <p:spPr>
          <a:xfrm>
            <a:off x="3886200" y="3346704"/>
            <a:ext cx="1371600" cy="384048"/>
          </a:xfrm>
          <a:prstGeom prst="roundRect">
            <a:avLst>
              <a:gd name="adj" fmla="val 23810"/>
            </a:avLst>
          </a:prstGeom>
          <a:solidFill>
            <a:srgbClr val="FFFFFF"/>
          </a:solidFill>
          <a:ln w="9525">
            <a:solidFill>
              <a:srgbClr val="C9CEE3"/>
            </a:solidFill>
            <a:prstDash val="solid"/>
          </a:ln>
        </p:spPr>
        <p:txBody>
          <a:bodyPr/>
          <a:lstStyle/>
          <a:p>
            <a:endParaRPr lang="en-IN"/>
          </a:p>
        </p:txBody>
      </p:sp>
      <p:sp>
        <p:nvSpPr>
          <p:cNvPr id="24" name="Text 20"/>
          <p:cNvSpPr txBox="1"/>
          <p:nvPr/>
        </p:nvSpPr>
        <p:spPr>
          <a:xfrm>
            <a:off x="3886200" y="3346704"/>
            <a:ext cx="1371600" cy="384048"/>
          </a:xfrm>
          <a:prstGeom prst="rect">
            <a:avLst/>
          </a:prstGeom>
          <a:noFill/>
          <a:ln/>
        </p:spPr>
        <p:txBody>
          <a:bodyPr wrap="square" lIns="0" tIns="0" rIns="0" bIns="0" rtlCol="0" anchor="ctr"/>
          <a:lstStyle/>
          <a:p>
            <a:pPr marL="0" indent="0" algn="ctr">
              <a:buNone/>
            </a:pPr>
            <a:r>
              <a:rPr lang="en-US" sz="1200" dirty="0">
                <a:solidFill>
                  <a:schemeClr val="tx1"/>
                </a:solidFill>
                <a:latin typeface="Calibri" pitchFamily="34" charset="0"/>
                <a:ea typeface="Calibri" pitchFamily="34" charset="-122"/>
                <a:cs typeface="Calibri" pitchFamily="34" charset="-120"/>
              </a:rPr>
              <a:t>Neutral</a:t>
            </a:r>
            <a:endParaRPr lang="en-US" sz="1200" dirty="0"/>
          </a:p>
        </p:txBody>
      </p:sp>
      <p:sp>
        <p:nvSpPr>
          <p:cNvPr id="25" name="Mapping arrow 2"/>
          <p:cNvSpPr/>
          <p:nvPr/>
        </p:nvSpPr>
        <p:spPr>
          <a:xfrm>
            <a:off x="6858000" y="3410712"/>
            <a:ext cx="274320" cy="256032"/>
          </a:xfrm>
          <a:prstGeom prst="rightArrow">
            <a:avLst/>
          </a:prstGeom>
          <a:solidFill>
            <a:schemeClr val="accent5"/>
          </a:solidFill>
          <a:ln/>
        </p:spPr>
        <p:txBody>
          <a:bodyPr/>
          <a:lstStyle/>
          <a:p>
            <a:endParaRPr lang="en-IN"/>
          </a:p>
        </p:txBody>
      </p:sp>
      <p:sp>
        <p:nvSpPr>
          <p:cNvPr id="26" name="Target label Neutral"/>
          <p:cNvSpPr/>
          <p:nvPr/>
        </p:nvSpPr>
        <p:spPr>
          <a:xfrm>
            <a:off x="7269480" y="3346704"/>
            <a:ext cx="1188720" cy="384048"/>
          </a:xfrm>
          <a:prstGeom prst="roundRect">
            <a:avLst>
              <a:gd name="adj" fmla="val 23810"/>
            </a:avLst>
          </a:prstGeom>
          <a:solidFill>
            <a:schemeClr val="accent3"/>
          </a:solidFill>
          <a:ln/>
        </p:spPr>
        <p:txBody>
          <a:bodyPr/>
          <a:lstStyle/>
          <a:p>
            <a:endParaRPr lang="en-IN"/>
          </a:p>
        </p:txBody>
      </p:sp>
      <p:sp>
        <p:nvSpPr>
          <p:cNvPr id="27" name="Text 23"/>
          <p:cNvSpPr txBox="1"/>
          <p:nvPr/>
        </p:nvSpPr>
        <p:spPr>
          <a:xfrm>
            <a:off x="7269480" y="3346704"/>
            <a:ext cx="1188720" cy="38404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Neutral</a:t>
            </a:r>
            <a:endParaRPr lang="en-US" sz="1300" dirty="0"/>
          </a:p>
        </p:txBody>
      </p:sp>
      <p:sp>
        <p:nvSpPr>
          <p:cNvPr id="28" name="Source label Extremely Negative"/>
          <p:cNvSpPr/>
          <p:nvPr/>
        </p:nvSpPr>
        <p:spPr>
          <a:xfrm>
            <a:off x="3886200" y="3877056"/>
            <a:ext cx="1371600" cy="384048"/>
          </a:xfrm>
          <a:prstGeom prst="roundRect">
            <a:avLst>
              <a:gd name="adj" fmla="val 23810"/>
            </a:avLst>
          </a:prstGeom>
          <a:solidFill>
            <a:srgbClr val="FFFFFF"/>
          </a:solidFill>
          <a:ln w="9525">
            <a:solidFill>
              <a:srgbClr val="C9CEE3"/>
            </a:solidFill>
            <a:prstDash val="solid"/>
          </a:ln>
        </p:spPr>
        <p:txBody>
          <a:bodyPr/>
          <a:lstStyle/>
          <a:p>
            <a:endParaRPr lang="en-IN"/>
          </a:p>
        </p:txBody>
      </p:sp>
      <p:sp>
        <p:nvSpPr>
          <p:cNvPr id="29" name="Text 25"/>
          <p:cNvSpPr txBox="1"/>
          <p:nvPr/>
        </p:nvSpPr>
        <p:spPr>
          <a:xfrm>
            <a:off x="3886200" y="3877056"/>
            <a:ext cx="1371600" cy="384048"/>
          </a:xfrm>
          <a:prstGeom prst="rect">
            <a:avLst/>
          </a:prstGeom>
          <a:noFill/>
          <a:ln/>
        </p:spPr>
        <p:txBody>
          <a:bodyPr wrap="square" lIns="0" tIns="0" rIns="0" bIns="0" rtlCol="0" anchor="ctr"/>
          <a:lstStyle/>
          <a:p>
            <a:pPr marL="0" indent="0" algn="ctr">
              <a:buNone/>
            </a:pPr>
            <a:r>
              <a:rPr lang="en-US" sz="1200" dirty="0">
                <a:solidFill>
                  <a:schemeClr val="tx1"/>
                </a:solidFill>
                <a:latin typeface="Calibri" pitchFamily="34" charset="0"/>
                <a:ea typeface="Calibri" pitchFamily="34" charset="-122"/>
                <a:cs typeface="Calibri" pitchFamily="34" charset="-120"/>
              </a:rPr>
              <a:t>Extremely Negative</a:t>
            </a:r>
            <a:endParaRPr lang="en-US" sz="1200" dirty="0"/>
          </a:p>
        </p:txBody>
      </p:sp>
      <p:sp>
        <p:nvSpPr>
          <p:cNvPr id="30" name="Source label Negative"/>
          <p:cNvSpPr/>
          <p:nvPr/>
        </p:nvSpPr>
        <p:spPr>
          <a:xfrm>
            <a:off x="5330952" y="3877056"/>
            <a:ext cx="1371600" cy="384048"/>
          </a:xfrm>
          <a:prstGeom prst="roundRect">
            <a:avLst>
              <a:gd name="adj" fmla="val 23810"/>
            </a:avLst>
          </a:prstGeom>
          <a:solidFill>
            <a:srgbClr val="FFFFFF"/>
          </a:solidFill>
          <a:ln w="9525">
            <a:solidFill>
              <a:srgbClr val="C9CEE3"/>
            </a:solidFill>
            <a:prstDash val="solid"/>
          </a:ln>
        </p:spPr>
        <p:txBody>
          <a:bodyPr/>
          <a:lstStyle/>
          <a:p>
            <a:endParaRPr lang="en-IN"/>
          </a:p>
        </p:txBody>
      </p:sp>
      <p:sp>
        <p:nvSpPr>
          <p:cNvPr id="31" name="Text 27"/>
          <p:cNvSpPr txBox="1"/>
          <p:nvPr/>
        </p:nvSpPr>
        <p:spPr>
          <a:xfrm>
            <a:off x="5330952" y="3877056"/>
            <a:ext cx="1371600" cy="384048"/>
          </a:xfrm>
          <a:prstGeom prst="rect">
            <a:avLst/>
          </a:prstGeom>
          <a:noFill/>
          <a:ln/>
        </p:spPr>
        <p:txBody>
          <a:bodyPr wrap="square" lIns="0" tIns="0" rIns="0" bIns="0" rtlCol="0" anchor="ctr"/>
          <a:lstStyle/>
          <a:p>
            <a:pPr marL="0" indent="0" algn="ctr">
              <a:buNone/>
            </a:pPr>
            <a:r>
              <a:rPr lang="en-US" sz="1200" dirty="0">
                <a:solidFill>
                  <a:schemeClr val="tx1"/>
                </a:solidFill>
                <a:latin typeface="Calibri" pitchFamily="34" charset="0"/>
                <a:ea typeface="Calibri" pitchFamily="34" charset="-122"/>
                <a:cs typeface="Calibri" pitchFamily="34" charset="-120"/>
              </a:rPr>
              <a:t>Negative</a:t>
            </a:r>
            <a:endParaRPr lang="en-US" sz="1200" dirty="0"/>
          </a:p>
        </p:txBody>
      </p:sp>
      <p:sp>
        <p:nvSpPr>
          <p:cNvPr id="32" name="Mapping arrow 3"/>
          <p:cNvSpPr/>
          <p:nvPr/>
        </p:nvSpPr>
        <p:spPr>
          <a:xfrm>
            <a:off x="6858000" y="3941064"/>
            <a:ext cx="274320" cy="256032"/>
          </a:xfrm>
          <a:prstGeom prst="rightArrow">
            <a:avLst/>
          </a:prstGeom>
          <a:solidFill>
            <a:schemeClr val="accent5"/>
          </a:solidFill>
          <a:ln/>
        </p:spPr>
        <p:txBody>
          <a:bodyPr/>
          <a:lstStyle/>
          <a:p>
            <a:endParaRPr lang="en-IN"/>
          </a:p>
        </p:txBody>
      </p:sp>
      <p:sp>
        <p:nvSpPr>
          <p:cNvPr id="33" name="Target label Negative"/>
          <p:cNvSpPr/>
          <p:nvPr/>
        </p:nvSpPr>
        <p:spPr>
          <a:xfrm>
            <a:off x="7269480" y="3877056"/>
            <a:ext cx="1188720" cy="384048"/>
          </a:xfrm>
          <a:prstGeom prst="roundRect">
            <a:avLst>
              <a:gd name="adj" fmla="val 23810"/>
            </a:avLst>
          </a:prstGeom>
          <a:solidFill>
            <a:schemeClr val="accent2"/>
          </a:solidFill>
          <a:ln/>
        </p:spPr>
        <p:txBody>
          <a:bodyPr/>
          <a:lstStyle/>
          <a:p>
            <a:endParaRPr lang="en-IN"/>
          </a:p>
        </p:txBody>
      </p:sp>
      <p:sp>
        <p:nvSpPr>
          <p:cNvPr id="34" name="Text 30"/>
          <p:cNvSpPr txBox="1"/>
          <p:nvPr/>
        </p:nvSpPr>
        <p:spPr>
          <a:xfrm>
            <a:off x="7269480" y="3877056"/>
            <a:ext cx="1188720" cy="384048"/>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Negative</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Cleaning the text</a:t>
            </a:r>
            <a:endParaRPr lang="en-US" sz="3200" dirty="0"/>
          </a:p>
        </p:txBody>
      </p:sp>
      <p:sp>
        <p:nvSpPr>
          <p:cNvPr id="4" name="Step 1"/>
          <p:cNvSpPr/>
          <p:nvPr/>
        </p:nvSpPr>
        <p:spPr>
          <a:xfrm>
            <a:off x="457200" y="1188720"/>
            <a:ext cx="2560320" cy="1600200"/>
          </a:xfrm>
          <a:prstGeom prst="roundRect">
            <a:avLst>
              <a:gd name="adj" fmla="val 6857"/>
            </a:avLst>
          </a:prstGeom>
          <a:solidFill>
            <a:schemeClr val="bg2"/>
          </a:solidFill>
          <a:ln/>
        </p:spPr>
        <p:txBody>
          <a:bodyPr/>
          <a:lstStyle/>
          <a:p>
            <a:endParaRPr lang="en-IN"/>
          </a:p>
        </p:txBody>
      </p:sp>
      <p:sp>
        <p:nvSpPr>
          <p:cNvPr id="5" name="Step number 1"/>
          <p:cNvSpPr/>
          <p:nvPr/>
        </p:nvSpPr>
        <p:spPr>
          <a:xfrm>
            <a:off x="594360" y="1325880"/>
            <a:ext cx="384048" cy="384048"/>
          </a:xfrm>
          <a:prstGeom prst="ellipse">
            <a:avLst/>
          </a:prstGeom>
          <a:solidFill>
            <a:schemeClr val="accent4"/>
          </a:solidFill>
          <a:ln/>
        </p:spPr>
        <p:txBody>
          <a:bodyPr/>
          <a:lstStyle/>
          <a:p>
            <a:endParaRPr lang="en-IN"/>
          </a:p>
        </p:txBody>
      </p:sp>
      <p:sp>
        <p:nvSpPr>
          <p:cNvPr id="6" name="Text 3"/>
          <p:cNvSpPr txBox="1"/>
          <p:nvPr/>
        </p:nvSpPr>
        <p:spPr>
          <a:xfrm>
            <a:off x="594360" y="13258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078992" y="1298448"/>
            <a:ext cx="1828800" cy="4572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Normalise</a:t>
            </a:r>
            <a:endParaRPr lang="en-US" sz="1400" dirty="0"/>
          </a:p>
        </p:txBody>
      </p:sp>
      <p:sp>
        <p:nvSpPr>
          <p:cNvPr id="8" name="Text 5"/>
          <p:cNvSpPr txBox="1"/>
          <p:nvPr/>
        </p:nvSpPr>
        <p:spPr>
          <a:xfrm>
            <a:off x="640080" y="1874520"/>
            <a:ext cx="2240280" cy="36576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Lowercase and unescape HTML</a:t>
            </a:r>
            <a:endParaRPr lang="en-US" sz="1300" dirty="0"/>
          </a:p>
        </p:txBody>
      </p:sp>
      <p:sp>
        <p:nvSpPr>
          <p:cNvPr id="9" name="Text 6"/>
          <p:cNvSpPr txBox="1"/>
          <p:nvPr/>
        </p:nvSpPr>
        <p:spPr>
          <a:xfrm>
            <a:off x="640080" y="2240280"/>
            <a:ext cx="2240280" cy="5029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Same word, same token: Good = good</a:t>
            </a:r>
            <a:endParaRPr lang="en-US" sz="1200" dirty="0"/>
          </a:p>
        </p:txBody>
      </p:sp>
      <p:sp>
        <p:nvSpPr>
          <p:cNvPr id="10" name="Step 2"/>
          <p:cNvSpPr/>
          <p:nvPr/>
        </p:nvSpPr>
        <p:spPr>
          <a:xfrm>
            <a:off x="3291840" y="1188720"/>
            <a:ext cx="2560320" cy="1600200"/>
          </a:xfrm>
          <a:prstGeom prst="roundRect">
            <a:avLst>
              <a:gd name="adj" fmla="val 6857"/>
            </a:avLst>
          </a:prstGeom>
          <a:solidFill>
            <a:schemeClr val="bg2"/>
          </a:solidFill>
          <a:ln/>
        </p:spPr>
        <p:txBody>
          <a:bodyPr/>
          <a:lstStyle/>
          <a:p>
            <a:endParaRPr lang="en-IN"/>
          </a:p>
        </p:txBody>
      </p:sp>
      <p:sp>
        <p:nvSpPr>
          <p:cNvPr id="11" name="Step number 2"/>
          <p:cNvSpPr/>
          <p:nvPr/>
        </p:nvSpPr>
        <p:spPr>
          <a:xfrm>
            <a:off x="3429000" y="1325880"/>
            <a:ext cx="384048" cy="384048"/>
          </a:xfrm>
          <a:prstGeom prst="ellipse">
            <a:avLst/>
          </a:prstGeom>
          <a:solidFill>
            <a:schemeClr val="accent4"/>
          </a:solidFill>
          <a:ln/>
        </p:spPr>
        <p:txBody>
          <a:bodyPr/>
          <a:lstStyle/>
          <a:p>
            <a:endParaRPr lang="en-IN"/>
          </a:p>
        </p:txBody>
      </p:sp>
      <p:sp>
        <p:nvSpPr>
          <p:cNvPr id="12" name="Text 9"/>
          <p:cNvSpPr txBox="1"/>
          <p:nvPr/>
        </p:nvSpPr>
        <p:spPr>
          <a:xfrm>
            <a:off x="3429000" y="13258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3913632" y="1298448"/>
            <a:ext cx="1828800" cy="4572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Strip noise</a:t>
            </a:r>
            <a:endParaRPr lang="en-US" sz="1400" dirty="0"/>
          </a:p>
        </p:txBody>
      </p:sp>
      <p:sp>
        <p:nvSpPr>
          <p:cNvPr id="14" name="Text 11"/>
          <p:cNvSpPr txBox="1"/>
          <p:nvPr/>
        </p:nvSpPr>
        <p:spPr>
          <a:xfrm>
            <a:off x="3474720" y="1874520"/>
            <a:ext cx="2240280" cy="36576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Remove URLs and @mentions</a:t>
            </a:r>
            <a:endParaRPr lang="en-US" sz="1300" dirty="0"/>
          </a:p>
        </p:txBody>
      </p:sp>
      <p:sp>
        <p:nvSpPr>
          <p:cNvPr id="15" name="Text 12"/>
          <p:cNvSpPr txBox="1"/>
          <p:nvPr/>
        </p:nvSpPr>
        <p:spPr>
          <a:xfrm>
            <a:off x="3474720" y="2240280"/>
            <a:ext cx="2240280" cy="5029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Links and user names carry no sentiment</a:t>
            </a:r>
            <a:endParaRPr lang="en-US" sz="1200" dirty="0"/>
          </a:p>
        </p:txBody>
      </p:sp>
      <p:sp>
        <p:nvSpPr>
          <p:cNvPr id="16" name="Step 3"/>
          <p:cNvSpPr/>
          <p:nvPr/>
        </p:nvSpPr>
        <p:spPr>
          <a:xfrm>
            <a:off x="6126480" y="1188720"/>
            <a:ext cx="2560320" cy="1600200"/>
          </a:xfrm>
          <a:prstGeom prst="roundRect">
            <a:avLst>
              <a:gd name="adj" fmla="val 6857"/>
            </a:avLst>
          </a:prstGeom>
          <a:solidFill>
            <a:schemeClr val="bg2"/>
          </a:solidFill>
          <a:ln/>
        </p:spPr>
        <p:txBody>
          <a:bodyPr/>
          <a:lstStyle/>
          <a:p>
            <a:endParaRPr lang="en-IN"/>
          </a:p>
        </p:txBody>
      </p:sp>
      <p:sp>
        <p:nvSpPr>
          <p:cNvPr id="17" name="Step number 3"/>
          <p:cNvSpPr/>
          <p:nvPr/>
        </p:nvSpPr>
        <p:spPr>
          <a:xfrm>
            <a:off x="6263640" y="1325880"/>
            <a:ext cx="384048" cy="384048"/>
          </a:xfrm>
          <a:prstGeom prst="ellipse">
            <a:avLst/>
          </a:prstGeom>
          <a:solidFill>
            <a:schemeClr val="accent4"/>
          </a:solidFill>
          <a:ln/>
        </p:spPr>
        <p:txBody>
          <a:bodyPr/>
          <a:lstStyle/>
          <a:p>
            <a:endParaRPr lang="en-IN"/>
          </a:p>
        </p:txBody>
      </p:sp>
      <p:sp>
        <p:nvSpPr>
          <p:cNvPr id="18" name="Text 15"/>
          <p:cNvSpPr txBox="1"/>
          <p:nvPr/>
        </p:nvSpPr>
        <p:spPr>
          <a:xfrm>
            <a:off x="6263640" y="13258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6748272" y="1298448"/>
            <a:ext cx="1828800" cy="4572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Keep hashtags</a:t>
            </a:r>
            <a:endParaRPr lang="en-US" sz="1400" dirty="0"/>
          </a:p>
        </p:txBody>
      </p:sp>
      <p:sp>
        <p:nvSpPr>
          <p:cNvPr id="20" name="Text 17"/>
          <p:cNvSpPr txBox="1"/>
          <p:nvPr/>
        </p:nvSpPr>
        <p:spPr>
          <a:xfrm>
            <a:off x="6309360" y="1874520"/>
            <a:ext cx="2240280" cy="36576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#covid19 → covid19</a:t>
            </a:r>
            <a:endParaRPr lang="en-US" sz="1300" dirty="0"/>
          </a:p>
        </p:txBody>
      </p:sp>
      <p:sp>
        <p:nvSpPr>
          <p:cNvPr id="21" name="Text 18"/>
          <p:cNvSpPr txBox="1"/>
          <p:nvPr/>
        </p:nvSpPr>
        <p:spPr>
          <a:xfrm>
            <a:off x="6309360" y="2240280"/>
            <a:ext cx="2240280" cy="5029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Hashtags often carry the topic or mood</a:t>
            </a:r>
            <a:endParaRPr lang="en-US" sz="1200" dirty="0"/>
          </a:p>
        </p:txBody>
      </p:sp>
      <p:sp>
        <p:nvSpPr>
          <p:cNvPr id="22" name="Step 4"/>
          <p:cNvSpPr/>
          <p:nvPr/>
        </p:nvSpPr>
        <p:spPr>
          <a:xfrm>
            <a:off x="457200" y="2926080"/>
            <a:ext cx="2560320" cy="1600200"/>
          </a:xfrm>
          <a:prstGeom prst="roundRect">
            <a:avLst>
              <a:gd name="adj" fmla="val 6857"/>
            </a:avLst>
          </a:prstGeom>
          <a:solidFill>
            <a:schemeClr val="bg2"/>
          </a:solidFill>
          <a:ln/>
        </p:spPr>
        <p:txBody>
          <a:bodyPr/>
          <a:lstStyle/>
          <a:p>
            <a:endParaRPr lang="en-IN"/>
          </a:p>
        </p:txBody>
      </p:sp>
      <p:sp>
        <p:nvSpPr>
          <p:cNvPr id="23" name="Step number 4"/>
          <p:cNvSpPr/>
          <p:nvPr/>
        </p:nvSpPr>
        <p:spPr>
          <a:xfrm>
            <a:off x="594360" y="3063240"/>
            <a:ext cx="384048" cy="384048"/>
          </a:xfrm>
          <a:prstGeom prst="ellipse">
            <a:avLst/>
          </a:prstGeom>
          <a:solidFill>
            <a:schemeClr val="accent4"/>
          </a:solidFill>
          <a:ln/>
        </p:spPr>
        <p:txBody>
          <a:bodyPr/>
          <a:lstStyle/>
          <a:p>
            <a:endParaRPr lang="en-IN"/>
          </a:p>
        </p:txBody>
      </p:sp>
      <p:sp>
        <p:nvSpPr>
          <p:cNvPr id="24" name="Text 21"/>
          <p:cNvSpPr txBox="1"/>
          <p:nvPr/>
        </p:nvSpPr>
        <p:spPr>
          <a:xfrm>
            <a:off x="594360" y="30632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1078992" y="3035808"/>
            <a:ext cx="1828800" cy="4572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Expand contractions</a:t>
            </a:r>
            <a:endParaRPr lang="en-US" sz="1400" dirty="0"/>
          </a:p>
        </p:txBody>
      </p:sp>
      <p:sp>
        <p:nvSpPr>
          <p:cNvPr id="26" name="Text 23"/>
          <p:cNvSpPr txBox="1"/>
          <p:nvPr/>
        </p:nvSpPr>
        <p:spPr>
          <a:xfrm>
            <a:off x="640080" y="3611880"/>
            <a:ext cx="2240280" cy="36576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don't → do not</a:t>
            </a:r>
            <a:endParaRPr lang="en-US" sz="1300" dirty="0"/>
          </a:p>
        </p:txBody>
      </p:sp>
      <p:sp>
        <p:nvSpPr>
          <p:cNvPr id="27" name="Text 24"/>
          <p:cNvSpPr txBox="1"/>
          <p:nvPr/>
        </p:nvSpPr>
        <p:spPr>
          <a:xfrm>
            <a:off x="640080" y="3977640"/>
            <a:ext cx="2240280" cy="5029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Makes negation words visible</a:t>
            </a:r>
            <a:endParaRPr lang="en-US" sz="1200" dirty="0"/>
          </a:p>
        </p:txBody>
      </p:sp>
      <p:sp>
        <p:nvSpPr>
          <p:cNvPr id="28" name="Step 5"/>
          <p:cNvSpPr/>
          <p:nvPr/>
        </p:nvSpPr>
        <p:spPr>
          <a:xfrm>
            <a:off x="3291840" y="2926080"/>
            <a:ext cx="2560320" cy="1600200"/>
          </a:xfrm>
          <a:prstGeom prst="roundRect">
            <a:avLst>
              <a:gd name="adj" fmla="val 6857"/>
            </a:avLst>
          </a:prstGeom>
          <a:solidFill>
            <a:schemeClr val="bg2"/>
          </a:solidFill>
          <a:ln/>
        </p:spPr>
        <p:txBody>
          <a:bodyPr/>
          <a:lstStyle/>
          <a:p>
            <a:endParaRPr lang="en-IN"/>
          </a:p>
        </p:txBody>
      </p:sp>
      <p:sp>
        <p:nvSpPr>
          <p:cNvPr id="29" name="Step number 5"/>
          <p:cNvSpPr/>
          <p:nvPr/>
        </p:nvSpPr>
        <p:spPr>
          <a:xfrm>
            <a:off x="3429000" y="3063240"/>
            <a:ext cx="384048" cy="384048"/>
          </a:xfrm>
          <a:prstGeom prst="ellipse">
            <a:avLst/>
          </a:prstGeom>
          <a:solidFill>
            <a:schemeClr val="accent4"/>
          </a:solidFill>
          <a:ln/>
        </p:spPr>
        <p:txBody>
          <a:bodyPr/>
          <a:lstStyle/>
          <a:p>
            <a:endParaRPr lang="en-IN"/>
          </a:p>
        </p:txBody>
      </p:sp>
      <p:sp>
        <p:nvSpPr>
          <p:cNvPr id="30" name="Text 27"/>
          <p:cNvSpPr txBox="1"/>
          <p:nvPr/>
        </p:nvSpPr>
        <p:spPr>
          <a:xfrm>
            <a:off x="3429000" y="30632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31" name="Text 28"/>
          <p:cNvSpPr txBox="1"/>
          <p:nvPr/>
        </p:nvSpPr>
        <p:spPr>
          <a:xfrm>
            <a:off x="3913632" y="3035808"/>
            <a:ext cx="1828800" cy="4572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Tokenise, drop stop words</a:t>
            </a:r>
            <a:endParaRPr lang="en-US" sz="1400" dirty="0"/>
          </a:p>
        </p:txBody>
      </p:sp>
      <p:sp>
        <p:nvSpPr>
          <p:cNvPr id="32" name="Text 29"/>
          <p:cNvSpPr txBox="1"/>
          <p:nvPr/>
        </p:nvSpPr>
        <p:spPr>
          <a:xfrm>
            <a:off x="3474720" y="3611880"/>
            <a:ext cx="2240280" cy="36576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Keep not and no</a:t>
            </a:r>
            <a:endParaRPr lang="en-US" sz="1300" dirty="0"/>
          </a:p>
        </p:txBody>
      </p:sp>
      <p:sp>
        <p:nvSpPr>
          <p:cNvPr id="33" name="Text 30"/>
          <p:cNvSpPr txBox="1"/>
          <p:nvPr/>
        </p:nvSpPr>
        <p:spPr>
          <a:xfrm>
            <a:off x="3474720" y="3977640"/>
            <a:ext cx="2240280" cy="5029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Negation flips the meaning of a sentence</a:t>
            </a:r>
            <a:endParaRPr lang="en-US" sz="1200" dirty="0"/>
          </a:p>
        </p:txBody>
      </p:sp>
      <p:sp>
        <p:nvSpPr>
          <p:cNvPr id="34" name="Step 6"/>
          <p:cNvSpPr/>
          <p:nvPr/>
        </p:nvSpPr>
        <p:spPr>
          <a:xfrm>
            <a:off x="6126480" y="2926080"/>
            <a:ext cx="2560320" cy="1600200"/>
          </a:xfrm>
          <a:prstGeom prst="roundRect">
            <a:avLst>
              <a:gd name="adj" fmla="val 6857"/>
            </a:avLst>
          </a:prstGeom>
          <a:solidFill>
            <a:schemeClr val="bg2"/>
          </a:solidFill>
          <a:ln/>
        </p:spPr>
        <p:txBody>
          <a:bodyPr/>
          <a:lstStyle/>
          <a:p>
            <a:endParaRPr lang="en-IN"/>
          </a:p>
        </p:txBody>
      </p:sp>
      <p:sp>
        <p:nvSpPr>
          <p:cNvPr id="35" name="Step number 6"/>
          <p:cNvSpPr/>
          <p:nvPr/>
        </p:nvSpPr>
        <p:spPr>
          <a:xfrm>
            <a:off x="6263640" y="3063240"/>
            <a:ext cx="384048" cy="384048"/>
          </a:xfrm>
          <a:prstGeom prst="ellipse">
            <a:avLst/>
          </a:prstGeom>
          <a:solidFill>
            <a:schemeClr val="accent4"/>
          </a:solidFill>
          <a:ln/>
        </p:spPr>
        <p:txBody>
          <a:bodyPr/>
          <a:lstStyle/>
          <a:p>
            <a:endParaRPr lang="en-IN"/>
          </a:p>
        </p:txBody>
      </p:sp>
      <p:sp>
        <p:nvSpPr>
          <p:cNvPr id="36" name="Text 33"/>
          <p:cNvSpPr txBox="1"/>
          <p:nvPr/>
        </p:nvSpPr>
        <p:spPr>
          <a:xfrm>
            <a:off x="6263640" y="30632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6</a:t>
            </a:r>
            <a:endParaRPr lang="en-US" sz="1400" dirty="0"/>
          </a:p>
        </p:txBody>
      </p:sp>
      <p:sp>
        <p:nvSpPr>
          <p:cNvPr id="37" name="Text 34"/>
          <p:cNvSpPr txBox="1"/>
          <p:nvPr/>
        </p:nvSpPr>
        <p:spPr>
          <a:xfrm>
            <a:off x="6748272" y="3035808"/>
            <a:ext cx="1828800" cy="4572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Lemmatise</a:t>
            </a:r>
            <a:endParaRPr lang="en-US" sz="1400" dirty="0"/>
          </a:p>
        </p:txBody>
      </p:sp>
      <p:sp>
        <p:nvSpPr>
          <p:cNvPr id="38" name="Text 35"/>
          <p:cNvSpPr txBox="1"/>
          <p:nvPr/>
        </p:nvSpPr>
        <p:spPr>
          <a:xfrm>
            <a:off x="6309360" y="3611880"/>
            <a:ext cx="2240280" cy="36576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prices → price (WordNet)</a:t>
            </a:r>
            <a:endParaRPr lang="en-US" sz="1300" dirty="0"/>
          </a:p>
        </p:txBody>
      </p:sp>
      <p:sp>
        <p:nvSpPr>
          <p:cNvPr id="39" name="Text 36"/>
          <p:cNvSpPr txBox="1"/>
          <p:nvPr/>
        </p:nvSpPr>
        <p:spPr>
          <a:xfrm>
            <a:off x="6309360" y="3977640"/>
            <a:ext cx="2240280" cy="5029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Merges word forms, shrinks vocabulary</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 tweet through the pipeline</a:t>
            </a:r>
            <a:endParaRPr lang="en-US" sz="3200" dirty="0"/>
          </a:p>
        </p:txBody>
      </p:sp>
      <p:sp>
        <p:nvSpPr>
          <p:cNvPr id="4" name="Stage label 1"/>
          <p:cNvSpPr/>
          <p:nvPr/>
        </p:nvSpPr>
        <p:spPr>
          <a:xfrm>
            <a:off x="457200" y="1188720"/>
            <a:ext cx="1828800" cy="621792"/>
          </a:xfrm>
          <a:prstGeom prst="roundRect">
            <a:avLst>
              <a:gd name="adj" fmla="val 14706"/>
            </a:avLst>
          </a:prstGeom>
          <a:solidFill>
            <a:schemeClr val="tx2"/>
          </a:solidFill>
          <a:ln/>
        </p:spPr>
        <p:txBody>
          <a:bodyPr/>
          <a:lstStyle/>
          <a:p>
            <a:endParaRPr lang="en-IN"/>
          </a:p>
        </p:txBody>
      </p:sp>
      <p:sp>
        <p:nvSpPr>
          <p:cNvPr id="5" name="Text 2"/>
          <p:cNvSpPr txBox="1"/>
          <p:nvPr/>
        </p:nvSpPr>
        <p:spPr>
          <a:xfrm>
            <a:off x="457200" y="1188720"/>
            <a:ext cx="1828800" cy="62179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Raw tweet</a:t>
            </a:r>
            <a:endParaRPr lang="en-US" sz="1400" dirty="0"/>
          </a:p>
        </p:txBody>
      </p:sp>
      <p:sp>
        <p:nvSpPr>
          <p:cNvPr id="6" name="Stage text 1"/>
          <p:cNvSpPr/>
          <p:nvPr/>
        </p:nvSpPr>
        <p:spPr>
          <a:xfrm>
            <a:off x="2468880" y="1188720"/>
            <a:ext cx="6217920" cy="621792"/>
          </a:xfrm>
          <a:prstGeom prst="roundRect">
            <a:avLst>
              <a:gd name="adj" fmla="val 17647"/>
            </a:avLst>
          </a:prstGeom>
          <a:solidFill>
            <a:schemeClr val="bg2"/>
          </a:solidFill>
          <a:ln/>
        </p:spPr>
        <p:txBody>
          <a:bodyPr/>
          <a:lstStyle/>
          <a:p>
            <a:endParaRPr lang="en-IN"/>
          </a:p>
        </p:txBody>
      </p:sp>
      <p:sp>
        <p:nvSpPr>
          <p:cNvPr id="7" name="Text 4"/>
          <p:cNvSpPr txBox="1"/>
          <p:nvPr/>
        </p:nvSpPr>
        <p:spPr>
          <a:xfrm>
            <a:off x="2651760" y="1188720"/>
            <a:ext cx="5852160" cy="621792"/>
          </a:xfrm>
          <a:prstGeom prst="rect">
            <a:avLst/>
          </a:prstGeom>
          <a:noFill/>
          <a:ln/>
        </p:spPr>
        <p:txBody>
          <a:bodyPr wrap="square" lIns="0" tIns="0" rIns="0" bIns="0" rtlCol="0" anchor="ctr"/>
          <a:lstStyle/>
          <a:p>
            <a:pPr marL="0" indent="0">
              <a:buNone/>
            </a:pPr>
            <a:r>
              <a:rPr lang="en-US" sz="1200" dirty="0">
                <a:solidFill>
                  <a:schemeClr val="tx1"/>
                </a:solidFill>
                <a:latin typeface="Courier New" pitchFamily="34" charset="0"/>
                <a:ea typeface="Courier New" pitchFamily="34" charset="-122"/>
                <a:cs typeface="Courier New" pitchFamily="34" charset="-120"/>
              </a:rPr>
              <a:t>@shopper Not happy with the PRICES at the store!! https://t.co/xyz #coronavirus</a:t>
            </a:r>
            <a:endParaRPr lang="en-US" sz="1200" dirty="0"/>
          </a:p>
        </p:txBody>
      </p:sp>
      <p:sp>
        <p:nvSpPr>
          <p:cNvPr id="8" name="Stage arrow 1"/>
          <p:cNvSpPr/>
          <p:nvPr/>
        </p:nvSpPr>
        <p:spPr>
          <a:xfrm>
            <a:off x="1280160" y="1819656"/>
            <a:ext cx="182880" cy="118872"/>
          </a:xfrm>
          <a:prstGeom prst="downArrow">
            <a:avLst/>
          </a:prstGeom>
          <a:solidFill>
            <a:schemeClr val="accent5"/>
          </a:solidFill>
          <a:ln/>
        </p:spPr>
        <p:txBody>
          <a:bodyPr/>
          <a:lstStyle/>
          <a:p>
            <a:endParaRPr lang="en-IN"/>
          </a:p>
        </p:txBody>
      </p:sp>
      <p:sp>
        <p:nvSpPr>
          <p:cNvPr id="9" name="Stage label 2"/>
          <p:cNvSpPr/>
          <p:nvPr/>
        </p:nvSpPr>
        <p:spPr>
          <a:xfrm>
            <a:off x="457200" y="1947672"/>
            <a:ext cx="1828800" cy="621792"/>
          </a:xfrm>
          <a:prstGeom prst="roundRect">
            <a:avLst>
              <a:gd name="adj" fmla="val 14706"/>
            </a:avLst>
          </a:prstGeom>
          <a:solidFill>
            <a:schemeClr val="tx2"/>
          </a:solidFill>
          <a:ln/>
        </p:spPr>
        <p:txBody>
          <a:bodyPr/>
          <a:lstStyle/>
          <a:p>
            <a:endParaRPr lang="en-IN"/>
          </a:p>
        </p:txBody>
      </p:sp>
      <p:sp>
        <p:nvSpPr>
          <p:cNvPr id="10" name="Text 7"/>
          <p:cNvSpPr txBox="1"/>
          <p:nvPr/>
        </p:nvSpPr>
        <p:spPr>
          <a:xfrm>
            <a:off x="457200" y="1947672"/>
            <a:ext cx="1828800" cy="62179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After cleaning</a:t>
            </a:r>
            <a:endParaRPr lang="en-US" sz="1400" dirty="0"/>
          </a:p>
        </p:txBody>
      </p:sp>
      <p:sp>
        <p:nvSpPr>
          <p:cNvPr id="11" name="Stage text 2"/>
          <p:cNvSpPr/>
          <p:nvPr/>
        </p:nvSpPr>
        <p:spPr>
          <a:xfrm>
            <a:off x="2468880" y="1947672"/>
            <a:ext cx="6217920" cy="621792"/>
          </a:xfrm>
          <a:prstGeom prst="roundRect">
            <a:avLst>
              <a:gd name="adj" fmla="val 17647"/>
            </a:avLst>
          </a:prstGeom>
          <a:solidFill>
            <a:schemeClr val="bg2"/>
          </a:solidFill>
          <a:ln/>
        </p:spPr>
        <p:txBody>
          <a:bodyPr/>
          <a:lstStyle/>
          <a:p>
            <a:endParaRPr lang="en-IN"/>
          </a:p>
        </p:txBody>
      </p:sp>
      <p:sp>
        <p:nvSpPr>
          <p:cNvPr id="12" name="Text 9"/>
          <p:cNvSpPr txBox="1"/>
          <p:nvPr/>
        </p:nvSpPr>
        <p:spPr>
          <a:xfrm>
            <a:off x="2651760" y="1947672"/>
            <a:ext cx="5852160" cy="621792"/>
          </a:xfrm>
          <a:prstGeom prst="rect">
            <a:avLst/>
          </a:prstGeom>
          <a:noFill/>
          <a:ln/>
        </p:spPr>
        <p:txBody>
          <a:bodyPr wrap="square" lIns="0" tIns="0" rIns="0" bIns="0" rtlCol="0" anchor="ctr"/>
          <a:lstStyle/>
          <a:p>
            <a:pPr marL="0" indent="0">
              <a:buNone/>
            </a:pPr>
            <a:r>
              <a:rPr lang="en-US" sz="1200" dirty="0">
                <a:solidFill>
                  <a:schemeClr val="tx1"/>
                </a:solidFill>
                <a:latin typeface="Courier New" pitchFamily="34" charset="0"/>
                <a:ea typeface="Courier New" pitchFamily="34" charset="-122"/>
                <a:cs typeface="Courier New" pitchFamily="34" charset="-120"/>
              </a:rPr>
              <a:t>not happy with the prices at the store coronavirus</a:t>
            </a:r>
            <a:endParaRPr lang="en-US" sz="1200" dirty="0"/>
          </a:p>
        </p:txBody>
      </p:sp>
      <p:sp>
        <p:nvSpPr>
          <p:cNvPr id="13" name="Stage arrow 2"/>
          <p:cNvSpPr/>
          <p:nvPr/>
        </p:nvSpPr>
        <p:spPr>
          <a:xfrm>
            <a:off x="1280160" y="2578608"/>
            <a:ext cx="182880" cy="118872"/>
          </a:xfrm>
          <a:prstGeom prst="downArrow">
            <a:avLst/>
          </a:prstGeom>
          <a:solidFill>
            <a:schemeClr val="accent5"/>
          </a:solidFill>
          <a:ln/>
        </p:spPr>
        <p:txBody>
          <a:bodyPr/>
          <a:lstStyle/>
          <a:p>
            <a:endParaRPr lang="en-IN"/>
          </a:p>
        </p:txBody>
      </p:sp>
      <p:sp>
        <p:nvSpPr>
          <p:cNvPr id="14" name="Stage label 3"/>
          <p:cNvSpPr/>
          <p:nvPr/>
        </p:nvSpPr>
        <p:spPr>
          <a:xfrm>
            <a:off x="457200" y="2706624"/>
            <a:ext cx="1828800" cy="621792"/>
          </a:xfrm>
          <a:prstGeom prst="roundRect">
            <a:avLst>
              <a:gd name="adj" fmla="val 14706"/>
            </a:avLst>
          </a:prstGeom>
          <a:solidFill>
            <a:schemeClr val="tx2"/>
          </a:solidFill>
          <a:ln/>
        </p:spPr>
        <p:txBody>
          <a:bodyPr/>
          <a:lstStyle/>
          <a:p>
            <a:endParaRPr lang="en-IN"/>
          </a:p>
        </p:txBody>
      </p:sp>
      <p:sp>
        <p:nvSpPr>
          <p:cNvPr id="15" name="Text 12"/>
          <p:cNvSpPr txBox="1"/>
          <p:nvPr/>
        </p:nvSpPr>
        <p:spPr>
          <a:xfrm>
            <a:off x="457200" y="2706624"/>
            <a:ext cx="1828800" cy="62179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After stop words</a:t>
            </a:r>
            <a:endParaRPr lang="en-US" sz="1400" dirty="0"/>
          </a:p>
        </p:txBody>
      </p:sp>
      <p:sp>
        <p:nvSpPr>
          <p:cNvPr id="16" name="Stage text 3"/>
          <p:cNvSpPr/>
          <p:nvPr/>
        </p:nvSpPr>
        <p:spPr>
          <a:xfrm>
            <a:off x="2468880" y="2706624"/>
            <a:ext cx="6217920" cy="621792"/>
          </a:xfrm>
          <a:prstGeom prst="roundRect">
            <a:avLst>
              <a:gd name="adj" fmla="val 17647"/>
            </a:avLst>
          </a:prstGeom>
          <a:solidFill>
            <a:schemeClr val="bg2"/>
          </a:solidFill>
          <a:ln/>
        </p:spPr>
        <p:txBody>
          <a:bodyPr/>
          <a:lstStyle/>
          <a:p>
            <a:endParaRPr lang="en-IN"/>
          </a:p>
        </p:txBody>
      </p:sp>
      <p:sp>
        <p:nvSpPr>
          <p:cNvPr id="17" name="Text 14"/>
          <p:cNvSpPr txBox="1"/>
          <p:nvPr/>
        </p:nvSpPr>
        <p:spPr>
          <a:xfrm>
            <a:off x="2651760" y="2706624"/>
            <a:ext cx="5852160" cy="621792"/>
          </a:xfrm>
          <a:prstGeom prst="rect">
            <a:avLst/>
          </a:prstGeom>
          <a:noFill/>
          <a:ln/>
        </p:spPr>
        <p:txBody>
          <a:bodyPr wrap="square" lIns="0" tIns="0" rIns="0" bIns="0" rtlCol="0" anchor="ctr"/>
          <a:lstStyle/>
          <a:p>
            <a:pPr marL="0" indent="0">
              <a:buNone/>
            </a:pPr>
            <a:r>
              <a:rPr lang="en-US" sz="1200" dirty="0">
                <a:solidFill>
                  <a:schemeClr val="tx1"/>
                </a:solidFill>
                <a:latin typeface="Courier New" pitchFamily="34" charset="0"/>
                <a:ea typeface="Courier New" pitchFamily="34" charset="-122"/>
                <a:cs typeface="Courier New" pitchFamily="34" charset="-120"/>
              </a:rPr>
              <a:t>not happy prices store coronavirus</a:t>
            </a:r>
            <a:endParaRPr lang="en-US" sz="1200" dirty="0"/>
          </a:p>
        </p:txBody>
      </p:sp>
      <p:sp>
        <p:nvSpPr>
          <p:cNvPr id="18" name="Stage arrow 3"/>
          <p:cNvSpPr/>
          <p:nvPr/>
        </p:nvSpPr>
        <p:spPr>
          <a:xfrm>
            <a:off x="1280160" y="3337560"/>
            <a:ext cx="182880" cy="118872"/>
          </a:xfrm>
          <a:prstGeom prst="downArrow">
            <a:avLst/>
          </a:prstGeom>
          <a:solidFill>
            <a:schemeClr val="accent5"/>
          </a:solidFill>
          <a:ln/>
        </p:spPr>
        <p:txBody>
          <a:bodyPr/>
          <a:lstStyle/>
          <a:p>
            <a:endParaRPr lang="en-IN"/>
          </a:p>
        </p:txBody>
      </p:sp>
      <p:sp>
        <p:nvSpPr>
          <p:cNvPr id="19" name="Stage label 4"/>
          <p:cNvSpPr/>
          <p:nvPr/>
        </p:nvSpPr>
        <p:spPr>
          <a:xfrm>
            <a:off x="457200" y="3465576"/>
            <a:ext cx="1828800" cy="621792"/>
          </a:xfrm>
          <a:prstGeom prst="roundRect">
            <a:avLst>
              <a:gd name="adj" fmla="val 14706"/>
            </a:avLst>
          </a:prstGeom>
          <a:solidFill>
            <a:schemeClr val="accent1"/>
          </a:solidFill>
          <a:ln/>
        </p:spPr>
        <p:txBody>
          <a:bodyPr/>
          <a:lstStyle/>
          <a:p>
            <a:endParaRPr lang="en-IN"/>
          </a:p>
        </p:txBody>
      </p:sp>
      <p:sp>
        <p:nvSpPr>
          <p:cNvPr id="20" name="Text 17"/>
          <p:cNvSpPr txBox="1"/>
          <p:nvPr/>
        </p:nvSpPr>
        <p:spPr>
          <a:xfrm>
            <a:off x="457200" y="3465576"/>
            <a:ext cx="1828800" cy="62179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After lemmatising</a:t>
            </a:r>
            <a:endParaRPr lang="en-US" sz="1400" dirty="0"/>
          </a:p>
        </p:txBody>
      </p:sp>
      <p:sp>
        <p:nvSpPr>
          <p:cNvPr id="21" name="Stage text 4"/>
          <p:cNvSpPr/>
          <p:nvPr/>
        </p:nvSpPr>
        <p:spPr>
          <a:xfrm>
            <a:off x="2468880" y="3465576"/>
            <a:ext cx="6217920" cy="621792"/>
          </a:xfrm>
          <a:prstGeom prst="roundRect">
            <a:avLst>
              <a:gd name="adj" fmla="val 17647"/>
            </a:avLst>
          </a:prstGeom>
          <a:solidFill>
            <a:schemeClr val="bg2"/>
          </a:solidFill>
          <a:ln/>
        </p:spPr>
        <p:txBody>
          <a:bodyPr/>
          <a:lstStyle/>
          <a:p>
            <a:endParaRPr lang="en-IN"/>
          </a:p>
        </p:txBody>
      </p:sp>
      <p:sp>
        <p:nvSpPr>
          <p:cNvPr id="22" name="Text 19"/>
          <p:cNvSpPr txBox="1"/>
          <p:nvPr/>
        </p:nvSpPr>
        <p:spPr>
          <a:xfrm>
            <a:off x="2651760" y="3465576"/>
            <a:ext cx="5852160" cy="621792"/>
          </a:xfrm>
          <a:prstGeom prst="rect">
            <a:avLst/>
          </a:prstGeom>
          <a:noFill/>
          <a:ln/>
        </p:spPr>
        <p:txBody>
          <a:bodyPr wrap="square" lIns="0" tIns="0" rIns="0" bIns="0" rtlCol="0" anchor="ctr"/>
          <a:lstStyle/>
          <a:p>
            <a:pPr marL="0" indent="0">
              <a:buNone/>
            </a:pPr>
            <a:r>
              <a:rPr lang="en-US" sz="1200" dirty="0">
                <a:solidFill>
                  <a:schemeClr val="tx1"/>
                </a:solidFill>
                <a:latin typeface="Courier New" pitchFamily="34" charset="0"/>
                <a:ea typeface="Courier New" pitchFamily="34" charset="-122"/>
                <a:cs typeface="Courier New" pitchFamily="34" charset="-120"/>
              </a:rPr>
              <a:t>not happy price store coronavirus</a:t>
            </a:r>
            <a:endParaRPr lang="en-US" sz="1200" dirty="0"/>
          </a:p>
        </p:txBody>
      </p:sp>
      <p:sp>
        <p:nvSpPr>
          <p:cNvPr id="23" name="Text 20"/>
          <p:cNvSpPr txBox="1"/>
          <p:nvPr/>
        </p:nvSpPr>
        <p:spPr>
          <a:xfrm>
            <a:off x="457200" y="4297680"/>
            <a:ext cx="8229600" cy="2743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Illustrative example. The final tokens become TF-IDF vectors or integer sequences.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What people talk about</a:t>
            </a:r>
            <a:endParaRPr lang="en-US" sz="3200" dirty="0"/>
          </a:p>
        </p:txBody>
      </p:sp>
      <p:graphicFrame>
        <p:nvGraphicFramePr>
          <p:cNvPr id="4" name="Chart 0"/>
          <p:cNvGraphicFramePr/>
          <p:nvPr/>
        </p:nvGraphicFramePr>
        <p:xfrm>
          <a:off x="365760" y="1143000"/>
          <a:ext cx="41148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 name="Insight card 1"/>
          <p:cNvSpPr/>
          <p:nvPr/>
        </p:nvSpPr>
        <p:spPr>
          <a:xfrm>
            <a:off x="4754880" y="1188720"/>
            <a:ext cx="3931920" cy="1005840"/>
          </a:xfrm>
          <a:prstGeom prst="roundRect">
            <a:avLst>
              <a:gd name="adj" fmla="val 10909"/>
            </a:avLst>
          </a:prstGeom>
          <a:solidFill>
            <a:schemeClr val="bg2"/>
          </a:solidFill>
          <a:ln/>
        </p:spPr>
        <p:txBody>
          <a:bodyPr/>
          <a:lstStyle/>
          <a:p>
            <a:endParaRPr lang="en-IN"/>
          </a:p>
        </p:txBody>
      </p:sp>
      <p:sp>
        <p:nvSpPr>
          <p:cNvPr id="6" name="Dot 1"/>
          <p:cNvSpPr/>
          <p:nvPr/>
        </p:nvSpPr>
        <p:spPr>
          <a:xfrm>
            <a:off x="4937760" y="1353312"/>
            <a:ext cx="274320" cy="274320"/>
          </a:xfrm>
          <a:prstGeom prst="ellipse">
            <a:avLst/>
          </a:prstGeom>
          <a:solidFill>
            <a:schemeClr val="accent2"/>
          </a:solidFill>
          <a:ln/>
        </p:spPr>
        <p:txBody>
          <a:bodyPr/>
          <a:lstStyle/>
          <a:p>
            <a:endParaRPr lang="en-IN"/>
          </a:p>
        </p:txBody>
      </p:sp>
      <p:sp>
        <p:nvSpPr>
          <p:cNvPr id="7" name="Text 3"/>
          <p:cNvSpPr txBox="1"/>
          <p:nvPr/>
        </p:nvSpPr>
        <p:spPr>
          <a:xfrm>
            <a:off x="5349240" y="1325880"/>
            <a:ext cx="32004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Negative tweets</a:t>
            </a:r>
            <a:endParaRPr lang="en-US" sz="1600" dirty="0"/>
          </a:p>
        </p:txBody>
      </p:sp>
      <p:sp>
        <p:nvSpPr>
          <p:cNvPr id="8" name="Text 4"/>
          <p:cNvSpPr txBox="1"/>
          <p:nvPr/>
        </p:nvSpPr>
        <p:spPr>
          <a:xfrm>
            <a:off x="4937760" y="1691640"/>
            <a:ext cx="3611880" cy="4572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threaten, blame, attack, arrest, dead, worst, hell</a:t>
            </a:r>
            <a:endParaRPr lang="en-US" sz="1400" dirty="0"/>
          </a:p>
        </p:txBody>
      </p:sp>
      <p:sp>
        <p:nvSpPr>
          <p:cNvPr id="9" name="Insight card 2"/>
          <p:cNvSpPr/>
          <p:nvPr/>
        </p:nvSpPr>
        <p:spPr>
          <a:xfrm>
            <a:off x="4754880" y="2331720"/>
            <a:ext cx="3931920" cy="1005840"/>
          </a:xfrm>
          <a:prstGeom prst="roundRect">
            <a:avLst>
              <a:gd name="adj" fmla="val 10909"/>
            </a:avLst>
          </a:prstGeom>
          <a:solidFill>
            <a:schemeClr val="bg2"/>
          </a:solidFill>
          <a:ln/>
        </p:spPr>
        <p:txBody>
          <a:bodyPr/>
          <a:lstStyle/>
          <a:p>
            <a:endParaRPr lang="en-IN"/>
          </a:p>
        </p:txBody>
      </p:sp>
      <p:sp>
        <p:nvSpPr>
          <p:cNvPr id="10" name="Dot 2"/>
          <p:cNvSpPr/>
          <p:nvPr/>
        </p:nvSpPr>
        <p:spPr>
          <a:xfrm>
            <a:off x="4937760" y="2496312"/>
            <a:ext cx="274320" cy="274320"/>
          </a:xfrm>
          <a:prstGeom prst="ellipse">
            <a:avLst/>
          </a:prstGeom>
          <a:solidFill>
            <a:schemeClr val="accent1"/>
          </a:solidFill>
          <a:ln/>
        </p:spPr>
        <p:txBody>
          <a:bodyPr/>
          <a:lstStyle/>
          <a:p>
            <a:endParaRPr lang="en-IN"/>
          </a:p>
        </p:txBody>
      </p:sp>
      <p:sp>
        <p:nvSpPr>
          <p:cNvPr id="11" name="Text 7"/>
          <p:cNvSpPr txBox="1"/>
          <p:nvPr/>
        </p:nvSpPr>
        <p:spPr>
          <a:xfrm>
            <a:off x="5349240" y="2468880"/>
            <a:ext cx="32004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Positive tweets</a:t>
            </a:r>
            <a:endParaRPr lang="en-US" sz="1600" dirty="0"/>
          </a:p>
        </p:txBody>
      </p:sp>
      <p:sp>
        <p:nvSpPr>
          <p:cNvPr id="12" name="Text 8"/>
          <p:cNvSpPr txBox="1"/>
          <p:nvPr/>
        </p:nvSpPr>
        <p:spPr>
          <a:xfrm>
            <a:off x="4937760" y="2834640"/>
            <a:ext cx="3611880" cy="4572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bonus, enjoy, best, safely, happy, amaze, friendly</a:t>
            </a:r>
            <a:endParaRPr lang="en-US" sz="1400" dirty="0"/>
          </a:p>
        </p:txBody>
      </p:sp>
      <p:sp>
        <p:nvSpPr>
          <p:cNvPr id="13" name="Insight card 3"/>
          <p:cNvSpPr/>
          <p:nvPr/>
        </p:nvSpPr>
        <p:spPr>
          <a:xfrm>
            <a:off x="4754880" y="3474720"/>
            <a:ext cx="3931920" cy="1005840"/>
          </a:xfrm>
          <a:prstGeom prst="roundRect">
            <a:avLst>
              <a:gd name="adj" fmla="val 10909"/>
            </a:avLst>
          </a:prstGeom>
          <a:solidFill>
            <a:schemeClr val="bg2"/>
          </a:solidFill>
          <a:ln/>
        </p:spPr>
        <p:txBody>
          <a:bodyPr/>
          <a:lstStyle/>
          <a:p>
            <a:endParaRPr lang="en-IN"/>
          </a:p>
        </p:txBody>
      </p:sp>
      <p:sp>
        <p:nvSpPr>
          <p:cNvPr id="14" name="Dot 3"/>
          <p:cNvSpPr/>
          <p:nvPr/>
        </p:nvSpPr>
        <p:spPr>
          <a:xfrm>
            <a:off x="4937760" y="3639312"/>
            <a:ext cx="274320" cy="274320"/>
          </a:xfrm>
          <a:prstGeom prst="ellipse">
            <a:avLst/>
          </a:prstGeom>
          <a:solidFill>
            <a:schemeClr val="accent3"/>
          </a:solidFill>
          <a:ln/>
        </p:spPr>
        <p:txBody>
          <a:bodyPr/>
          <a:lstStyle/>
          <a:p>
            <a:endParaRPr lang="en-IN"/>
          </a:p>
        </p:txBody>
      </p:sp>
      <p:sp>
        <p:nvSpPr>
          <p:cNvPr id="15" name="Text 11"/>
          <p:cNvSpPr txBox="1"/>
          <p:nvPr/>
        </p:nvSpPr>
        <p:spPr>
          <a:xfrm>
            <a:off x="5349240" y="3611880"/>
            <a:ext cx="32004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Length</a:t>
            </a:r>
            <a:endParaRPr lang="en-US" sz="1600" dirty="0"/>
          </a:p>
        </p:txBody>
      </p:sp>
      <p:sp>
        <p:nvSpPr>
          <p:cNvPr id="16" name="Text 12"/>
          <p:cNvSpPr txBox="1"/>
          <p:nvPr/>
        </p:nvSpPr>
        <p:spPr>
          <a:xfrm>
            <a:off x="4937760" y="3977640"/>
            <a:ext cx="3611880" cy="4572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Neutral tweets are shorter: 13 words vs 19</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Turning words into numbers: TF-IDF</a:t>
            </a:r>
            <a:endParaRPr lang="en-US" sz="3200" dirty="0"/>
          </a:p>
        </p:txBody>
      </p:sp>
      <p:sp>
        <p:nvSpPr>
          <p:cNvPr id="4" name="Formula card"/>
          <p:cNvSpPr/>
          <p:nvPr/>
        </p:nvSpPr>
        <p:spPr>
          <a:xfrm>
            <a:off x="457200" y="1188720"/>
            <a:ext cx="4206240" cy="3291840"/>
          </a:xfrm>
          <a:prstGeom prst="roundRect">
            <a:avLst>
              <a:gd name="adj" fmla="val 3333"/>
            </a:avLst>
          </a:prstGeom>
          <a:solidFill>
            <a:schemeClr val="tx2"/>
          </a:solidFill>
          <a:ln/>
        </p:spPr>
        <p:txBody>
          <a:bodyPr/>
          <a:lstStyle/>
          <a:p>
            <a:endParaRPr lang="en-IN"/>
          </a:p>
        </p:txBody>
      </p:sp>
      <p:sp>
        <p:nvSpPr>
          <p:cNvPr id="5" name="Text 2"/>
          <p:cNvSpPr txBox="1"/>
          <p:nvPr/>
        </p:nvSpPr>
        <p:spPr>
          <a:xfrm>
            <a:off x="731520" y="1371600"/>
            <a:ext cx="3657600" cy="274320"/>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TF-IDF (simplified)</a:t>
            </a:r>
            <a:endParaRPr lang="en-US" sz="1400" dirty="0"/>
          </a:p>
        </p:txBody>
      </p:sp>
      <p:sp>
        <p:nvSpPr>
          <p:cNvPr id="6" name="Text 3"/>
          <p:cNvSpPr txBox="1"/>
          <p:nvPr/>
        </p:nvSpPr>
        <p:spPr>
          <a:xfrm>
            <a:off x="731520" y="1783080"/>
            <a:ext cx="3657600" cy="548640"/>
          </a:xfrm>
          <a:prstGeom prst="rect">
            <a:avLst/>
          </a:prstGeom>
          <a:noFill/>
          <a:ln/>
        </p:spPr>
        <p:txBody>
          <a:bodyPr wrap="square" lIns="0" tIns="0" rIns="0" bIns="0" rtlCol="0" anchor="t"/>
          <a:lstStyle/>
          <a:p>
            <a:pPr marL="0" indent="0">
              <a:buNone/>
            </a:pPr>
            <a:r>
              <a:rPr lang="en-US" sz="3000" b="1" dirty="0">
                <a:solidFill>
                  <a:schemeClr val="bg1"/>
                </a:solidFill>
                <a:latin typeface="Cambria" pitchFamily="34" charset="0"/>
                <a:ea typeface="Cambria" pitchFamily="34" charset="-122"/>
                <a:cs typeface="Cambria" pitchFamily="34" charset="-120"/>
              </a:rPr>
              <a:t>tf × log( N / df )</a:t>
            </a:r>
            <a:endParaRPr lang="en-US" sz="3000" dirty="0"/>
          </a:p>
        </p:txBody>
      </p:sp>
      <p:sp>
        <p:nvSpPr>
          <p:cNvPr id="7" name="Text 4"/>
          <p:cNvSpPr txBox="1"/>
          <p:nvPr/>
        </p:nvSpPr>
        <p:spPr>
          <a:xfrm>
            <a:off x="731520" y="2560320"/>
            <a:ext cx="3657600" cy="1828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tf: how often the word appears in this tweet</a:t>
            </a:r>
            <a:endParaRPr lang="en-US" sz="1400" dirty="0"/>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N: number of tweets</a:t>
            </a:r>
            <a:endParaRPr lang="en-US" sz="1400" dirty="0"/>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df: number of tweets that contain the word</a:t>
            </a:r>
            <a:endParaRPr lang="en-US" sz="1400" dirty="0"/>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Common words get a low weight; rare, specific words get a high weight</a:t>
            </a:r>
            <a:endParaRPr lang="en-US" sz="1400" dirty="0"/>
          </a:p>
        </p:txBody>
      </p:sp>
      <p:sp>
        <p:nvSpPr>
          <p:cNvPr id="8" name="Card Why not plain counts?"/>
          <p:cNvSpPr/>
          <p:nvPr/>
        </p:nvSpPr>
        <p:spPr>
          <a:xfrm>
            <a:off x="4937760" y="1188720"/>
            <a:ext cx="3749040" cy="1005840"/>
          </a:xfrm>
          <a:prstGeom prst="roundRect">
            <a:avLst>
              <a:gd name="adj" fmla="val 10909"/>
            </a:avLst>
          </a:prstGeom>
          <a:solidFill>
            <a:schemeClr val="bg2"/>
          </a:solidFill>
          <a:ln/>
        </p:spPr>
        <p:txBody>
          <a:bodyPr/>
          <a:lstStyle/>
          <a:p>
            <a:endParaRPr lang="en-IN"/>
          </a:p>
        </p:txBody>
      </p:sp>
      <p:sp>
        <p:nvSpPr>
          <p:cNvPr id="9" name="Text 6"/>
          <p:cNvSpPr txBox="1"/>
          <p:nvPr/>
        </p:nvSpPr>
        <p:spPr>
          <a:xfrm>
            <a:off x="5120640" y="1298448"/>
            <a:ext cx="33832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Why not plain counts?</a:t>
            </a:r>
            <a:endParaRPr lang="en-US" sz="1500" dirty="0"/>
          </a:p>
        </p:txBody>
      </p:sp>
      <p:sp>
        <p:nvSpPr>
          <p:cNvPr id="10" name="Text 7"/>
          <p:cNvSpPr txBox="1"/>
          <p:nvPr/>
        </p:nvSpPr>
        <p:spPr>
          <a:xfrm>
            <a:off x="5120640" y="1600200"/>
            <a:ext cx="3383280" cy="50292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Counts reward words like “the”. TF-IDF rewards words that separate one tweet from another.</a:t>
            </a:r>
            <a:endParaRPr lang="en-US" sz="1200" dirty="0"/>
          </a:p>
        </p:txBody>
      </p:sp>
      <p:sp>
        <p:nvSpPr>
          <p:cNvPr id="11" name="Card Why bigrams?"/>
          <p:cNvSpPr/>
          <p:nvPr/>
        </p:nvSpPr>
        <p:spPr>
          <a:xfrm>
            <a:off x="4937760" y="2331720"/>
            <a:ext cx="3749040" cy="1005840"/>
          </a:xfrm>
          <a:prstGeom prst="roundRect">
            <a:avLst>
              <a:gd name="adj" fmla="val 10909"/>
            </a:avLst>
          </a:prstGeom>
          <a:solidFill>
            <a:schemeClr val="bg2"/>
          </a:solidFill>
          <a:ln/>
        </p:spPr>
        <p:txBody>
          <a:bodyPr/>
          <a:lstStyle/>
          <a:p>
            <a:endParaRPr lang="en-IN"/>
          </a:p>
        </p:txBody>
      </p:sp>
      <p:sp>
        <p:nvSpPr>
          <p:cNvPr id="12" name="Text 9"/>
          <p:cNvSpPr txBox="1"/>
          <p:nvPr/>
        </p:nvSpPr>
        <p:spPr>
          <a:xfrm>
            <a:off x="5120640" y="2441448"/>
            <a:ext cx="33832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Why bigrams?</a:t>
            </a:r>
            <a:endParaRPr lang="en-US" sz="1500" dirty="0"/>
          </a:p>
        </p:txBody>
      </p:sp>
      <p:sp>
        <p:nvSpPr>
          <p:cNvPr id="13" name="Text 10"/>
          <p:cNvSpPr txBox="1"/>
          <p:nvPr/>
        </p:nvSpPr>
        <p:spPr>
          <a:xfrm>
            <a:off x="5120640" y="2743200"/>
            <a:ext cx="3383280" cy="50292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“not good” is different from “not” and “good”, so pairs of words are kept too.</a:t>
            </a:r>
            <a:endParaRPr lang="en-US" sz="1200" dirty="0"/>
          </a:p>
        </p:txBody>
      </p:sp>
      <p:sp>
        <p:nvSpPr>
          <p:cNvPr id="14" name="Card Why only 5,000 features?"/>
          <p:cNvSpPr/>
          <p:nvPr/>
        </p:nvSpPr>
        <p:spPr>
          <a:xfrm>
            <a:off x="4937760" y="3474720"/>
            <a:ext cx="3749040" cy="1005840"/>
          </a:xfrm>
          <a:prstGeom prst="roundRect">
            <a:avLst>
              <a:gd name="adj" fmla="val 10909"/>
            </a:avLst>
          </a:prstGeom>
          <a:solidFill>
            <a:schemeClr val="bg2"/>
          </a:solidFill>
          <a:ln/>
        </p:spPr>
        <p:txBody>
          <a:bodyPr/>
          <a:lstStyle/>
          <a:p>
            <a:endParaRPr lang="en-IN"/>
          </a:p>
        </p:txBody>
      </p:sp>
      <p:sp>
        <p:nvSpPr>
          <p:cNvPr id="15" name="Text 12"/>
          <p:cNvSpPr txBox="1"/>
          <p:nvPr/>
        </p:nvSpPr>
        <p:spPr>
          <a:xfrm>
            <a:off x="5120640" y="3584448"/>
            <a:ext cx="33832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Why only 5,000 features?</a:t>
            </a:r>
            <a:endParaRPr lang="en-US" sz="1500" dirty="0"/>
          </a:p>
        </p:txBody>
      </p:sp>
      <p:sp>
        <p:nvSpPr>
          <p:cNvPr id="16" name="Text 13"/>
          <p:cNvSpPr txBox="1"/>
          <p:nvPr/>
        </p:nvSpPr>
        <p:spPr>
          <a:xfrm>
            <a:off x="5120640" y="3886200"/>
            <a:ext cx="3383280" cy="50292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Keeps the strongest unigrams and bigrams, so training stays fast and noise stays low.</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Four classical models</a:t>
            </a:r>
            <a:endParaRPr lang="en-US" sz="3200" dirty="0"/>
          </a:p>
        </p:txBody>
      </p:sp>
      <p:sp>
        <p:nvSpPr>
          <p:cNvPr id="4" name="Model card Logistic Regression"/>
          <p:cNvSpPr/>
          <p:nvPr/>
        </p:nvSpPr>
        <p:spPr>
          <a:xfrm>
            <a:off x="457200" y="1188720"/>
            <a:ext cx="1920240" cy="3291840"/>
          </a:xfrm>
          <a:prstGeom prst="roundRect">
            <a:avLst>
              <a:gd name="adj" fmla="val 5714"/>
            </a:avLst>
          </a:prstGeom>
          <a:solidFill>
            <a:schemeClr val="bg2"/>
          </a:solidFill>
          <a:ln/>
        </p:spPr>
        <p:txBody>
          <a:bodyPr/>
          <a:lstStyle/>
          <a:p>
            <a:endParaRPr lang="en-IN"/>
          </a:p>
        </p:txBody>
      </p:sp>
      <p:sp>
        <p:nvSpPr>
          <p:cNvPr id="5" name="Text 2"/>
          <p:cNvSpPr txBox="1"/>
          <p:nvPr/>
        </p:nvSpPr>
        <p:spPr>
          <a:xfrm>
            <a:off x="594360" y="1298448"/>
            <a:ext cx="1645920" cy="50292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Logistic Regression</a:t>
            </a:r>
            <a:endParaRPr lang="en-US" sz="1600" dirty="0"/>
          </a:p>
        </p:txBody>
      </p:sp>
      <p:sp>
        <p:nvSpPr>
          <p:cNvPr id="6" name="Text 3"/>
          <p:cNvSpPr txBox="1"/>
          <p:nvPr/>
        </p:nvSpPr>
        <p:spPr>
          <a:xfrm>
            <a:off x="594360" y="1874520"/>
            <a:ext cx="1645920" cy="1920240"/>
          </a:xfrm>
          <a:prstGeom prst="rect">
            <a:avLst/>
          </a:prstGeom>
          <a:noFill/>
          <a:ln/>
        </p:spPr>
        <p:txBody>
          <a:bodyPr wrap="square" lIns="0" tIns="0" rIns="0" bIns="0" rtlCol="0" anchor="t"/>
          <a:lstStyle/>
          <a:p>
            <a:pPr marL="0" indent="0">
              <a:buNone/>
            </a:pPr>
            <a:r>
              <a:rPr lang="en-US" sz="1000" b="1" dirty="0">
                <a:solidFill>
                  <a:srgbClr val="6B7390"/>
                </a:solidFill>
                <a:latin typeface="Calibri" pitchFamily="34" charset="0"/>
                <a:ea typeface="Calibri" pitchFamily="34" charset="-122"/>
                <a:cs typeface="Calibri" pitchFamily="34" charset="-120"/>
              </a:rPr>
              <a:t>IDEA</a:t>
            </a:r>
            <a:endParaRPr lang="en-US" sz="1000" dirty="0"/>
          </a:p>
          <a:p>
            <a:pPr marL="0" indent="0">
              <a:spcAft>
                <a:spcPts val="600"/>
              </a:spcAft>
              <a:buNone/>
            </a:pPr>
            <a:r>
              <a:rPr lang="en-US" sz="1200" dirty="0">
                <a:solidFill>
                  <a:schemeClr val="tx1"/>
                </a:solidFill>
                <a:latin typeface="Calibri" pitchFamily="34" charset="0"/>
                <a:ea typeface="Calibri" pitchFamily="34" charset="-122"/>
                <a:cs typeface="Calibri" pitchFamily="34" charset="-120"/>
              </a:rPr>
              <a:t>Weighted word scores turned into class probabilities.</a:t>
            </a:r>
            <a:endParaRPr lang="en-US" sz="1000" dirty="0"/>
          </a:p>
          <a:p>
            <a:pPr marL="0" indent="0">
              <a:buNone/>
            </a:pPr>
            <a:r>
              <a:rPr lang="en-US" sz="1000" b="1" dirty="0">
                <a:solidFill>
                  <a:srgbClr val="6B7390"/>
                </a:solidFill>
                <a:latin typeface="Calibri" pitchFamily="34" charset="0"/>
                <a:ea typeface="Calibri" pitchFamily="34" charset="-122"/>
                <a:cs typeface="Calibri" pitchFamily="34" charset="-120"/>
              </a:rPr>
              <a:t>STRENGTH</a:t>
            </a:r>
            <a:endParaRPr lang="en-US" sz="1000" dirty="0"/>
          </a:p>
          <a:p>
            <a:pPr marL="0" indent="0">
              <a:spcAft>
                <a:spcPts val="600"/>
              </a:spcAft>
              <a:buNone/>
            </a:pPr>
            <a:r>
              <a:rPr lang="en-US" sz="1200" dirty="0">
                <a:solidFill>
                  <a:schemeClr val="tx1"/>
                </a:solidFill>
                <a:latin typeface="Calibri" pitchFamily="34" charset="0"/>
                <a:ea typeface="Calibri" pitchFamily="34" charset="-122"/>
                <a:cs typeface="Calibri" pitchFamily="34" charset="-120"/>
              </a:rPr>
              <a:t>Fast, interpretable.</a:t>
            </a:r>
            <a:endParaRPr lang="en-US" sz="1000" dirty="0"/>
          </a:p>
          <a:p>
            <a:pPr marL="0" indent="0">
              <a:buNone/>
            </a:pPr>
            <a:r>
              <a:rPr lang="en-US" sz="1000" b="1" dirty="0">
                <a:solidFill>
                  <a:srgbClr val="6B7390"/>
                </a:solidFill>
                <a:latin typeface="Calibri" pitchFamily="34" charset="0"/>
                <a:ea typeface="Calibri" pitchFamily="34" charset="-122"/>
                <a:cs typeface="Calibri" pitchFamily="34" charset="-120"/>
              </a:rPr>
              <a:t>LIMIT</a:t>
            </a:r>
            <a:endParaRPr lang="en-US" sz="1000" dirty="0"/>
          </a:p>
          <a:p>
            <a:pPr marL="0" indent="0">
              <a:buNone/>
            </a:pPr>
            <a:r>
              <a:rPr lang="en-US" sz="1200" dirty="0">
                <a:solidFill>
                  <a:schemeClr val="tx1"/>
                </a:solidFill>
                <a:latin typeface="Calibri" pitchFamily="34" charset="0"/>
                <a:ea typeface="Calibri" pitchFamily="34" charset="-122"/>
                <a:cs typeface="Calibri" pitchFamily="34" charset="-120"/>
              </a:rPr>
              <a:t>Ignores word order.</a:t>
            </a:r>
            <a:endParaRPr lang="en-US" sz="1000" dirty="0"/>
          </a:p>
        </p:txBody>
      </p:sp>
      <p:sp>
        <p:nvSpPr>
          <p:cNvPr id="7" name="Accuracy chip Logistic Regression"/>
          <p:cNvSpPr/>
          <p:nvPr/>
        </p:nvSpPr>
        <p:spPr>
          <a:xfrm>
            <a:off x="594360" y="3931920"/>
            <a:ext cx="1645920" cy="365760"/>
          </a:xfrm>
          <a:prstGeom prst="roundRect">
            <a:avLst>
              <a:gd name="adj" fmla="val 50000"/>
            </a:avLst>
          </a:prstGeom>
          <a:solidFill>
            <a:schemeClr val="accent1"/>
          </a:solidFill>
          <a:ln/>
        </p:spPr>
        <p:txBody>
          <a:bodyPr/>
          <a:lstStyle/>
          <a:p>
            <a:endParaRPr lang="en-IN"/>
          </a:p>
        </p:txBody>
      </p:sp>
      <p:sp>
        <p:nvSpPr>
          <p:cNvPr id="8" name="Text 5"/>
          <p:cNvSpPr txBox="1"/>
          <p:nvPr/>
        </p:nvSpPr>
        <p:spPr>
          <a:xfrm>
            <a:off x="594360" y="3931920"/>
            <a:ext cx="164592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Accuracy 78.8%</a:t>
            </a:r>
            <a:endParaRPr lang="en-US" sz="1200" dirty="0"/>
          </a:p>
        </p:txBody>
      </p:sp>
      <p:sp>
        <p:nvSpPr>
          <p:cNvPr id="9" name="Model card Naive Bayes"/>
          <p:cNvSpPr/>
          <p:nvPr/>
        </p:nvSpPr>
        <p:spPr>
          <a:xfrm>
            <a:off x="2560320" y="1188720"/>
            <a:ext cx="1920240" cy="3291840"/>
          </a:xfrm>
          <a:prstGeom prst="roundRect">
            <a:avLst>
              <a:gd name="adj" fmla="val 5714"/>
            </a:avLst>
          </a:prstGeom>
          <a:solidFill>
            <a:schemeClr val="bg2"/>
          </a:solidFill>
          <a:ln/>
        </p:spPr>
        <p:txBody>
          <a:bodyPr/>
          <a:lstStyle/>
          <a:p>
            <a:endParaRPr lang="en-IN"/>
          </a:p>
        </p:txBody>
      </p:sp>
      <p:sp>
        <p:nvSpPr>
          <p:cNvPr id="10" name="Text 7"/>
          <p:cNvSpPr txBox="1"/>
          <p:nvPr/>
        </p:nvSpPr>
        <p:spPr>
          <a:xfrm>
            <a:off x="2697480" y="1298448"/>
            <a:ext cx="1645920" cy="50292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Naive Bayes</a:t>
            </a:r>
            <a:endParaRPr lang="en-US" sz="1600" dirty="0"/>
          </a:p>
        </p:txBody>
      </p:sp>
      <p:sp>
        <p:nvSpPr>
          <p:cNvPr id="11" name="Text 8"/>
          <p:cNvSpPr txBox="1"/>
          <p:nvPr/>
        </p:nvSpPr>
        <p:spPr>
          <a:xfrm>
            <a:off x="2697480" y="1874520"/>
            <a:ext cx="1645920" cy="1920240"/>
          </a:xfrm>
          <a:prstGeom prst="rect">
            <a:avLst/>
          </a:prstGeom>
          <a:noFill/>
          <a:ln/>
        </p:spPr>
        <p:txBody>
          <a:bodyPr wrap="square" lIns="0" tIns="0" rIns="0" bIns="0" rtlCol="0" anchor="t"/>
          <a:lstStyle/>
          <a:p>
            <a:pPr marL="0" indent="0">
              <a:buNone/>
            </a:pPr>
            <a:r>
              <a:rPr lang="en-US" sz="1000" b="1" dirty="0">
                <a:solidFill>
                  <a:srgbClr val="6B7390"/>
                </a:solidFill>
                <a:latin typeface="Calibri" pitchFamily="34" charset="0"/>
                <a:ea typeface="Calibri" pitchFamily="34" charset="-122"/>
                <a:cs typeface="Calibri" pitchFamily="34" charset="-120"/>
              </a:rPr>
              <a:t>IDEA</a:t>
            </a:r>
            <a:endParaRPr lang="en-US" sz="1000" dirty="0"/>
          </a:p>
          <a:p>
            <a:pPr marL="0" indent="0">
              <a:spcAft>
                <a:spcPts val="600"/>
              </a:spcAft>
              <a:buNone/>
            </a:pPr>
            <a:r>
              <a:rPr lang="en-US" sz="1200" dirty="0">
                <a:solidFill>
                  <a:schemeClr val="tx1"/>
                </a:solidFill>
                <a:latin typeface="Calibri" pitchFamily="34" charset="0"/>
                <a:ea typeface="Calibri" pitchFamily="34" charset="-122"/>
                <a:cs typeface="Calibri" pitchFamily="34" charset="-120"/>
              </a:rPr>
              <a:t>Bayes' rule, assuming words are independent.</a:t>
            </a:r>
            <a:endParaRPr lang="en-US" sz="1000" dirty="0"/>
          </a:p>
          <a:p>
            <a:pPr marL="0" indent="0">
              <a:buNone/>
            </a:pPr>
            <a:r>
              <a:rPr lang="en-US" sz="1000" b="1" dirty="0">
                <a:solidFill>
                  <a:srgbClr val="6B7390"/>
                </a:solidFill>
                <a:latin typeface="Calibri" pitchFamily="34" charset="0"/>
                <a:ea typeface="Calibri" pitchFamily="34" charset="-122"/>
                <a:cs typeface="Calibri" pitchFamily="34" charset="-120"/>
              </a:rPr>
              <a:t>STRENGTH</a:t>
            </a:r>
            <a:endParaRPr lang="en-US" sz="1000" dirty="0"/>
          </a:p>
          <a:p>
            <a:pPr marL="0" indent="0">
              <a:spcAft>
                <a:spcPts val="600"/>
              </a:spcAft>
              <a:buNone/>
            </a:pPr>
            <a:r>
              <a:rPr lang="en-US" sz="1200" dirty="0">
                <a:solidFill>
                  <a:schemeClr val="tx1"/>
                </a:solidFill>
                <a:latin typeface="Calibri" pitchFamily="34" charset="0"/>
                <a:ea typeface="Calibri" pitchFamily="34" charset="-122"/>
                <a:cs typeface="Calibri" pitchFamily="34" charset="-120"/>
              </a:rPr>
              <a:t>Very fast baseline.</a:t>
            </a:r>
            <a:endParaRPr lang="en-US" sz="1000" dirty="0"/>
          </a:p>
          <a:p>
            <a:pPr marL="0" indent="0">
              <a:buNone/>
            </a:pPr>
            <a:r>
              <a:rPr lang="en-US" sz="1000" b="1" dirty="0">
                <a:solidFill>
                  <a:srgbClr val="6B7390"/>
                </a:solidFill>
                <a:latin typeface="Calibri" pitchFamily="34" charset="0"/>
                <a:ea typeface="Calibri" pitchFamily="34" charset="-122"/>
                <a:cs typeface="Calibri" pitchFamily="34" charset="-120"/>
              </a:rPr>
              <a:t>LIMIT</a:t>
            </a:r>
            <a:endParaRPr lang="en-US" sz="1000" dirty="0"/>
          </a:p>
          <a:p>
            <a:pPr marL="0" indent="0">
              <a:buNone/>
            </a:pPr>
            <a:r>
              <a:rPr lang="en-US" sz="1200" dirty="0">
                <a:solidFill>
                  <a:schemeClr val="tx1"/>
                </a:solidFill>
                <a:latin typeface="Calibri" pitchFamily="34" charset="0"/>
                <a:ea typeface="Calibri" pitchFamily="34" charset="-122"/>
                <a:cs typeface="Calibri" pitchFamily="34" charset="-120"/>
              </a:rPr>
              <a:t>Weak on Neutral (recall 0.32).</a:t>
            </a:r>
            <a:endParaRPr lang="en-US" sz="1000" dirty="0"/>
          </a:p>
        </p:txBody>
      </p:sp>
      <p:sp>
        <p:nvSpPr>
          <p:cNvPr id="12" name="Accuracy chip Naive Bayes"/>
          <p:cNvSpPr/>
          <p:nvPr/>
        </p:nvSpPr>
        <p:spPr>
          <a:xfrm>
            <a:off x="2697480" y="3931920"/>
            <a:ext cx="1645920" cy="365760"/>
          </a:xfrm>
          <a:prstGeom prst="roundRect">
            <a:avLst>
              <a:gd name="adj" fmla="val 50000"/>
            </a:avLst>
          </a:prstGeom>
          <a:solidFill>
            <a:schemeClr val="accent5"/>
          </a:solidFill>
          <a:ln/>
        </p:spPr>
        <p:txBody>
          <a:bodyPr/>
          <a:lstStyle/>
          <a:p>
            <a:endParaRPr lang="en-IN"/>
          </a:p>
        </p:txBody>
      </p:sp>
      <p:sp>
        <p:nvSpPr>
          <p:cNvPr id="13" name="Text 10"/>
          <p:cNvSpPr txBox="1"/>
          <p:nvPr/>
        </p:nvSpPr>
        <p:spPr>
          <a:xfrm>
            <a:off x="2697480" y="3931920"/>
            <a:ext cx="164592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Accuracy 68.3%</a:t>
            </a:r>
            <a:endParaRPr lang="en-US" sz="1200" dirty="0"/>
          </a:p>
        </p:txBody>
      </p:sp>
      <p:sp>
        <p:nvSpPr>
          <p:cNvPr id="14" name="Model card Random Forest"/>
          <p:cNvSpPr/>
          <p:nvPr/>
        </p:nvSpPr>
        <p:spPr>
          <a:xfrm>
            <a:off x="4663440" y="1188720"/>
            <a:ext cx="1920240" cy="3291840"/>
          </a:xfrm>
          <a:prstGeom prst="roundRect">
            <a:avLst>
              <a:gd name="adj" fmla="val 5714"/>
            </a:avLst>
          </a:prstGeom>
          <a:solidFill>
            <a:schemeClr val="bg2"/>
          </a:solidFill>
          <a:ln/>
        </p:spPr>
        <p:txBody>
          <a:bodyPr/>
          <a:lstStyle/>
          <a:p>
            <a:endParaRPr lang="en-IN"/>
          </a:p>
        </p:txBody>
      </p:sp>
      <p:sp>
        <p:nvSpPr>
          <p:cNvPr id="15" name="Text 12"/>
          <p:cNvSpPr txBox="1"/>
          <p:nvPr/>
        </p:nvSpPr>
        <p:spPr>
          <a:xfrm>
            <a:off x="4800600" y="1298448"/>
            <a:ext cx="1645920" cy="50292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Random Forest</a:t>
            </a:r>
            <a:endParaRPr lang="en-US" sz="1600" dirty="0"/>
          </a:p>
        </p:txBody>
      </p:sp>
      <p:sp>
        <p:nvSpPr>
          <p:cNvPr id="16" name="Text 13"/>
          <p:cNvSpPr txBox="1"/>
          <p:nvPr/>
        </p:nvSpPr>
        <p:spPr>
          <a:xfrm>
            <a:off x="4800600" y="1874520"/>
            <a:ext cx="1645920" cy="1920240"/>
          </a:xfrm>
          <a:prstGeom prst="rect">
            <a:avLst/>
          </a:prstGeom>
          <a:noFill/>
          <a:ln/>
        </p:spPr>
        <p:txBody>
          <a:bodyPr wrap="square" lIns="0" tIns="0" rIns="0" bIns="0" rtlCol="0" anchor="t"/>
          <a:lstStyle/>
          <a:p>
            <a:pPr marL="0" indent="0">
              <a:buNone/>
            </a:pPr>
            <a:r>
              <a:rPr lang="en-US" sz="1000" b="1" dirty="0">
                <a:solidFill>
                  <a:srgbClr val="6B7390"/>
                </a:solidFill>
                <a:latin typeface="Calibri" pitchFamily="34" charset="0"/>
                <a:ea typeface="Calibri" pitchFamily="34" charset="-122"/>
                <a:cs typeface="Calibri" pitchFamily="34" charset="-120"/>
              </a:rPr>
              <a:t>IDEA</a:t>
            </a:r>
            <a:endParaRPr lang="en-US" sz="1000" dirty="0"/>
          </a:p>
          <a:p>
            <a:pPr marL="0" indent="0">
              <a:spcAft>
                <a:spcPts val="600"/>
              </a:spcAft>
              <a:buNone/>
            </a:pPr>
            <a:r>
              <a:rPr lang="en-US" sz="1200" dirty="0">
                <a:solidFill>
                  <a:schemeClr val="tx1"/>
                </a:solidFill>
                <a:latin typeface="Calibri" pitchFamily="34" charset="0"/>
                <a:ea typeface="Calibri" pitchFamily="34" charset="-122"/>
                <a:cs typeface="Calibri" pitchFamily="34" charset="-120"/>
              </a:rPr>
              <a:t>Many decision trees vote on the label.</a:t>
            </a:r>
            <a:endParaRPr lang="en-US" sz="1000" dirty="0"/>
          </a:p>
          <a:p>
            <a:pPr marL="0" indent="0">
              <a:buNone/>
            </a:pPr>
            <a:r>
              <a:rPr lang="en-US" sz="1000" b="1" dirty="0">
                <a:solidFill>
                  <a:srgbClr val="6B7390"/>
                </a:solidFill>
                <a:latin typeface="Calibri" pitchFamily="34" charset="0"/>
                <a:ea typeface="Calibri" pitchFamily="34" charset="-122"/>
                <a:cs typeface="Calibri" pitchFamily="34" charset="-120"/>
              </a:rPr>
              <a:t>STRENGTH</a:t>
            </a:r>
            <a:endParaRPr lang="en-US" sz="1000" dirty="0"/>
          </a:p>
          <a:p>
            <a:pPr marL="0" indent="0">
              <a:spcAft>
                <a:spcPts val="600"/>
              </a:spcAft>
              <a:buNone/>
            </a:pPr>
            <a:r>
              <a:rPr lang="en-US" sz="1200" dirty="0">
                <a:solidFill>
                  <a:schemeClr val="tx1"/>
                </a:solidFill>
                <a:latin typeface="Calibri" pitchFamily="34" charset="0"/>
                <a:ea typeface="Calibri" pitchFamily="34" charset="-122"/>
                <a:cs typeface="Calibri" pitchFamily="34" charset="-120"/>
              </a:rPr>
              <a:t>Captures non-linear patterns.</a:t>
            </a:r>
            <a:endParaRPr lang="en-US" sz="1000" dirty="0"/>
          </a:p>
          <a:p>
            <a:pPr marL="0" indent="0">
              <a:buNone/>
            </a:pPr>
            <a:r>
              <a:rPr lang="en-US" sz="1000" b="1" dirty="0">
                <a:solidFill>
                  <a:srgbClr val="6B7390"/>
                </a:solidFill>
                <a:latin typeface="Calibri" pitchFamily="34" charset="0"/>
                <a:ea typeface="Calibri" pitchFamily="34" charset="-122"/>
                <a:cs typeface="Calibri" pitchFamily="34" charset="-120"/>
              </a:rPr>
              <a:t>LIMIT</a:t>
            </a:r>
            <a:endParaRPr lang="en-US" sz="1000" dirty="0"/>
          </a:p>
          <a:p>
            <a:pPr marL="0" indent="0">
              <a:buNone/>
            </a:pPr>
            <a:r>
              <a:rPr lang="en-US" sz="1200" dirty="0">
                <a:solidFill>
                  <a:schemeClr val="tx1"/>
                </a:solidFill>
                <a:latin typeface="Calibri" pitchFamily="34" charset="0"/>
                <a:ea typeface="Calibri" pitchFamily="34" charset="-122"/>
                <a:cs typeface="Calibri" pitchFamily="34" charset="-120"/>
              </a:rPr>
              <a:t>Slow on sparse text (35 s).</a:t>
            </a:r>
            <a:endParaRPr lang="en-US" sz="1000" dirty="0"/>
          </a:p>
        </p:txBody>
      </p:sp>
      <p:sp>
        <p:nvSpPr>
          <p:cNvPr id="17" name="Accuracy chip Random Forest"/>
          <p:cNvSpPr/>
          <p:nvPr/>
        </p:nvSpPr>
        <p:spPr>
          <a:xfrm>
            <a:off x="4800600" y="3931920"/>
            <a:ext cx="1645920" cy="365760"/>
          </a:xfrm>
          <a:prstGeom prst="roundRect">
            <a:avLst>
              <a:gd name="adj" fmla="val 50000"/>
            </a:avLst>
          </a:prstGeom>
          <a:solidFill>
            <a:schemeClr val="accent4"/>
          </a:solidFill>
          <a:ln/>
        </p:spPr>
        <p:txBody>
          <a:bodyPr/>
          <a:lstStyle/>
          <a:p>
            <a:endParaRPr lang="en-IN"/>
          </a:p>
        </p:txBody>
      </p:sp>
      <p:sp>
        <p:nvSpPr>
          <p:cNvPr id="18" name="Text 15"/>
          <p:cNvSpPr txBox="1"/>
          <p:nvPr/>
        </p:nvSpPr>
        <p:spPr>
          <a:xfrm>
            <a:off x="4800600" y="3931920"/>
            <a:ext cx="164592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Accuracy 73.3%</a:t>
            </a:r>
            <a:endParaRPr lang="en-US" sz="1200" dirty="0"/>
          </a:p>
        </p:txBody>
      </p:sp>
      <p:sp>
        <p:nvSpPr>
          <p:cNvPr id="19" name="Model card XGBoost"/>
          <p:cNvSpPr/>
          <p:nvPr/>
        </p:nvSpPr>
        <p:spPr>
          <a:xfrm>
            <a:off x="6766560" y="1188720"/>
            <a:ext cx="1920240" cy="3291840"/>
          </a:xfrm>
          <a:prstGeom prst="roundRect">
            <a:avLst>
              <a:gd name="adj" fmla="val 5714"/>
            </a:avLst>
          </a:prstGeom>
          <a:solidFill>
            <a:schemeClr val="bg2"/>
          </a:solidFill>
          <a:ln/>
        </p:spPr>
        <p:txBody>
          <a:bodyPr/>
          <a:lstStyle/>
          <a:p>
            <a:endParaRPr lang="en-IN"/>
          </a:p>
        </p:txBody>
      </p:sp>
      <p:sp>
        <p:nvSpPr>
          <p:cNvPr id="20" name="Text 17"/>
          <p:cNvSpPr txBox="1"/>
          <p:nvPr/>
        </p:nvSpPr>
        <p:spPr>
          <a:xfrm>
            <a:off x="6903720" y="1298448"/>
            <a:ext cx="1645920" cy="50292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XGBoost</a:t>
            </a:r>
            <a:endParaRPr lang="en-US" sz="1600" dirty="0"/>
          </a:p>
        </p:txBody>
      </p:sp>
      <p:sp>
        <p:nvSpPr>
          <p:cNvPr id="21" name="Text 18"/>
          <p:cNvSpPr txBox="1"/>
          <p:nvPr/>
        </p:nvSpPr>
        <p:spPr>
          <a:xfrm>
            <a:off x="6903720" y="1874520"/>
            <a:ext cx="1645920" cy="1920240"/>
          </a:xfrm>
          <a:prstGeom prst="rect">
            <a:avLst/>
          </a:prstGeom>
          <a:noFill/>
          <a:ln/>
        </p:spPr>
        <p:txBody>
          <a:bodyPr wrap="square" lIns="0" tIns="0" rIns="0" bIns="0" rtlCol="0" anchor="t"/>
          <a:lstStyle/>
          <a:p>
            <a:pPr marL="0" indent="0">
              <a:buNone/>
            </a:pPr>
            <a:r>
              <a:rPr lang="en-US" sz="1000" b="1" dirty="0">
                <a:solidFill>
                  <a:srgbClr val="6B7390"/>
                </a:solidFill>
                <a:latin typeface="Calibri" pitchFamily="34" charset="0"/>
                <a:ea typeface="Calibri" pitchFamily="34" charset="-122"/>
                <a:cs typeface="Calibri" pitchFamily="34" charset="-120"/>
              </a:rPr>
              <a:t>IDEA</a:t>
            </a:r>
            <a:endParaRPr lang="en-US" sz="1000" dirty="0"/>
          </a:p>
          <a:p>
            <a:pPr marL="0" indent="0">
              <a:spcAft>
                <a:spcPts val="600"/>
              </a:spcAft>
              <a:buNone/>
            </a:pPr>
            <a:r>
              <a:rPr lang="en-US" sz="1200" dirty="0">
                <a:solidFill>
                  <a:schemeClr val="tx1"/>
                </a:solidFill>
                <a:latin typeface="Calibri" pitchFamily="34" charset="0"/>
                <a:ea typeface="Calibri" pitchFamily="34" charset="-122"/>
                <a:cs typeface="Calibri" pitchFamily="34" charset="-120"/>
              </a:rPr>
              <a:t>Trees built in turn, each fixing the last one's errors.</a:t>
            </a:r>
            <a:endParaRPr lang="en-US" sz="1000" dirty="0"/>
          </a:p>
          <a:p>
            <a:pPr marL="0" indent="0">
              <a:buNone/>
            </a:pPr>
            <a:r>
              <a:rPr lang="en-US" sz="1000" b="1" dirty="0">
                <a:solidFill>
                  <a:srgbClr val="6B7390"/>
                </a:solidFill>
                <a:latin typeface="Calibri" pitchFamily="34" charset="0"/>
                <a:ea typeface="Calibri" pitchFamily="34" charset="-122"/>
                <a:cs typeface="Calibri" pitchFamily="34" charset="-120"/>
              </a:rPr>
              <a:t>STRENGTH</a:t>
            </a:r>
            <a:endParaRPr lang="en-US" sz="1000" dirty="0"/>
          </a:p>
          <a:p>
            <a:pPr marL="0" indent="0">
              <a:spcAft>
                <a:spcPts val="600"/>
              </a:spcAft>
              <a:buNone/>
            </a:pPr>
            <a:r>
              <a:rPr lang="en-US" sz="1200" dirty="0">
                <a:solidFill>
                  <a:schemeClr val="tx1"/>
                </a:solidFill>
                <a:latin typeface="Calibri" pitchFamily="34" charset="0"/>
                <a:ea typeface="Calibri" pitchFamily="34" charset="-122"/>
                <a:cs typeface="Calibri" pitchFamily="34" charset="-120"/>
              </a:rPr>
              <a:t>Strong on tabular data.</a:t>
            </a:r>
            <a:endParaRPr lang="en-US" sz="1000" dirty="0"/>
          </a:p>
          <a:p>
            <a:pPr marL="0" indent="0">
              <a:buNone/>
            </a:pPr>
            <a:r>
              <a:rPr lang="en-US" sz="1000" b="1" dirty="0">
                <a:solidFill>
                  <a:srgbClr val="6B7390"/>
                </a:solidFill>
                <a:latin typeface="Calibri" pitchFamily="34" charset="0"/>
                <a:ea typeface="Calibri" pitchFamily="34" charset="-122"/>
                <a:cs typeface="Calibri" pitchFamily="34" charset="-120"/>
              </a:rPr>
              <a:t>LIMIT</a:t>
            </a:r>
            <a:endParaRPr lang="en-US" sz="1000" dirty="0"/>
          </a:p>
          <a:p>
            <a:pPr marL="0" indent="0">
              <a:buNone/>
            </a:pPr>
            <a:r>
              <a:rPr lang="en-US" sz="1200" dirty="0">
                <a:solidFill>
                  <a:schemeClr val="tx1"/>
                </a:solidFill>
                <a:latin typeface="Calibri" pitchFamily="34" charset="0"/>
                <a:ea typeface="Calibri" pitchFamily="34" charset="-122"/>
                <a:cs typeface="Calibri" pitchFamily="34" charset="-120"/>
              </a:rPr>
              <a:t>Slowest here (91 s), no gain.</a:t>
            </a:r>
            <a:endParaRPr lang="en-US" sz="1000" dirty="0"/>
          </a:p>
        </p:txBody>
      </p:sp>
      <p:sp>
        <p:nvSpPr>
          <p:cNvPr id="22" name="Accuracy chip XGBoost"/>
          <p:cNvSpPr/>
          <p:nvPr/>
        </p:nvSpPr>
        <p:spPr>
          <a:xfrm>
            <a:off x="6903720" y="3931920"/>
            <a:ext cx="1645920" cy="365760"/>
          </a:xfrm>
          <a:prstGeom prst="roundRect">
            <a:avLst>
              <a:gd name="adj" fmla="val 50000"/>
            </a:avLst>
          </a:prstGeom>
          <a:solidFill>
            <a:schemeClr val="accent3"/>
          </a:solidFill>
          <a:ln/>
        </p:spPr>
        <p:txBody>
          <a:bodyPr/>
          <a:lstStyle/>
          <a:p>
            <a:endParaRPr lang="en-IN"/>
          </a:p>
        </p:txBody>
      </p:sp>
      <p:sp>
        <p:nvSpPr>
          <p:cNvPr id="23" name="Text 20"/>
          <p:cNvSpPr txBox="1"/>
          <p:nvPr/>
        </p:nvSpPr>
        <p:spPr>
          <a:xfrm>
            <a:off x="6903720" y="3931920"/>
            <a:ext cx="1645920" cy="36576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Accuracy 72.9%</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The LSTM network</a:t>
            </a:r>
            <a:endParaRPr lang="en-US" sz="3200" dirty="0"/>
          </a:p>
        </p:txBody>
      </p:sp>
      <p:sp>
        <p:nvSpPr>
          <p:cNvPr id="4" name="Layer 1 Input"/>
          <p:cNvSpPr/>
          <p:nvPr/>
        </p:nvSpPr>
        <p:spPr>
          <a:xfrm>
            <a:off x="457200" y="1188720"/>
            <a:ext cx="1051560" cy="1371600"/>
          </a:xfrm>
          <a:prstGeom prst="roundRect">
            <a:avLst>
              <a:gd name="adj" fmla="val 8696"/>
            </a:avLst>
          </a:prstGeom>
          <a:solidFill>
            <a:schemeClr val="tx2"/>
          </a:solidFill>
          <a:ln/>
        </p:spPr>
        <p:txBody>
          <a:bodyPr/>
          <a:lstStyle/>
          <a:p>
            <a:endParaRPr lang="en-IN"/>
          </a:p>
        </p:txBody>
      </p:sp>
      <p:sp>
        <p:nvSpPr>
          <p:cNvPr id="5" name="Text 2"/>
          <p:cNvSpPr txBox="1"/>
          <p:nvPr/>
        </p:nvSpPr>
        <p:spPr>
          <a:xfrm>
            <a:off x="502920" y="1188720"/>
            <a:ext cx="960120" cy="13716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Input</a:t>
            </a:r>
            <a:endParaRPr lang="en-US" sz="1300" dirty="0"/>
          </a:p>
          <a:p>
            <a:pPr marL="0" indent="0" algn="ctr">
              <a:buNone/>
            </a:pPr>
            <a:r>
              <a:rPr lang="en-US" sz="1100" dirty="0">
                <a:solidFill>
                  <a:schemeClr val="bg1"/>
                </a:solidFill>
                <a:latin typeface="Calibri" pitchFamily="34" charset="0"/>
                <a:ea typeface="Calibri" pitchFamily="34" charset="-122"/>
                <a:cs typeface="Calibri" pitchFamily="34" charset="-120"/>
              </a:rPr>
              <a:t>27 word ids</a:t>
            </a:r>
            <a:endParaRPr lang="en-US" sz="1300" dirty="0"/>
          </a:p>
        </p:txBody>
      </p:sp>
      <p:sp>
        <p:nvSpPr>
          <p:cNvPr id="6" name="Layer arrow 1"/>
          <p:cNvSpPr/>
          <p:nvPr/>
        </p:nvSpPr>
        <p:spPr>
          <a:xfrm>
            <a:off x="1517904" y="1773936"/>
            <a:ext cx="128016" cy="201168"/>
          </a:xfrm>
          <a:prstGeom prst="rightArrow">
            <a:avLst/>
          </a:prstGeom>
          <a:solidFill>
            <a:schemeClr val="accent5"/>
          </a:solidFill>
          <a:ln/>
        </p:spPr>
        <p:txBody>
          <a:bodyPr/>
          <a:lstStyle/>
          <a:p>
            <a:endParaRPr lang="en-IN"/>
          </a:p>
        </p:txBody>
      </p:sp>
      <p:sp>
        <p:nvSpPr>
          <p:cNvPr id="7" name="Layer 2 Embedding"/>
          <p:cNvSpPr/>
          <p:nvPr/>
        </p:nvSpPr>
        <p:spPr>
          <a:xfrm>
            <a:off x="1655064" y="1188720"/>
            <a:ext cx="1051560" cy="1371600"/>
          </a:xfrm>
          <a:prstGeom prst="roundRect">
            <a:avLst>
              <a:gd name="adj" fmla="val 8696"/>
            </a:avLst>
          </a:prstGeom>
          <a:solidFill>
            <a:schemeClr val="accent4"/>
          </a:solidFill>
          <a:ln/>
        </p:spPr>
        <p:txBody>
          <a:bodyPr/>
          <a:lstStyle/>
          <a:p>
            <a:endParaRPr lang="en-IN"/>
          </a:p>
        </p:txBody>
      </p:sp>
      <p:sp>
        <p:nvSpPr>
          <p:cNvPr id="8" name="Text 5"/>
          <p:cNvSpPr txBox="1"/>
          <p:nvPr/>
        </p:nvSpPr>
        <p:spPr>
          <a:xfrm>
            <a:off x="1700784" y="1188720"/>
            <a:ext cx="960120" cy="13716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Embedding</a:t>
            </a:r>
            <a:endParaRPr lang="en-US" sz="1300" dirty="0"/>
          </a:p>
          <a:p>
            <a:pPr marL="0" indent="0" algn="ctr">
              <a:buNone/>
            </a:pPr>
            <a:r>
              <a:rPr lang="en-US" sz="1100" dirty="0">
                <a:solidFill>
                  <a:schemeClr val="bg1"/>
                </a:solidFill>
                <a:latin typeface="Calibri" pitchFamily="34" charset="0"/>
                <a:ea typeface="Calibri" pitchFamily="34" charset="-122"/>
                <a:cs typeface="Calibri" pitchFamily="34" charset="-120"/>
              </a:rPr>
              <a:t>64 numbers per word</a:t>
            </a:r>
            <a:endParaRPr lang="en-US" sz="1300" dirty="0"/>
          </a:p>
        </p:txBody>
      </p:sp>
      <p:sp>
        <p:nvSpPr>
          <p:cNvPr id="9" name="Layer arrow 2"/>
          <p:cNvSpPr/>
          <p:nvPr/>
        </p:nvSpPr>
        <p:spPr>
          <a:xfrm>
            <a:off x="2715768" y="1773936"/>
            <a:ext cx="128016" cy="201168"/>
          </a:xfrm>
          <a:prstGeom prst="rightArrow">
            <a:avLst/>
          </a:prstGeom>
          <a:solidFill>
            <a:schemeClr val="accent5"/>
          </a:solidFill>
          <a:ln/>
        </p:spPr>
        <p:txBody>
          <a:bodyPr/>
          <a:lstStyle/>
          <a:p>
            <a:endParaRPr lang="en-IN"/>
          </a:p>
        </p:txBody>
      </p:sp>
      <p:sp>
        <p:nvSpPr>
          <p:cNvPr id="10" name="Layer 3 BiLSTM"/>
          <p:cNvSpPr/>
          <p:nvPr/>
        </p:nvSpPr>
        <p:spPr>
          <a:xfrm>
            <a:off x="2852928" y="1188720"/>
            <a:ext cx="1051560" cy="1371600"/>
          </a:xfrm>
          <a:prstGeom prst="roundRect">
            <a:avLst>
              <a:gd name="adj" fmla="val 8696"/>
            </a:avLst>
          </a:prstGeom>
          <a:solidFill>
            <a:schemeClr val="accent1"/>
          </a:solidFill>
          <a:ln/>
        </p:spPr>
        <p:txBody>
          <a:bodyPr/>
          <a:lstStyle/>
          <a:p>
            <a:endParaRPr lang="en-IN"/>
          </a:p>
        </p:txBody>
      </p:sp>
      <p:sp>
        <p:nvSpPr>
          <p:cNvPr id="11" name="Text 8"/>
          <p:cNvSpPr txBox="1"/>
          <p:nvPr/>
        </p:nvSpPr>
        <p:spPr>
          <a:xfrm>
            <a:off x="2898648" y="1188720"/>
            <a:ext cx="960120" cy="13716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BiLSTM</a:t>
            </a:r>
            <a:endParaRPr lang="en-US" sz="1300" dirty="0"/>
          </a:p>
          <a:p>
            <a:pPr marL="0" indent="0" algn="ctr">
              <a:buNone/>
            </a:pPr>
            <a:r>
              <a:rPr lang="en-US" sz="1100" dirty="0">
                <a:solidFill>
                  <a:schemeClr val="bg1"/>
                </a:solidFill>
                <a:latin typeface="Calibri" pitchFamily="34" charset="0"/>
                <a:ea typeface="Calibri" pitchFamily="34" charset="-122"/>
                <a:cs typeface="Calibri" pitchFamily="34" charset="-120"/>
              </a:rPr>
              <a:t>64 units, both directions</a:t>
            </a:r>
            <a:endParaRPr lang="en-US" sz="1300" dirty="0"/>
          </a:p>
        </p:txBody>
      </p:sp>
      <p:sp>
        <p:nvSpPr>
          <p:cNvPr id="12" name="Layer arrow 3"/>
          <p:cNvSpPr/>
          <p:nvPr/>
        </p:nvSpPr>
        <p:spPr>
          <a:xfrm>
            <a:off x="3913632" y="1773936"/>
            <a:ext cx="128016" cy="201168"/>
          </a:xfrm>
          <a:prstGeom prst="rightArrow">
            <a:avLst/>
          </a:prstGeom>
          <a:solidFill>
            <a:schemeClr val="accent5"/>
          </a:solidFill>
          <a:ln/>
        </p:spPr>
        <p:txBody>
          <a:bodyPr/>
          <a:lstStyle/>
          <a:p>
            <a:endParaRPr lang="en-IN"/>
          </a:p>
        </p:txBody>
      </p:sp>
      <p:sp>
        <p:nvSpPr>
          <p:cNvPr id="13" name="Layer 4 Dropout"/>
          <p:cNvSpPr/>
          <p:nvPr/>
        </p:nvSpPr>
        <p:spPr>
          <a:xfrm>
            <a:off x="4050792" y="1188720"/>
            <a:ext cx="1051560" cy="1371600"/>
          </a:xfrm>
          <a:prstGeom prst="roundRect">
            <a:avLst>
              <a:gd name="adj" fmla="val 8696"/>
            </a:avLst>
          </a:prstGeom>
          <a:solidFill>
            <a:schemeClr val="accent5"/>
          </a:solidFill>
          <a:ln/>
        </p:spPr>
        <p:txBody>
          <a:bodyPr/>
          <a:lstStyle/>
          <a:p>
            <a:endParaRPr lang="en-IN"/>
          </a:p>
        </p:txBody>
      </p:sp>
      <p:sp>
        <p:nvSpPr>
          <p:cNvPr id="14" name="Text 11"/>
          <p:cNvSpPr txBox="1"/>
          <p:nvPr/>
        </p:nvSpPr>
        <p:spPr>
          <a:xfrm>
            <a:off x="4096512" y="1188720"/>
            <a:ext cx="960120" cy="13716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Dropout</a:t>
            </a:r>
            <a:endParaRPr lang="en-US" sz="1300" dirty="0"/>
          </a:p>
          <a:p>
            <a:pPr marL="0" indent="0" algn="ctr">
              <a:buNone/>
            </a:pPr>
            <a:r>
              <a:rPr lang="en-US" sz="1100" dirty="0">
                <a:solidFill>
                  <a:schemeClr val="bg1"/>
                </a:solidFill>
                <a:latin typeface="Calibri" pitchFamily="34" charset="0"/>
                <a:ea typeface="Calibri" pitchFamily="34" charset="-122"/>
                <a:cs typeface="Calibri" pitchFamily="34" charset="-120"/>
              </a:rPr>
              <a:t>0.4</a:t>
            </a:r>
            <a:endParaRPr lang="en-US" sz="1300" dirty="0"/>
          </a:p>
        </p:txBody>
      </p:sp>
      <p:sp>
        <p:nvSpPr>
          <p:cNvPr id="15" name="Layer arrow 4"/>
          <p:cNvSpPr/>
          <p:nvPr/>
        </p:nvSpPr>
        <p:spPr>
          <a:xfrm>
            <a:off x="5111496" y="1773936"/>
            <a:ext cx="128016" cy="201168"/>
          </a:xfrm>
          <a:prstGeom prst="rightArrow">
            <a:avLst/>
          </a:prstGeom>
          <a:solidFill>
            <a:schemeClr val="accent5"/>
          </a:solidFill>
          <a:ln/>
        </p:spPr>
        <p:txBody>
          <a:bodyPr/>
          <a:lstStyle/>
          <a:p>
            <a:endParaRPr lang="en-IN"/>
          </a:p>
        </p:txBody>
      </p:sp>
      <p:sp>
        <p:nvSpPr>
          <p:cNvPr id="16" name="Layer 5 Dense"/>
          <p:cNvSpPr/>
          <p:nvPr/>
        </p:nvSpPr>
        <p:spPr>
          <a:xfrm>
            <a:off x="5248656" y="1188720"/>
            <a:ext cx="1051560" cy="1371600"/>
          </a:xfrm>
          <a:prstGeom prst="roundRect">
            <a:avLst>
              <a:gd name="adj" fmla="val 8696"/>
            </a:avLst>
          </a:prstGeom>
          <a:solidFill>
            <a:schemeClr val="accent3"/>
          </a:solidFill>
          <a:ln/>
        </p:spPr>
        <p:txBody>
          <a:bodyPr/>
          <a:lstStyle/>
          <a:p>
            <a:endParaRPr lang="en-IN"/>
          </a:p>
        </p:txBody>
      </p:sp>
      <p:sp>
        <p:nvSpPr>
          <p:cNvPr id="17" name="Text 14"/>
          <p:cNvSpPr txBox="1"/>
          <p:nvPr/>
        </p:nvSpPr>
        <p:spPr>
          <a:xfrm>
            <a:off x="5294376" y="1188720"/>
            <a:ext cx="960120" cy="137160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Dense</a:t>
            </a:r>
            <a:endParaRPr lang="en-US" sz="1300" dirty="0"/>
          </a:p>
          <a:p>
            <a:pPr marL="0" indent="0" algn="ctr">
              <a:buNone/>
            </a:pPr>
            <a:r>
              <a:rPr lang="en-US" sz="1100" dirty="0">
                <a:solidFill>
                  <a:schemeClr val="tx1"/>
                </a:solidFill>
                <a:latin typeface="Calibri" pitchFamily="34" charset="0"/>
                <a:ea typeface="Calibri" pitchFamily="34" charset="-122"/>
                <a:cs typeface="Calibri" pitchFamily="34" charset="-120"/>
              </a:rPr>
              <a:t>32 units</a:t>
            </a:r>
            <a:endParaRPr lang="en-US" sz="1300" dirty="0"/>
          </a:p>
        </p:txBody>
      </p:sp>
      <p:sp>
        <p:nvSpPr>
          <p:cNvPr id="18" name="Layer arrow 5"/>
          <p:cNvSpPr/>
          <p:nvPr/>
        </p:nvSpPr>
        <p:spPr>
          <a:xfrm>
            <a:off x="6309360" y="1773936"/>
            <a:ext cx="128016" cy="201168"/>
          </a:xfrm>
          <a:prstGeom prst="rightArrow">
            <a:avLst/>
          </a:prstGeom>
          <a:solidFill>
            <a:schemeClr val="accent5"/>
          </a:solidFill>
          <a:ln/>
        </p:spPr>
        <p:txBody>
          <a:bodyPr/>
          <a:lstStyle/>
          <a:p>
            <a:endParaRPr lang="en-IN"/>
          </a:p>
        </p:txBody>
      </p:sp>
      <p:sp>
        <p:nvSpPr>
          <p:cNvPr id="19" name="Layer 6 Dropout"/>
          <p:cNvSpPr/>
          <p:nvPr/>
        </p:nvSpPr>
        <p:spPr>
          <a:xfrm>
            <a:off x="6446520" y="1188720"/>
            <a:ext cx="1051560" cy="1371600"/>
          </a:xfrm>
          <a:prstGeom prst="roundRect">
            <a:avLst>
              <a:gd name="adj" fmla="val 8696"/>
            </a:avLst>
          </a:prstGeom>
          <a:solidFill>
            <a:schemeClr val="accent5"/>
          </a:solidFill>
          <a:ln/>
        </p:spPr>
        <p:txBody>
          <a:bodyPr/>
          <a:lstStyle/>
          <a:p>
            <a:endParaRPr lang="en-IN"/>
          </a:p>
        </p:txBody>
      </p:sp>
      <p:sp>
        <p:nvSpPr>
          <p:cNvPr id="20" name="Text 17"/>
          <p:cNvSpPr txBox="1"/>
          <p:nvPr/>
        </p:nvSpPr>
        <p:spPr>
          <a:xfrm>
            <a:off x="6492240" y="1188720"/>
            <a:ext cx="960120" cy="13716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Dropout</a:t>
            </a:r>
            <a:endParaRPr lang="en-US" sz="1300" dirty="0"/>
          </a:p>
          <a:p>
            <a:pPr marL="0" indent="0" algn="ctr">
              <a:buNone/>
            </a:pPr>
            <a:r>
              <a:rPr lang="en-US" sz="1100" dirty="0">
                <a:solidFill>
                  <a:schemeClr val="bg1"/>
                </a:solidFill>
                <a:latin typeface="Calibri" pitchFamily="34" charset="0"/>
                <a:ea typeface="Calibri" pitchFamily="34" charset="-122"/>
                <a:cs typeface="Calibri" pitchFamily="34" charset="-120"/>
              </a:rPr>
              <a:t>0.2</a:t>
            </a:r>
            <a:endParaRPr lang="en-US" sz="1300" dirty="0"/>
          </a:p>
        </p:txBody>
      </p:sp>
      <p:sp>
        <p:nvSpPr>
          <p:cNvPr id="21" name="Layer arrow 6"/>
          <p:cNvSpPr/>
          <p:nvPr/>
        </p:nvSpPr>
        <p:spPr>
          <a:xfrm>
            <a:off x="7507224" y="1773936"/>
            <a:ext cx="128016" cy="201168"/>
          </a:xfrm>
          <a:prstGeom prst="rightArrow">
            <a:avLst/>
          </a:prstGeom>
          <a:solidFill>
            <a:schemeClr val="accent5"/>
          </a:solidFill>
          <a:ln/>
        </p:spPr>
        <p:txBody>
          <a:bodyPr/>
          <a:lstStyle/>
          <a:p>
            <a:endParaRPr lang="en-IN"/>
          </a:p>
        </p:txBody>
      </p:sp>
      <p:sp>
        <p:nvSpPr>
          <p:cNvPr id="22" name="Layer 7 Softmax"/>
          <p:cNvSpPr/>
          <p:nvPr/>
        </p:nvSpPr>
        <p:spPr>
          <a:xfrm>
            <a:off x="7644384" y="1188720"/>
            <a:ext cx="1051560" cy="1371600"/>
          </a:xfrm>
          <a:prstGeom prst="roundRect">
            <a:avLst>
              <a:gd name="adj" fmla="val 8696"/>
            </a:avLst>
          </a:prstGeom>
          <a:solidFill>
            <a:schemeClr val="accent2"/>
          </a:solidFill>
          <a:ln/>
        </p:spPr>
        <p:txBody>
          <a:bodyPr/>
          <a:lstStyle/>
          <a:p>
            <a:endParaRPr lang="en-IN"/>
          </a:p>
        </p:txBody>
      </p:sp>
      <p:sp>
        <p:nvSpPr>
          <p:cNvPr id="23" name="Text 20"/>
          <p:cNvSpPr txBox="1"/>
          <p:nvPr/>
        </p:nvSpPr>
        <p:spPr>
          <a:xfrm>
            <a:off x="7690104" y="1188720"/>
            <a:ext cx="960120" cy="1371600"/>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Softmax</a:t>
            </a:r>
            <a:endParaRPr lang="en-US" sz="1300" dirty="0"/>
          </a:p>
          <a:p>
            <a:pPr marL="0" indent="0" algn="ctr">
              <a:buNone/>
            </a:pPr>
            <a:r>
              <a:rPr lang="en-US" sz="1100" dirty="0">
                <a:solidFill>
                  <a:schemeClr val="bg1"/>
                </a:solidFill>
                <a:latin typeface="Calibri" pitchFamily="34" charset="0"/>
                <a:ea typeface="Calibri" pitchFamily="34" charset="-122"/>
                <a:cs typeface="Calibri" pitchFamily="34" charset="-120"/>
              </a:rPr>
              <a:t>3 classes</a:t>
            </a:r>
            <a:endParaRPr lang="en-US" sz="1300" dirty="0"/>
          </a:p>
        </p:txBody>
      </p:sp>
      <p:sp>
        <p:nvSpPr>
          <p:cNvPr id="24" name="Card Embedding"/>
          <p:cNvSpPr/>
          <p:nvPr/>
        </p:nvSpPr>
        <p:spPr>
          <a:xfrm>
            <a:off x="457200" y="2834640"/>
            <a:ext cx="2560320" cy="1645920"/>
          </a:xfrm>
          <a:prstGeom prst="roundRect">
            <a:avLst>
              <a:gd name="adj" fmla="val 6667"/>
            </a:avLst>
          </a:prstGeom>
          <a:solidFill>
            <a:schemeClr val="bg2"/>
          </a:solidFill>
          <a:ln/>
        </p:spPr>
        <p:txBody>
          <a:bodyPr/>
          <a:lstStyle/>
          <a:p>
            <a:endParaRPr lang="en-IN"/>
          </a:p>
        </p:txBody>
      </p:sp>
      <p:sp>
        <p:nvSpPr>
          <p:cNvPr id="25" name="Text 22"/>
          <p:cNvSpPr txBox="1"/>
          <p:nvPr/>
        </p:nvSpPr>
        <p:spPr>
          <a:xfrm>
            <a:off x="640080" y="2944368"/>
            <a:ext cx="219456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Embedding</a:t>
            </a:r>
            <a:endParaRPr lang="en-US" sz="1500" dirty="0"/>
          </a:p>
        </p:txBody>
      </p:sp>
      <p:sp>
        <p:nvSpPr>
          <p:cNvPr id="26" name="Text 23"/>
          <p:cNvSpPr txBox="1"/>
          <p:nvPr/>
        </p:nvSpPr>
        <p:spPr>
          <a:xfrm>
            <a:off x="640080" y="3273552"/>
            <a:ext cx="2194560" cy="111556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Each word id becomes a learned 64-number vector, so similar words sit close together.</a:t>
            </a:r>
            <a:endParaRPr lang="en-US" sz="1300" dirty="0"/>
          </a:p>
        </p:txBody>
      </p:sp>
      <p:sp>
        <p:nvSpPr>
          <p:cNvPr id="27" name="Card Bidirectional LSTM"/>
          <p:cNvSpPr/>
          <p:nvPr/>
        </p:nvSpPr>
        <p:spPr>
          <a:xfrm>
            <a:off x="3291840" y="2834640"/>
            <a:ext cx="2560320" cy="1645920"/>
          </a:xfrm>
          <a:prstGeom prst="roundRect">
            <a:avLst>
              <a:gd name="adj" fmla="val 6667"/>
            </a:avLst>
          </a:prstGeom>
          <a:solidFill>
            <a:schemeClr val="bg2"/>
          </a:solidFill>
          <a:ln/>
        </p:spPr>
        <p:txBody>
          <a:bodyPr/>
          <a:lstStyle/>
          <a:p>
            <a:endParaRPr lang="en-IN"/>
          </a:p>
        </p:txBody>
      </p:sp>
      <p:sp>
        <p:nvSpPr>
          <p:cNvPr id="28" name="Text 25"/>
          <p:cNvSpPr txBox="1"/>
          <p:nvPr/>
        </p:nvSpPr>
        <p:spPr>
          <a:xfrm>
            <a:off x="3474720" y="2944368"/>
            <a:ext cx="219456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Bidirectional LSTM</a:t>
            </a:r>
            <a:endParaRPr lang="en-US" sz="1500" dirty="0"/>
          </a:p>
        </p:txBody>
      </p:sp>
      <p:sp>
        <p:nvSpPr>
          <p:cNvPr id="29" name="Text 26"/>
          <p:cNvSpPr txBox="1"/>
          <p:nvPr/>
        </p:nvSpPr>
        <p:spPr>
          <a:xfrm>
            <a:off x="3474720" y="3273552"/>
            <a:ext cx="2194560" cy="111556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Reads the tweet left to right and right to left, so each word sees both sides.</a:t>
            </a:r>
            <a:endParaRPr lang="en-US" sz="1300" dirty="0"/>
          </a:p>
        </p:txBody>
      </p:sp>
      <p:sp>
        <p:nvSpPr>
          <p:cNvPr id="30" name="Card Dropout and early stopping"/>
          <p:cNvSpPr/>
          <p:nvPr/>
        </p:nvSpPr>
        <p:spPr>
          <a:xfrm>
            <a:off x="6126480" y="2834640"/>
            <a:ext cx="2560320" cy="1645920"/>
          </a:xfrm>
          <a:prstGeom prst="roundRect">
            <a:avLst>
              <a:gd name="adj" fmla="val 6667"/>
            </a:avLst>
          </a:prstGeom>
          <a:solidFill>
            <a:schemeClr val="bg2"/>
          </a:solidFill>
          <a:ln/>
        </p:spPr>
        <p:txBody>
          <a:bodyPr/>
          <a:lstStyle/>
          <a:p>
            <a:endParaRPr lang="en-IN"/>
          </a:p>
        </p:txBody>
      </p:sp>
      <p:sp>
        <p:nvSpPr>
          <p:cNvPr id="31" name="Text 28"/>
          <p:cNvSpPr txBox="1"/>
          <p:nvPr/>
        </p:nvSpPr>
        <p:spPr>
          <a:xfrm>
            <a:off x="6309360" y="2944368"/>
            <a:ext cx="219456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Dropout and early stopping</a:t>
            </a:r>
            <a:endParaRPr lang="en-US" sz="1500" dirty="0"/>
          </a:p>
        </p:txBody>
      </p:sp>
      <p:sp>
        <p:nvSpPr>
          <p:cNvPr id="32" name="Text 29"/>
          <p:cNvSpPr txBox="1"/>
          <p:nvPr/>
        </p:nvSpPr>
        <p:spPr>
          <a:xfrm>
            <a:off x="6309360" y="3273552"/>
            <a:ext cx="2194560" cy="111556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Dropout switches off random units; early stopping halts training once validation stops improving.</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How an LSTM remembers</a:t>
            </a:r>
            <a:endParaRPr lang="en-US" sz="3200" dirty="0"/>
          </a:p>
        </p:txBody>
      </p:sp>
      <p:sp>
        <p:nvSpPr>
          <p:cNvPr id="4" name="Gate Cell state"/>
          <p:cNvSpPr/>
          <p:nvPr/>
        </p:nvSpPr>
        <p:spPr>
          <a:xfrm>
            <a:off x="457200" y="1188720"/>
            <a:ext cx="3931920" cy="731520"/>
          </a:xfrm>
          <a:prstGeom prst="roundRect">
            <a:avLst>
              <a:gd name="adj" fmla="val 15000"/>
            </a:avLst>
          </a:prstGeom>
          <a:solidFill>
            <a:schemeClr val="bg2"/>
          </a:solidFill>
          <a:ln/>
        </p:spPr>
        <p:txBody>
          <a:bodyPr/>
          <a:lstStyle/>
          <a:p>
            <a:endParaRPr lang="en-IN"/>
          </a:p>
        </p:txBody>
      </p:sp>
      <p:sp>
        <p:nvSpPr>
          <p:cNvPr id="5" name="Gate dot 1"/>
          <p:cNvSpPr/>
          <p:nvPr/>
        </p:nvSpPr>
        <p:spPr>
          <a:xfrm>
            <a:off x="594360" y="1344168"/>
            <a:ext cx="420624" cy="420624"/>
          </a:xfrm>
          <a:prstGeom prst="ellipse">
            <a:avLst/>
          </a:prstGeom>
          <a:solidFill>
            <a:schemeClr val="tx2"/>
          </a:solidFill>
          <a:ln/>
        </p:spPr>
        <p:txBody>
          <a:bodyPr/>
          <a:lstStyle/>
          <a:p>
            <a:endParaRPr lang="en-IN"/>
          </a:p>
        </p:txBody>
      </p:sp>
      <p:sp>
        <p:nvSpPr>
          <p:cNvPr id="6" name="Text 3"/>
          <p:cNvSpPr txBox="1"/>
          <p:nvPr/>
        </p:nvSpPr>
        <p:spPr>
          <a:xfrm>
            <a:off x="1188720" y="1261872"/>
            <a:ext cx="310896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Cell state</a:t>
            </a:r>
            <a:endParaRPr lang="en-US" sz="1500" dirty="0"/>
          </a:p>
        </p:txBody>
      </p:sp>
      <p:sp>
        <p:nvSpPr>
          <p:cNvPr id="7" name="Text 4"/>
          <p:cNvSpPr txBox="1"/>
          <p:nvPr/>
        </p:nvSpPr>
        <p:spPr>
          <a:xfrm>
            <a:off x="1188720" y="1554480"/>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Long-term memory carried along the sentence</a:t>
            </a:r>
            <a:endParaRPr lang="en-US" sz="1300" dirty="0"/>
          </a:p>
        </p:txBody>
      </p:sp>
      <p:sp>
        <p:nvSpPr>
          <p:cNvPr id="8" name="Gate Forget gate"/>
          <p:cNvSpPr/>
          <p:nvPr/>
        </p:nvSpPr>
        <p:spPr>
          <a:xfrm>
            <a:off x="457200" y="2029968"/>
            <a:ext cx="3931920" cy="731520"/>
          </a:xfrm>
          <a:prstGeom prst="roundRect">
            <a:avLst>
              <a:gd name="adj" fmla="val 15000"/>
            </a:avLst>
          </a:prstGeom>
          <a:solidFill>
            <a:schemeClr val="bg2"/>
          </a:solidFill>
          <a:ln/>
        </p:spPr>
        <p:txBody>
          <a:bodyPr/>
          <a:lstStyle/>
          <a:p>
            <a:endParaRPr lang="en-IN"/>
          </a:p>
        </p:txBody>
      </p:sp>
      <p:sp>
        <p:nvSpPr>
          <p:cNvPr id="9" name="Gate dot 2"/>
          <p:cNvSpPr/>
          <p:nvPr/>
        </p:nvSpPr>
        <p:spPr>
          <a:xfrm>
            <a:off x="594360" y="2185416"/>
            <a:ext cx="420624" cy="420624"/>
          </a:xfrm>
          <a:prstGeom prst="ellipse">
            <a:avLst/>
          </a:prstGeom>
          <a:solidFill>
            <a:schemeClr val="accent2"/>
          </a:solidFill>
          <a:ln/>
        </p:spPr>
        <p:txBody>
          <a:bodyPr/>
          <a:lstStyle/>
          <a:p>
            <a:endParaRPr lang="en-IN"/>
          </a:p>
        </p:txBody>
      </p:sp>
      <p:sp>
        <p:nvSpPr>
          <p:cNvPr id="10" name="Text 7"/>
          <p:cNvSpPr txBox="1"/>
          <p:nvPr/>
        </p:nvSpPr>
        <p:spPr>
          <a:xfrm>
            <a:off x="1188720" y="2103120"/>
            <a:ext cx="310896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Forget gate</a:t>
            </a:r>
            <a:endParaRPr lang="en-US" sz="1500" dirty="0"/>
          </a:p>
        </p:txBody>
      </p:sp>
      <p:sp>
        <p:nvSpPr>
          <p:cNvPr id="11" name="Text 8"/>
          <p:cNvSpPr txBox="1"/>
          <p:nvPr/>
        </p:nvSpPr>
        <p:spPr>
          <a:xfrm>
            <a:off x="1188720" y="2395728"/>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Decides what old information to drop</a:t>
            </a:r>
            <a:endParaRPr lang="en-US" sz="1300" dirty="0"/>
          </a:p>
        </p:txBody>
      </p:sp>
      <p:sp>
        <p:nvSpPr>
          <p:cNvPr id="12" name="Gate Input gate"/>
          <p:cNvSpPr/>
          <p:nvPr/>
        </p:nvSpPr>
        <p:spPr>
          <a:xfrm>
            <a:off x="457200" y="2871216"/>
            <a:ext cx="3931920" cy="731520"/>
          </a:xfrm>
          <a:prstGeom prst="roundRect">
            <a:avLst>
              <a:gd name="adj" fmla="val 15000"/>
            </a:avLst>
          </a:prstGeom>
          <a:solidFill>
            <a:schemeClr val="bg2"/>
          </a:solidFill>
          <a:ln/>
        </p:spPr>
        <p:txBody>
          <a:bodyPr/>
          <a:lstStyle/>
          <a:p>
            <a:endParaRPr lang="en-IN"/>
          </a:p>
        </p:txBody>
      </p:sp>
      <p:sp>
        <p:nvSpPr>
          <p:cNvPr id="13" name="Gate dot 3"/>
          <p:cNvSpPr/>
          <p:nvPr/>
        </p:nvSpPr>
        <p:spPr>
          <a:xfrm>
            <a:off x="594360" y="3026664"/>
            <a:ext cx="420624" cy="420624"/>
          </a:xfrm>
          <a:prstGeom prst="ellipse">
            <a:avLst/>
          </a:prstGeom>
          <a:solidFill>
            <a:schemeClr val="accent1"/>
          </a:solidFill>
          <a:ln/>
        </p:spPr>
        <p:txBody>
          <a:bodyPr/>
          <a:lstStyle/>
          <a:p>
            <a:endParaRPr lang="en-IN"/>
          </a:p>
        </p:txBody>
      </p:sp>
      <p:sp>
        <p:nvSpPr>
          <p:cNvPr id="14" name="Text 11"/>
          <p:cNvSpPr txBox="1"/>
          <p:nvPr/>
        </p:nvSpPr>
        <p:spPr>
          <a:xfrm>
            <a:off x="1188720" y="2944368"/>
            <a:ext cx="310896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Input gate</a:t>
            </a:r>
            <a:endParaRPr lang="en-US" sz="1500" dirty="0"/>
          </a:p>
        </p:txBody>
      </p:sp>
      <p:sp>
        <p:nvSpPr>
          <p:cNvPr id="15" name="Text 12"/>
          <p:cNvSpPr txBox="1"/>
          <p:nvPr/>
        </p:nvSpPr>
        <p:spPr>
          <a:xfrm>
            <a:off x="1188720" y="3236976"/>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Decides what new information to store</a:t>
            </a:r>
            <a:endParaRPr lang="en-US" sz="1300" dirty="0"/>
          </a:p>
        </p:txBody>
      </p:sp>
      <p:sp>
        <p:nvSpPr>
          <p:cNvPr id="16" name="Gate Output gate"/>
          <p:cNvSpPr/>
          <p:nvPr/>
        </p:nvSpPr>
        <p:spPr>
          <a:xfrm>
            <a:off x="457200" y="3712464"/>
            <a:ext cx="3931920" cy="731520"/>
          </a:xfrm>
          <a:prstGeom prst="roundRect">
            <a:avLst>
              <a:gd name="adj" fmla="val 15000"/>
            </a:avLst>
          </a:prstGeom>
          <a:solidFill>
            <a:schemeClr val="bg2"/>
          </a:solidFill>
          <a:ln/>
        </p:spPr>
        <p:txBody>
          <a:bodyPr/>
          <a:lstStyle/>
          <a:p>
            <a:endParaRPr lang="en-IN"/>
          </a:p>
        </p:txBody>
      </p:sp>
      <p:sp>
        <p:nvSpPr>
          <p:cNvPr id="17" name="Gate dot 4"/>
          <p:cNvSpPr/>
          <p:nvPr/>
        </p:nvSpPr>
        <p:spPr>
          <a:xfrm>
            <a:off x="594360" y="3867912"/>
            <a:ext cx="420624" cy="420624"/>
          </a:xfrm>
          <a:prstGeom prst="ellipse">
            <a:avLst/>
          </a:prstGeom>
          <a:solidFill>
            <a:schemeClr val="accent4"/>
          </a:solidFill>
          <a:ln/>
        </p:spPr>
        <p:txBody>
          <a:bodyPr/>
          <a:lstStyle/>
          <a:p>
            <a:endParaRPr lang="en-IN"/>
          </a:p>
        </p:txBody>
      </p:sp>
      <p:sp>
        <p:nvSpPr>
          <p:cNvPr id="18" name="Text 15"/>
          <p:cNvSpPr txBox="1"/>
          <p:nvPr/>
        </p:nvSpPr>
        <p:spPr>
          <a:xfrm>
            <a:off x="1188720" y="3785616"/>
            <a:ext cx="310896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Output gate</a:t>
            </a:r>
            <a:endParaRPr lang="en-US" sz="1500" dirty="0"/>
          </a:p>
        </p:txBody>
      </p:sp>
      <p:sp>
        <p:nvSpPr>
          <p:cNvPr id="19" name="Text 16"/>
          <p:cNvSpPr txBox="1"/>
          <p:nvPr/>
        </p:nvSpPr>
        <p:spPr>
          <a:xfrm>
            <a:off x="1188720" y="4078224"/>
            <a:ext cx="3108960" cy="2743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Decides what to pass on as output</a:t>
            </a:r>
            <a:endParaRPr lang="en-US" sz="1300" dirty="0"/>
          </a:p>
        </p:txBody>
      </p:sp>
      <p:sp>
        <p:nvSpPr>
          <p:cNvPr id="20" name="Bidirectional card"/>
          <p:cNvSpPr/>
          <p:nvPr/>
        </p:nvSpPr>
        <p:spPr>
          <a:xfrm>
            <a:off x="4663440" y="1188720"/>
            <a:ext cx="4023360" cy="3291840"/>
          </a:xfrm>
          <a:prstGeom prst="roundRect">
            <a:avLst>
              <a:gd name="adj" fmla="val 3333"/>
            </a:avLst>
          </a:prstGeom>
          <a:solidFill>
            <a:schemeClr val="bg2"/>
          </a:solidFill>
          <a:ln/>
        </p:spPr>
        <p:txBody>
          <a:bodyPr/>
          <a:lstStyle/>
          <a:p>
            <a:endParaRPr lang="en-IN"/>
          </a:p>
        </p:txBody>
      </p:sp>
      <p:sp>
        <p:nvSpPr>
          <p:cNvPr id="21" name="Text 18"/>
          <p:cNvSpPr txBox="1"/>
          <p:nvPr/>
        </p:nvSpPr>
        <p:spPr>
          <a:xfrm>
            <a:off x="4892040" y="1298448"/>
            <a:ext cx="36576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Reading both ways</a:t>
            </a:r>
            <a:endParaRPr lang="en-US" sz="1600" dirty="0"/>
          </a:p>
        </p:txBody>
      </p:sp>
      <p:sp>
        <p:nvSpPr>
          <p:cNvPr id="22" name="Token the"/>
          <p:cNvSpPr/>
          <p:nvPr/>
        </p:nvSpPr>
        <p:spPr>
          <a:xfrm>
            <a:off x="4892040" y="1828800"/>
            <a:ext cx="676656" cy="411480"/>
          </a:xfrm>
          <a:prstGeom prst="roundRect">
            <a:avLst>
              <a:gd name="adj" fmla="val 17778"/>
            </a:avLst>
          </a:prstGeom>
          <a:solidFill>
            <a:srgbClr val="FFFFFF"/>
          </a:solidFill>
          <a:ln w="9525">
            <a:solidFill>
              <a:srgbClr val="C9CEE3"/>
            </a:solidFill>
            <a:prstDash val="solid"/>
          </a:ln>
        </p:spPr>
        <p:txBody>
          <a:bodyPr/>
          <a:lstStyle/>
          <a:p>
            <a:endParaRPr lang="en-IN"/>
          </a:p>
        </p:txBody>
      </p:sp>
      <p:sp>
        <p:nvSpPr>
          <p:cNvPr id="23" name="Text 20"/>
          <p:cNvSpPr txBox="1"/>
          <p:nvPr/>
        </p:nvSpPr>
        <p:spPr>
          <a:xfrm>
            <a:off x="4892040" y="1828800"/>
            <a:ext cx="676656" cy="41148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the</a:t>
            </a:r>
            <a:endParaRPr lang="en-US" sz="1200" dirty="0"/>
          </a:p>
        </p:txBody>
      </p:sp>
      <p:sp>
        <p:nvSpPr>
          <p:cNvPr id="24" name="Token service"/>
          <p:cNvSpPr/>
          <p:nvPr/>
        </p:nvSpPr>
        <p:spPr>
          <a:xfrm>
            <a:off x="5641848" y="1828800"/>
            <a:ext cx="676656" cy="411480"/>
          </a:xfrm>
          <a:prstGeom prst="roundRect">
            <a:avLst>
              <a:gd name="adj" fmla="val 17778"/>
            </a:avLst>
          </a:prstGeom>
          <a:solidFill>
            <a:srgbClr val="FFFFFF"/>
          </a:solidFill>
          <a:ln w="9525">
            <a:solidFill>
              <a:srgbClr val="C9CEE3"/>
            </a:solidFill>
            <a:prstDash val="solid"/>
          </a:ln>
        </p:spPr>
        <p:txBody>
          <a:bodyPr/>
          <a:lstStyle/>
          <a:p>
            <a:endParaRPr lang="en-IN"/>
          </a:p>
        </p:txBody>
      </p:sp>
      <p:sp>
        <p:nvSpPr>
          <p:cNvPr id="25" name="Text 22"/>
          <p:cNvSpPr txBox="1"/>
          <p:nvPr/>
        </p:nvSpPr>
        <p:spPr>
          <a:xfrm>
            <a:off x="5641848" y="1828800"/>
            <a:ext cx="676656" cy="41148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service</a:t>
            </a:r>
            <a:endParaRPr lang="en-US" sz="1200" dirty="0"/>
          </a:p>
        </p:txBody>
      </p:sp>
      <p:sp>
        <p:nvSpPr>
          <p:cNvPr id="26" name="Token was"/>
          <p:cNvSpPr/>
          <p:nvPr/>
        </p:nvSpPr>
        <p:spPr>
          <a:xfrm>
            <a:off x="6391656" y="1828800"/>
            <a:ext cx="676656" cy="411480"/>
          </a:xfrm>
          <a:prstGeom prst="roundRect">
            <a:avLst>
              <a:gd name="adj" fmla="val 17778"/>
            </a:avLst>
          </a:prstGeom>
          <a:solidFill>
            <a:srgbClr val="FFFFFF"/>
          </a:solidFill>
          <a:ln w="9525">
            <a:solidFill>
              <a:srgbClr val="C9CEE3"/>
            </a:solidFill>
            <a:prstDash val="solid"/>
          </a:ln>
        </p:spPr>
        <p:txBody>
          <a:bodyPr/>
          <a:lstStyle/>
          <a:p>
            <a:endParaRPr lang="en-IN"/>
          </a:p>
        </p:txBody>
      </p:sp>
      <p:sp>
        <p:nvSpPr>
          <p:cNvPr id="27" name="Text 24"/>
          <p:cNvSpPr txBox="1"/>
          <p:nvPr/>
        </p:nvSpPr>
        <p:spPr>
          <a:xfrm>
            <a:off x="6391656" y="1828800"/>
            <a:ext cx="676656" cy="41148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was</a:t>
            </a:r>
            <a:endParaRPr lang="en-US" sz="1200" dirty="0"/>
          </a:p>
        </p:txBody>
      </p:sp>
      <p:sp>
        <p:nvSpPr>
          <p:cNvPr id="28" name="Token not"/>
          <p:cNvSpPr/>
          <p:nvPr/>
        </p:nvSpPr>
        <p:spPr>
          <a:xfrm>
            <a:off x="7141464" y="1828800"/>
            <a:ext cx="676656" cy="411480"/>
          </a:xfrm>
          <a:prstGeom prst="roundRect">
            <a:avLst>
              <a:gd name="adj" fmla="val 17778"/>
            </a:avLst>
          </a:prstGeom>
          <a:solidFill>
            <a:schemeClr val="accent4"/>
          </a:solidFill>
          <a:ln w="9525">
            <a:solidFill>
              <a:srgbClr val="C9CEE3"/>
            </a:solidFill>
            <a:prstDash val="solid"/>
          </a:ln>
        </p:spPr>
        <p:txBody>
          <a:bodyPr/>
          <a:lstStyle/>
          <a:p>
            <a:endParaRPr lang="en-IN"/>
          </a:p>
        </p:txBody>
      </p:sp>
      <p:sp>
        <p:nvSpPr>
          <p:cNvPr id="29" name="Text 26"/>
          <p:cNvSpPr txBox="1"/>
          <p:nvPr/>
        </p:nvSpPr>
        <p:spPr>
          <a:xfrm>
            <a:off x="7141464" y="1828800"/>
            <a:ext cx="676656" cy="41148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not</a:t>
            </a:r>
            <a:endParaRPr lang="en-US" sz="1200" dirty="0"/>
          </a:p>
        </p:txBody>
      </p:sp>
      <p:sp>
        <p:nvSpPr>
          <p:cNvPr id="30" name="Token good"/>
          <p:cNvSpPr/>
          <p:nvPr/>
        </p:nvSpPr>
        <p:spPr>
          <a:xfrm>
            <a:off x="7891272" y="1828800"/>
            <a:ext cx="676656" cy="411480"/>
          </a:xfrm>
          <a:prstGeom prst="roundRect">
            <a:avLst>
              <a:gd name="adj" fmla="val 17778"/>
            </a:avLst>
          </a:prstGeom>
          <a:solidFill>
            <a:schemeClr val="accent4"/>
          </a:solidFill>
          <a:ln w="9525">
            <a:solidFill>
              <a:srgbClr val="C9CEE3"/>
            </a:solidFill>
            <a:prstDash val="solid"/>
          </a:ln>
        </p:spPr>
        <p:txBody>
          <a:bodyPr/>
          <a:lstStyle/>
          <a:p>
            <a:endParaRPr lang="en-IN"/>
          </a:p>
        </p:txBody>
      </p:sp>
      <p:sp>
        <p:nvSpPr>
          <p:cNvPr id="31" name="Text 28"/>
          <p:cNvSpPr txBox="1"/>
          <p:nvPr/>
        </p:nvSpPr>
        <p:spPr>
          <a:xfrm>
            <a:off x="7891272" y="1828800"/>
            <a:ext cx="676656" cy="41148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good</a:t>
            </a:r>
            <a:endParaRPr lang="en-US" sz="1200" dirty="0"/>
          </a:p>
        </p:txBody>
      </p:sp>
      <p:sp>
        <p:nvSpPr>
          <p:cNvPr id="32" name="Text 29"/>
          <p:cNvSpPr txBox="1"/>
          <p:nvPr/>
        </p:nvSpPr>
        <p:spPr>
          <a:xfrm>
            <a:off x="4892040" y="2423160"/>
            <a:ext cx="3657600" cy="4572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Forward pass →  remembers “not” when it reaches “good”</a:t>
            </a:r>
            <a:endParaRPr lang="en-US" sz="1300" dirty="0"/>
          </a:p>
        </p:txBody>
      </p:sp>
      <p:sp>
        <p:nvSpPr>
          <p:cNvPr id="33" name="Text 30"/>
          <p:cNvSpPr txBox="1"/>
          <p:nvPr/>
        </p:nvSpPr>
        <p:spPr>
          <a:xfrm>
            <a:off x="4892040" y="2926080"/>
            <a:ext cx="3657600" cy="4572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 Backward pass  sees “good” while reading “not”</a:t>
            </a:r>
            <a:endParaRPr lang="en-US" sz="1300" dirty="0"/>
          </a:p>
        </p:txBody>
      </p:sp>
      <p:sp>
        <p:nvSpPr>
          <p:cNvPr id="34" name="Text 31"/>
          <p:cNvSpPr txBox="1"/>
          <p:nvPr/>
        </p:nvSpPr>
        <p:spPr>
          <a:xfrm>
            <a:off x="4892040" y="3520440"/>
            <a:ext cx="3657600" cy="731520"/>
          </a:xfrm>
          <a:prstGeom prst="rect">
            <a:avLst/>
          </a:prstGeom>
          <a:noFill/>
          <a:ln/>
        </p:spPr>
        <p:txBody>
          <a:bodyPr wrap="square" lIns="0" tIns="0" rIns="0" bIns="0" rtlCol="0" anchor="t"/>
          <a:lstStyle/>
          <a:p>
            <a:pPr marL="0" indent="0">
              <a:buNone/>
            </a:pPr>
            <a:r>
              <a:rPr lang="en-US" sz="1400" b="1" dirty="0">
                <a:solidFill>
                  <a:schemeClr val="accent1"/>
                </a:solidFill>
                <a:latin typeface="Calibri" pitchFamily="34" charset="0"/>
                <a:ea typeface="Calibri" pitchFamily="34" charset="-122"/>
                <a:cs typeface="Calibri" pitchFamily="34" charset="-120"/>
              </a:rPr>
              <a:t>Together the two passes give the network the full context of every word.</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How we measure performance</a:t>
            </a:r>
            <a:endParaRPr lang="en-US" sz="3200" dirty="0"/>
          </a:p>
        </p:txBody>
      </p:sp>
      <p:sp>
        <p:nvSpPr>
          <p:cNvPr id="4" name="Metric Accuracy"/>
          <p:cNvSpPr/>
          <p:nvPr/>
        </p:nvSpPr>
        <p:spPr>
          <a:xfrm>
            <a:off x="457200" y="1188720"/>
            <a:ext cx="2697480" cy="1554480"/>
          </a:xfrm>
          <a:prstGeom prst="roundRect">
            <a:avLst>
              <a:gd name="adj" fmla="val 7059"/>
            </a:avLst>
          </a:prstGeom>
          <a:solidFill>
            <a:schemeClr val="bg2"/>
          </a:solidFill>
          <a:ln/>
        </p:spPr>
        <p:txBody>
          <a:bodyPr/>
          <a:lstStyle/>
          <a:p>
            <a:endParaRPr lang="en-IN"/>
          </a:p>
        </p:txBody>
      </p:sp>
      <p:sp>
        <p:nvSpPr>
          <p:cNvPr id="5" name="Text 2"/>
          <p:cNvSpPr txBox="1"/>
          <p:nvPr/>
        </p:nvSpPr>
        <p:spPr>
          <a:xfrm>
            <a:off x="640080" y="1298448"/>
            <a:ext cx="22860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Accuracy</a:t>
            </a:r>
            <a:endParaRPr lang="en-US" sz="1600" dirty="0"/>
          </a:p>
        </p:txBody>
      </p:sp>
      <p:sp>
        <p:nvSpPr>
          <p:cNvPr id="6" name="Text 3"/>
          <p:cNvSpPr txBox="1"/>
          <p:nvPr/>
        </p:nvSpPr>
        <p:spPr>
          <a:xfrm>
            <a:off x="640080" y="1645920"/>
            <a:ext cx="2331720" cy="365760"/>
          </a:xfrm>
          <a:prstGeom prst="rect">
            <a:avLst/>
          </a:prstGeom>
          <a:noFill/>
          <a:ln/>
        </p:spPr>
        <p:txBody>
          <a:bodyPr wrap="square" lIns="0" tIns="0" rIns="0" bIns="0" rtlCol="0" anchor="t"/>
          <a:lstStyle/>
          <a:p>
            <a:pPr marL="0" indent="0">
              <a:buNone/>
            </a:pPr>
            <a:r>
              <a:rPr lang="en-US" sz="1800" b="1" dirty="0">
                <a:solidFill>
                  <a:schemeClr val="accent4"/>
                </a:solidFill>
                <a:latin typeface="Cambria" pitchFamily="34" charset="0"/>
                <a:ea typeface="Cambria" pitchFamily="34" charset="-122"/>
                <a:cs typeface="Cambria" pitchFamily="34" charset="-120"/>
              </a:rPr>
              <a:t>correct / all</a:t>
            </a:r>
            <a:endParaRPr lang="en-US" sz="1800" dirty="0"/>
          </a:p>
        </p:txBody>
      </p:sp>
      <p:sp>
        <p:nvSpPr>
          <p:cNvPr id="7" name="Text 4"/>
          <p:cNvSpPr txBox="1"/>
          <p:nvPr/>
        </p:nvSpPr>
        <p:spPr>
          <a:xfrm>
            <a:off x="640080" y="2103120"/>
            <a:ext cx="2331720" cy="54864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Share of all predictions that are right</a:t>
            </a:r>
            <a:endParaRPr lang="en-US" sz="1300" dirty="0"/>
          </a:p>
        </p:txBody>
      </p:sp>
      <p:sp>
        <p:nvSpPr>
          <p:cNvPr id="8" name="Metric Precision"/>
          <p:cNvSpPr/>
          <p:nvPr/>
        </p:nvSpPr>
        <p:spPr>
          <a:xfrm>
            <a:off x="3337560" y="1188720"/>
            <a:ext cx="2697480" cy="1554480"/>
          </a:xfrm>
          <a:prstGeom prst="roundRect">
            <a:avLst>
              <a:gd name="adj" fmla="val 7059"/>
            </a:avLst>
          </a:prstGeom>
          <a:solidFill>
            <a:schemeClr val="bg2"/>
          </a:solidFill>
          <a:ln/>
        </p:spPr>
        <p:txBody>
          <a:bodyPr/>
          <a:lstStyle/>
          <a:p>
            <a:endParaRPr lang="en-IN"/>
          </a:p>
        </p:txBody>
      </p:sp>
      <p:sp>
        <p:nvSpPr>
          <p:cNvPr id="9" name="Text 6"/>
          <p:cNvSpPr txBox="1"/>
          <p:nvPr/>
        </p:nvSpPr>
        <p:spPr>
          <a:xfrm>
            <a:off x="3520440" y="1298448"/>
            <a:ext cx="22860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Precision</a:t>
            </a:r>
            <a:endParaRPr lang="en-US" sz="1600" dirty="0"/>
          </a:p>
        </p:txBody>
      </p:sp>
      <p:sp>
        <p:nvSpPr>
          <p:cNvPr id="10" name="Text 7"/>
          <p:cNvSpPr txBox="1"/>
          <p:nvPr/>
        </p:nvSpPr>
        <p:spPr>
          <a:xfrm>
            <a:off x="3520440" y="1645920"/>
            <a:ext cx="2331720" cy="365760"/>
          </a:xfrm>
          <a:prstGeom prst="rect">
            <a:avLst/>
          </a:prstGeom>
          <a:noFill/>
          <a:ln/>
        </p:spPr>
        <p:txBody>
          <a:bodyPr wrap="square" lIns="0" tIns="0" rIns="0" bIns="0" rtlCol="0" anchor="t"/>
          <a:lstStyle/>
          <a:p>
            <a:pPr marL="0" indent="0">
              <a:buNone/>
            </a:pPr>
            <a:r>
              <a:rPr lang="en-US" sz="1800" b="1" dirty="0">
                <a:solidFill>
                  <a:schemeClr val="accent4"/>
                </a:solidFill>
                <a:latin typeface="Cambria" pitchFamily="34" charset="0"/>
                <a:ea typeface="Cambria" pitchFamily="34" charset="-122"/>
                <a:cs typeface="Cambria" pitchFamily="34" charset="-120"/>
              </a:rPr>
              <a:t>TP / (TP + FP)</a:t>
            </a:r>
            <a:endParaRPr lang="en-US" sz="1800" dirty="0"/>
          </a:p>
        </p:txBody>
      </p:sp>
      <p:sp>
        <p:nvSpPr>
          <p:cNvPr id="11" name="Text 8"/>
          <p:cNvSpPr txBox="1"/>
          <p:nvPr/>
        </p:nvSpPr>
        <p:spPr>
          <a:xfrm>
            <a:off x="3520440" y="2103120"/>
            <a:ext cx="2331720" cy="54864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Of tweets labelled X, how many are really X</a:t>
            </a:r>
            <a:endParaRPr lang="en-US" sz="1300" dirty="0"/>
          </a:p>
        </p:txBody>
      </p:sp>
      <p:sp>
        <p:nvSpPr>
          <p:cNvPr id="12" name="Metric Recall"/>
          <p:cNvSpPr/>
          <p:nvPr/>
        </p:nvSpPr>
        <p:spPr>
          <a:xfrm>
            <a:off x="457200" y="2880360"/>
            <a:ext cx="2697480" cy="1554480"/>
          </a:xfrm>
          <a:prstGeom prst="roundRect">
            <a:avLst>
              <a:gd name="adj" fmla="val 7059"/>
            </a:avLst>
          </a:prstGeom>
          <a:solidFill>
            <a:schemeClr val="bg2"/>
          </a:solidFill>
          <a:ln/>
        </p:spPr>
        <p:txBody>
          <a:bodyPr/>
          <a:lstStyle/>
          <a:p>
            <a:endParaRPr lang="en-IN"/>
          </a:p>
        </p:txBody>
      </p:sp>
      <p:sp>
        <p:nvSpPr>
          <p:cNvPr id="13" name="Text 10"/>
          <p:cNvSpPr txBox="1"/>
          <p:nvPr/>
        </p:nvSpPr>
        <p:spPr>
          <a:xfrm>
            <a:off x="640080" y="2990088"/>
            <a:ext cx="22860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Recall</a:t>
            </a:r>
            <a:endParaRPr lang="en-US" sz="1600" dirty="0"/>
          </a:p>
        </p:txBody>
      </p:sp>
      <p:sp>
        <p:nvSpPr>
          <p:cNvPr id="14" name="Text 11"/>
          <p:cNvSpPr txBox="1"/>
          <p:nvPr/>
        </p:nvSpPr>
        <p:spPr>
          <a:xfrm>
            <a:off x="640080" y="3337560"/>
            <a:ext cx="2331720" cy="365760"/>
          </a:xfrm>
          <a:prstGeom prst="rect">
            <a:avLst/>
          </a:prstGeom>
          <a:noFill/>
          <a:ln/>
        </p:spPr>
        <p:txBody>
          <a:bodyPr wrap="square" lIns="0" tIns="0" rIns="0" bIns="0" rtlCol="0" anchor="t"/>
          <a:lstStyle/>
          <a:p>
            <a:pPr marL="0" indent="0">
              <a:buNone/>
            </a:pPr>
            <a:r>
              <a:rPr lang="en-US" sz="1800" b="1" dirty="0">
                <a:solidFill>
                  <a:schemeClr val="accent4"/>
                </a:solidFill>
                <a:latin typeface="Cambria" pitchFamily="34" charset="0"/>
                <a:ea typeface="Cambria" pitchFamily="34" charset="-122"/>
                <a:cs typeface="Cambria" pitchFamily="34" charset="-120"/>
              </a:rPr>
              <a:t>TP / (TP + FN)</a:t>
            </a:r>
            <a:endParaRPr lang="en-US" sz="1800" dirty="0"/>
          </a:p>
        </p:txBody>
      </p:sp>
      <p:sp>
        <p:nvSpPr>
          <p:cNvPr id="15" name="Text 12"/>
          <p:cNvSpPr txBox="1"/>
          <p:nvPr/>
        </p:nvSpPr>
        <p:spPr>
          <a:xfrm>
            <a:off x="640080" y="3794760"/>
            <a:ext cx="2331720" cy="54864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Of real X tweets, how many were found</a:t>
            </a:r>
            <a:endParaRPr lang="en-US" sz="1300" dirty="0"/>
          </a:p>
        </p:txBody>
      </p:sp>
      <p:sp>
        <p:nvSpPr>
          <p:cNvPr id="16" name="Metric F1 score"/>
          <p:cNvSpPr/>
          <p:nvPr/>
        </p:nvSpPr>
        <p:spPr>
          <a:xfrm>
            <a:off x="3337560" y="2880360"/>
            <a:ext cx="2697480" cy="1554480"/>
          </a:xfrm>
          <a:prstGeom prst="roundRect">
            <a:avLst>
              <a:gd name="adj" fmla="val 7059"/>
            </a:avLst>
          </a:prstGeom>
          <a:solidFill>
            <a:schemeClr val="bg2"/>
          </a:solidFill>
          <a:ln/>
        </p:spPr>
        <p:txBody>
          <a:bodyPr/>
          <a:lstStyle/>
          <a:p>
            <a:endParaRPr lang="en-IN"/>
          </a:p>
        </p:txBody>
      </p:sp>
      <p:sp>
        <p:nvSpPr>
          <p:cNvPr id="17" name="Text 14"/>
          <p:cNvSpPr txBox="1"/>
          <p:nvPr/>
        </p:nvSpPr>
        <p:spPr>
          <a:xfrm>
            <a:off x="3520440" y="2990088"/>
            <a:ext cx="228600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F1 score</a:t>
            </a:r>
            <a:endParaRPr lang="en-US" sz="1600" dirty="0"/>
          </a:p>
        </p:txBody>
      </p:sp>
      <p:sp>
        <p:nvSpPr>
          <p:cNvPr id="18" name="Text 15"/>
          <p:cNvSpPr txBox="1"/>
          <p:nvPr/>
        </p:nvSpPr>
        <p:spPr>
          <a:xfrm>
            <a:off x="3520440" y="3337560"/>
            <a:ext cx="2331720" cy="365760"/>
          </a:xfrm>
          <a:prstGeom prst="rect">
            <a:avLst/>
          </a:prstGeom>
          <a:noFill/>
          <a:ln/>
        </p:spPr>
        <p:txBody>
          <a:bodyPr wrap="square" lIns="0" tIns="0" rIns="0" bIns="0" rtlCol="0" anchor="t"/>
          <a:lstStyle/>
          <a:p>
            <a:pPr marL="0" indent="0">
              <a:buNone/>
            </a:pPr>
            <a:r>
              <a:rPr lang="en-US" sz="1800" b="1" dirty="0">
                <a:solidFill>
                  <a:schemeClr val="accent4"/>
                </a:solidFill>
                <a:latin typeface="Cambria" pitchFamily="34" charset="0"/>
                <a:ea typeface="Cambria" pitchFamily="34" charset="-122"/>
                <a:cs typeface="Cambria" pitchFamily="34" charset="-120"/>
              </a:rPr>
              <a:t>2PR / (P + R)</a:t>
            </a:r>
            <a:endParaRPr lang="en-US" sz="1800" dirty="0"/>
          </a:p>
        </p:txBody>
      </p:sp>
      <p:sp>
        <p:nvSpPr>
          <p:cNvPr id="19" name="Text 16"/>
          <p:cNvSpPr txBox="1"/>
          <p:nvPr/>
        </p:nvSpPr>
        <p:spPr>
          <a:xfrm>
            <a:off x="3520440" y="3794760"/>
            <a:ext cx="2331720" cy="54864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Balance of precision and recall</a:t>
            </a:r>
            <a:endParaRPr lang="en-US" sz="1300" dirty="0"/>
          </a:p>
        </p:txBody>
      </p:sp>
      <p:sp>
        <p:nvSpPr>
          <p:cNvPr id="20" name="Card Weighted vs macro F1"/>
          <p:cNvSpPr/>
          <p:nvPr/>
        </p:nvSpPr>
        <p:spPr>
          <a:xfrm>
            <a:off x="6309360" y="1188720"/>
            <a:ext cx="2377440" cy="1554480"/>
          </a:xfrm>
          <a:prstGeom prst="roundRect">
            <a:avLst>
              <a:gd name="adj" fmla="val 7059"/>
            </a:avLst>
          </a:prstGeom>
          <a:solidFill>
            <a:schemeClr val="bg2"/>
          </a:solidFill>
          <a:ln/>
        </p:spPr>
        <p:txBody>
          <a:bodyPr/>
          <a:lstStyle/>
          <a:p>
            <a:endParaRPr lang="en-IN"/>
          </a:p>
        </p:txBody>
      </p:sp>
      <p:sp>
        <p:nvSpPr>
          <p:cNvPr id="21" name="Text 18"/>
          <p:cNvSpPr txBox="1"/>
          <p:nvPr/>
        </p:nvSpPr>
        <p:spPr>
          <a:xfrm>
            <a:off x="6492240" y="1298448"/>
            <a:ext cx="201168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Weighted vs macro F1</a:t>
            </a:r>
            <a:endParaRPr lang="en-US" sz="1500" dirty="0"/>
          </a:p>
        </p:txBody>
      </p:sp>
      <p:sp>
        <p:nvSpPr>
          <p:cNvPr id="22" name="Text 19"/>
          <p:cNvSpPr txBox="1"/>
          <p:nvPr/>
        </p:nvSpPr>
        <p:spPr>
          <a:xfrm>
            <a:off x="6492240" y="1627632"/>
            <a:ext cx="2011680" cy="1024128"/>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Weighted weighs classes by size. Macro treats all three equally, so it exposes a weak Neutral class.</a:t>
            </a:r>
            <a:endParaRPr lang="en-US" sz="1200" dirty="0"/>
          </a:p>
        </p:txBody>
      </p:sp>
      <p:sp>
        <p:nvSpPr>
          <p:cNvPr id="23" name="Card Confusion matrix"/>
          <p:cNvSpPr/>
          <p:nvPr/>
        </p:nvSpPr>
        <p:spPr>
          <a:xfrm>
            <a:off x="6309360" y="2880360"/>
            <a:ext cx="2377440" cy="1600200"/>
          </a:xfrm>
          <a:prstGeom prst="roundRect">
            <a:avLst>
              <a:gd name="adj" fmla="val 6857"/>
            </a:avLst>
          </a:prstGeom>
          <a:solidFill>
            <a:schemeClr val="tx2"/>
          </a:solidFill>
          <a:ln/>
        </p:spPr>
        <p:txBody>
          <a:bodyPr/>
          <a:lstStyle/>
          <a:p>
            <a:endParaRPr lang="en-IN"/>
          </a:p>
        </p:txBody>
      </p:sp>
      <p:sp>
        <p:nvSpPr>
          <p:cNvPr id="24" name="Text 21"/>
          <p:cNvSpPr txBox="1"/>
          <p:nvPr/>
        </p:nvSpPr>
        <p:spPr>
          <a:xfrm>
            <a:off x="6492240" y="2990088"/>
            <a:ext cx="2011680" cy="274320"/>
          </a:xfrm>
          <a:prstGeom prst="rect">
            <a:avLst/>
          </a:prstGeom>
          <a:noFill/>
          <a:ln/>
        </p:spPr>
        <p:txBody>
          <a:bodyPr wrap="square" lIns="0" tIns="0" rIns="0" bIns="0" rtlCol="0" anchor="t"/>
          <a:lstStyle/>
          <a:p>
            <a:pPr marL="0" indent="0">
              <a:buNone/>
            </a:pPr>
            <a:r>
              <a:rPr lang="en-US" sz="1500" b="1" dirty="0">
                <a:solidFill>
                  <a:schemeClr val="accent6"/>
                </a:solidFill>
                <a:latin typeface="Calibri" pitchFamily="34" charset="0"/>
                <a:ea typeface="Calibri" pitchFamily="34" charset="-122"/>
                <a:cs typeface="Calibri" pitchFamily="34" charset="-120"/>
              </a:rPr>
              <a:t>Confusion matrix</a:t>
            </a:r>
            <a:endParaRPr lang="en-US" sz="1500" dirty="0"/>
          </a:p>
        </p:txBody>
      </p:sp>
      <p:sp>
        <p:nvSpPr>
          <p:cNvPr id="25" name="Text 22"/>
          <p:cNvSpPr txBox="1"/>
          <p:nvPr/>
        </p:nvSpPr>
        <p:spPr>
          <a:xfrm>
            <a:off x="6492240" y="3319272"/>
            <a:ext cx="2011680" cy="1069848"/>
          </a:xfrm>
          <a:prstGeom prst="rect">
            <a:avLst/>
          </a:prstGeom>
          <a:noFill/>
          <a:ln/>
        </p:spPr>
        <p:txBody>
          <a:bodyPr wrap="square" lIns="0" tIns="0" rIns="0" bIns="0" rtlCol="0" anchor="t"/>
          <a:lstStyle/>
          <a:p>
            <a:pPr marL="0" indent="0">
              <a:buNone/>
            </a:pPr>
            <a:r>
              <a:rPr lang="en-US" sz="1200" dirty="0">
                <a:solidFill>
                  <a:schemeClr val="bg1"/>
                </a:solidFill>
                <a:latin typeface="Calibri" pitchFamily="34" charset="0"/>
                <a:ea typeface="Calibri" pitchFamily="34" charset="-122"/>
                <a:cs typeface="Calibri" pitchFamily="34" charset="-120"/>
              </a:rPr>
              <a:t>Rows are actual labels, columns are predicted ones. Off-diagonal cells show the mix-ups.</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Five models compared</a:t>
            </a:r>
            <a:endParaRPr lang="en-US" sz="3200" dirty="0"/>
          </a:p>
        </p:txBody>
      </p:sp>
      <p:graphicFrame>
        <p:nvGraphicFramePr>
          <p:cNvPr id="4" name="Chart 0"/>
          <p:cNvGraphicFramePr/>
          <p:nvPr/>
        </p:nvGraphicFramePr>
        <p:xfrm>
          <a:off x="365760" y="1097280"/>
          <a:ext cx="557784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5" name="Best model card"/>
          <p:cNvSpPr/>
          <p:nvPr/>
        </p:nvSpPr>
        <p:spPr>
          <a:xfrm>
            <a:off x="6217920" y="1188720"/>
            <a:ext cx="2468880" cy="1554480"/>
          </a:xfrm>
          <a:prstGeom prst="roundRect">
            <a:avLst>
              <a:gd name="adj" fmla="val 7059"/>
            </a:avLst>
          </a:prstGeom>
          <a:solidFill>
            <a:schemeClr val="tx2"/>
          </a:solidFill>
          <a:ln/>
        </p:spPr>
        <p:txBody>
          <a:bodyPr/>
          <a:lstStyle/>
          <a:p>
            <a:endParaRPr lang="en-IN"/>
          </a:p>
        </p:txBody>
      </p:sp>
      <p:sp>
        <p:nvSpPr>
          <p:cNvPr id="6" name="Text 2"/>
          <p:cNvSpPr txBox="1"/>
          <p:nvPr/>
        </p:nvSpPr>
        <p:spPr>
          <a:xfrm>
            <a:off x="6400800" y="1298448"/>
            <a:ext cx="2103120" cy="274320"/>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LSTM</a:t>
            </a:r>
            <a:endParaRPr lang="en-US" sz="1400" dirty="0"/>
          </a:p>
        </p:txBody>
      </p:sp>
      <p:sp>
        <p:nvSpPr>
          <p:cNvPr id="7" name="Text 3"/>
          <p:cNvSpPr txBox="1"/>
          <p:nvPr/>
        </p:nvSpPr>
        <p:spPr>
          <a:xfrm>
            <a:off x="6400800" y="1572768"/>
            <a:ext cx="2103120" cy="594360"/>
          </a:xfrm>
          <a:prstGeom prst="rect">
            <a:avLst/>
          </a:prstGeom>
          <a:noFill/>
          <a:ln/>
        </p:spPr>
        <p:txBody>
          <a:bodyPr wrap="square" lIns="0" tIns="0" rIns="0" bIns="0" rtlCol="0" anchor="t"/>
          <a:lstStyle/>
          <a:p>
            <a:pPr marL="0" indent="0">
              <a:buNone/>
            </a:pPr>
            <a:r>
              <a:rPr lang="en-US" sz="4000" b="1" dirty="0">
                <a:solidFill>
                  <a:schemeClr val="bg1"/>
                </a:solidFill>
                <a:latin typeface="Cambria" pitchFamily="34" charset="0"/>
                <a:ea typeface="Cambria" pitchFamily="34" charset="-122"/>
                <a:cs typeface="Cambria" pitchFamily="34" charset="-120"/>
              </a:rPr>
              <a:t>0.812</a:t>
            </a:r>
            <a:endParaRPr lang="en-US" sz="4000" dirty="0"/>
          </a:p>
        </p:txBody>
      </p:sp>
      <p:sp>
        <p:nvSpPr>
          <p:cNvPr id="8" name="Text 4"/>
          <p:cNvSpPr txBox="1"/>
          <p:nvPr/>
        </p:nvSpPr>
        <p:spPr>
          <a:xfrm>
            <a:off x="6400800" y="2240280"/>
            <a:ext cx="2103120" cy="411480"/>
          </a:xfrm>
          <a:prstGeom prst="rect">
            <a:avLst/>
          </a:prstGeom>
          <a:noFill/>
          <a:ln/>
        </p:spPr>
        <p:txBody>
          <a:bodyPr wrap="square" lIns="0" tIns="0" rIns="0" bIns="0" rtlCol="0" anchor="t"/>
          <a:lstStyle/>
          <a:p>
            <a:pPr marL="0" indent="0">
              <a:buNone/>
            </a:pPr>
            <a:r>
              <a:rPr lang="en-US" sz="1300" dirty="0">
                <a:solidFill>
                  <a:schemeClr val="bg1"/>
                </a:solidFill>
                <a:latin typeface="Calibri" pitchFamily="34" charset="0"/>
                <a:ea typeface="Calibri" pitchFamily="34" charset="-122"/>
                <a:cs typeface="Calibri" pitchFamily="34" charset="-120"/>
              </a:rPr>
              <a:t>F1, best overall (+2.0 points)</a:t>
            </a:r>
            <a:endParaRPr lang="en-US" sz="1300" dirty="0"/>
          </a:p>
        </p:txBody>
      </p:sp>
      <p:sp>
        <p:nvSpPr>
          <p:cNvPr id="9" name="Best classical card"/>
          <p:cNvSpPr/>
          <p:nvPr/>
        </p:nvSpPr>
        <p:spPr>
          <a:xfrm>
            <a:off x="6217920" y="2926080"/>
            <a:ext cx="2468880" cy="1554480"/>
          </a:xfrm>
          <a:prstGeom prst="roundRect">
            <a:avLst>
              <a:gd name="adj" fmla="val 7059"/>
            </a:avLst>
          </a:prstGeom>
          <a:solidFill>
            <a:schemeClr val="bg2"/>
          </a:solidFill>
          <a:ln/>
        </p:spPr>
        <p:txBody>
          <a:bodyPr/>
          <a:lstStyle/>
          <a:p>
            <a:endParaRPr lang="en-IN"/>
          </a:p>
        </p:txBody>
      </p:sp>
      <p:sp>
        <p:nvSpPr>
          <p:cNvPr id="10" name="Text 6"/>
          <p:cNvSpPr txBox="1"/>
          <p:nvPr/>
        </p:nvSpPr>
        <p:spPr>
          <a:xfrm>
            <a:off x="6400800" y="3035808"/>
            <a:ext cx="2103120" cy="274320"/>
          </a:xfrm>
          <a:prstGeom prst="rect">
            <a:avLst/>
          </a:prstGeom>
          <a:noFill/>
          <a:ln/>
        </p:spPr>
        <p:txBody>
          <a:bodyPr wrap="square" lIns="0" tIns="0" rIns="0" bIns="0" rtlCol="0" anchor="t"/>
          <a:lstStyle/>
          <a:p>
            <a:pPr marL="0" indent="0">
              <a:buNone/>
            </a:pPr>
            <a:r>
              <a:rPr lang="en-US" sz="1400" b="1" dirty="0">
                <a:solidFill>
                  <a:schemeClr val="accent1"/>
                </a:solidFill>
                <a:latin typeface="Calibri" pitchFamily="34" charset="0"/>
                <a:ea typeface="Calibri" pitchFamily="34" charset="-122"/>
                <a:cs typeface="Calibri" pitchFamily="34" charset="-120"/>
              </a:rPr>
              <a:t>Logistic Regression</a:t>
            </a:r>
            <a:endParaRPr lang="en-US" sz="1400" dirty="0"/>
          </a:p>
        </p:txBody>
      </p:sp>
      <p:sp>
        <p:nvSpPr>
          <p:cNvPr id="11" name="Text 7"/>
          <p:cNvSpPr txBox="1"/>
          <p:nvPr/>
        </p:nvSpPr>
        <p:spPr>
          <a:xfrm>
            <a:off x="6400800" y="3310128"/>
            <a:ext cx="2103120" cy="59436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0.792</a:t>
            </a:r>
            <a:endParaRPr lang="en-US" sz="4000" dirty="0"/>
          </a:p>
        </p:txBody>
      </p:sp>
      <p:sp>
        <p:nvSpPr>
          <p:cNvPr id="12" name="Text 8"/>
          <p:cNvSpPr txBox="1"/>
          <p:nvPr/>
        </p:nvSpPr>
        <p:spPr>
          <a:xfrm>
            <a:off x="6400800" y="3977640"/>
            <a:ext cx="2103120" cy="41148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F1, trains in 0.6 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Full metric table</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43200"/>
        </p:xfrm>
        <a:graphic>
          <a:graphicData uri="http://schemas.openxmlformats.org/drawingml/2006/table">
            <a:tbl>
              <a:tblPr/>
              <a:tblGrid>
                <a:gridCol w="2194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457200">
                <a:tc>
                  <a:txBody>
                    <a:bodyPr/>
                    <a:lstStyle/>
                    <a:p>
                      <a:pPr marL="0" indent="0" algn="l">
                        <a:buNone/>
                      </a:pPr>
                      <a:r>
                        <a:rPr lang="en-US" sz="1400" b="1" dirty="0">
                          <a:solidFill>
                            <a:srgbClr val="FFFFFF"/>
                          </a:solidFill>
                        </a:rPr>
                        <a:t>Model</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tc>
                  <a:txBody>
                    <a:bodyPr/>
                    <a:lstStyle/>
                    <a:p>
                      <a:pPr marL="0" indent="0" algn="ctr">
                        <a:buNone/>
                      </a:pPr>
                      <a:r>
                        <a:rPr lang="en-US" sz="1400" b="1" dirty="0">
                          <a:solidFill>
                            <a:srgbClr val="FFFFFF"/>
                          </a:solidFill>
                        </a:rPr>
                        <a:t>Accuracy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tc>
                  <a:txBody>
                    <a:bodyPr/>
                    <a:lstStyle/>
                    <a:p>
                      <a:pPr marL="0" indent="0" algn="ctr">
                        <a:buNone/>
                      </a:pPr>
                      <a:r>
                        <a:rPr lang="en-US" sz="1400" b="1" dirty="0">
                          <a:solidFill>
                            <a:srgbClr val="FFFFFF"/>
                          </a:solidFill>
                        </a:rPr>
                        <a:t>Precision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tc>
                  <a:txBody>
                    <a:bodyPr/>
                    <a:lstStyle/>
                    <a:p>
                      <a:pPr marL="0" indent="0" algn="ctr">
                        <a:buNone/>
                      </a:pPr>
                      <a:r>
                        <a:rPr lang="en-US" sz="1400" b="1" dirty="0">
                          <a:solidFill>
                            <a:srgbClr val="FFFFFF"/>
                          </a:solidFill>
                        </a:rPr>
                        <a:t>Recall</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tc>
                  <a:txBody>
                    <a:bodyPr/>
                    <a:lstStyle/>
                    <a:p>
                      <a:pPr marL="0" indent="0" algn="ctr">
                        <a:buNone/>
                      </a:pPr>
                      <a:r>
                        <a:rPr lang="en-US" sz="1400" b="1" dirty="0">
                          <a:solidFill>
                            <a:srgbClr val="FFFFFF"/>
                          </a:solidFill>
                        </a:rPr>
                        <a:t>F1</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tc>
                  <a:txBody>
                    <a:bodyPr/>
                    <a:lstStyle/>
                    <a:p>
                      <a:pPr marL="0" indent="0" algn="ctr">
                        <a:buNone/>
                      </a:pPr>
                      <a:r>
                        <a:rPr lang="en-US" sz="1400" b="1" dirty="0">
                          <a:solidFill>
                            <a:srgbClr val="FFFFFF"/>
                          </a:solidFill>
                        </a:rPr>
                        <a:t>Macro F1</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tc>
                  <a:txBody>
                    <a:bodyPr/>
                    <a:lstStyle/>
                    <a:p>
                      <a:pPr marL="0" indent="0" algn="ctr">
                        <a:buNone/>
                      </a:pPr>
                      <a:r>
                        <a:rPr lang="en-US" sz="1400" b="1" dirty="0">
                          <a:solidFill>
                            <a:srgbClr val="FFFFFF"/>
                          </a:solidFill>
                        </a:rPr>
                        <a:t>Train (s)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2A2F6B"/>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rgbClr val="14183A"/>
                          </a:solidFill>
                        </a:rPr>
                        <a:t>Logistic Regression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0.788</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0.803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0.788</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0.792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0.773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0.6</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extLst>
                  <a:ext uri="{0D108BD9-81ED-4DB2-BD59-A6C34878D82A}">
                    <a16:rowId xmlns:a16="http://schemas.microsoft.com/office/drawing/2014/main" val="10001"/>
                  </a:ext>
                </a:extLst>
              </a:tr>
              <a:tr h="457200">
                <a:tc>
                  <a:txBody>
                    <a:bodyPr/>
                    <a:lstStyle/>
                    <a:p>
                      <a:pPr marL="0" indent="0" algn="l">
                        <a:buNone/>
                      </a:pPr>
                      <a:r>
                        <a:rPr lang="en-US" sz="1400" b="1" dirty="0">
                          <a:solidFill>
                            <a:srgbClr val="14183A"/>
                          </a:solidFill>
                        </a:rPr>
                        <a:t>Naive Bayes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0.683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0.686</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0.683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0.668</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0.626</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&lt;0.1</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400" b="1" dirty="0">
                          <a:solidFill>
                            <a:srgbClr val="14183A"/>
                          </a:solidFill>
                        </a:rPr>
                        <a:t>Random Forest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0.733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0.743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0.733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0.736</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0.722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tc>
                  <a:txBody>
                    <a:bodyPr/>
                    <a:lstStyle/>
                    <a:p>
                      <a:pPr marL="0" indent="0" algn="ctr">
                        <a:buNone/>
                      </a:pPr>
                      <a:r>
                        <a:rPr lang="en-US" sz="1400" dirty="0">
                          <a:solidFill>
                            <a:srgbClr val="14183A"/>
                          </a:solidFill>
                        </a:rPr>
                        <a:t>35.4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2F4FA"/>
                    </a:solidFill>
                  </a:tcPr>
                </a:tc>
                <a:extLst>
                  <a:ext uri="{0D108BD9-81ED-4DB2-BD59-A6C34878D82A}">
                    <a16:rowId xmlns:a16="http://schemas.microsoft.com/office/drawing/2014/main" val="10003"/>
                  </a:ext>
                </a:extLst>
              </a:tr>
              <a:tr h="457200">
                <a:tc>
                  <a:txBody>
                    <a:bodyPr/>
                    <a:lstStyle/>
                    <a:p>
                      <a:pPr marL="0" indent="0" algn="l">
                        <a:buNone/>
                      </a:pPr>
                      <a:r>
                        <a:rPr lang="en-US" sz="1400" b="1" dirty="0">
                          <a:solidFill>
                            <a:srgbClr val="14183A"/>
                          </a:solidFill>
                        </a:rPr>
                        <a:t>XGBoost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0.729</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0.766</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0.729</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0.736</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0.718</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14183A"/>
                          </a:solidFill>
                        </a:rPr>
                        <a:t>91.4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400" b="1" dirty="0">
                          <a:solidFill>
                            <a:srgbClr val="14183A"/>
                          </a:solidFill>
                        </a:rPr>
                        <a:t>LSTM</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D8F0EE"/>
                    </a:solidFill>
                  </a:tcPr>
                </a:tc>
                <a:tc>
                  <a:txBody>
                    <a:bodyPr/>
                    <a:lstStyle/>
                    <a:p>
                      <a:pPr marL="0" indent="0" algn="ctr">
                        <a:buNone/>
                      </a:pPr>
                      <a:r>
                        <a:rPr lang="en-US" sz="1400" b="1" dirty="0">
                          <a:solidFill>
                            <a:srgbClr val="14183A"/>
                          </a:solidFill>
                        </a:rPr>
                        <a:t>0.812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D8F0EE"/>
                    </a:solidFill>
                  </a:tcPr>
                </a:tc>
                <a:tc>
                  <a:txBody>
                    <a:bodyPr/>
                    <a:lstStyle/>
                    <a:p>
                      <a:pPr marL="0" indent="0" algn="ctr">
                        <a:buNone/>
                      </a:pPr>
                      <a:r>
                        <a:rPr lang="en-US" sz="1400" b="1" dirty="0">
                          <a:solidFill>
                            <a:srgbClr val="14183A"/>
                          </a:solidFill>
                        </a:rPr>
                        <a:t>0.813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D8F0EE"/>
                    </a:solidFill>
                  </a:tcPr>
                </a:tc>
                <a:tc>
                  <a:txBody>
                    <a:bodyPr/>
                    <a:lstStyle/>
                    <a:p>
                      <a:pPr marL="0" indent="0" algn="ctr">
                        <a:buNone/>
                      </a:pPr>
                      <a:r>
                        <a:rPr lang="en-US" sz="1400" b="1" dirty="0">
                          <a:solidFill>
                            <a:srgbClr val="14183A"/>
                          </a:solidFill>
                        </a:rPr>
                        <a:t>0.812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D8F0EE"/>
                    </a:solidFill>
                  </a:tcPr>
                </a:tc>
                <a:tc>
                  <a:txBody>
                    <a:bodyPr/>
                    <a:lstStyle/>
                    <a:p>
                      <a:pPr marL="0" indent="0" algn="ctr">
                        <a:buNone/>
                      </a:pPr>
                      <a:r>
                        <a:rPr lang="en-US" sz="1400" b="1" dirty="0">
                          <a:solidFill>
                            <a:srgbClr val="14183A"/>
                          </a:solidFill>
                        </a:rPr>
                        <a:t>0.812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D8F0EE"/>
                    </a:solidFill>
                  </a:tcPr>
                </a:tc>
                <a:tc>
                  <a:txBody>
                    <a:bodyPr/>
                    <a:lstStyle/>
                    <a:p>
                      <a:pPr marL="0" indent="0" algn="ctr">
                        <a:buNone/>
                      </a:pPr>
                      <a:r>
                        <a:rPr lang="en-US" sz="1400" b="1" dirty="0">
                          <a:solidFill>
                            <a:srgbClr val="14183A"/>
                          </a:solidFill>
                        </a:rPr>
                        <a:t>0.797</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D8F0EE"/>
                    </a:solidFill>
                  </a:tcPr>
                </a:tc>
                <a:tc>
                  <a:txBody>
                    <a:bodyPr/>
                    <a:lstStyle/>
                    <a:p>
                      <a:pPr marL="0" indent="0" algn="ctr">
                        <a:buNone/>
                      </a:pPr>
                      <a:r>
                        <a:rPr lang="en-US" sz="1400" b="1" dirty="0">
                          <a:solidFill>
                            <a:srgbClr val="14183A"/>
                          </a:solidFill>
                        </a:rPr>
                        <a:t>87.4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D8F0EE"/>
                    </a:solidFill>
                  </a:tcPr>
                </a:tc>
                <a:extLst>
                  <a:ext uri="{0D108BD9-81ED-4DB2-BD59-A6C34878D82A}">
                    <a16:rowId xmlns:a16="http://schemas.microsoft.com/office/drawing/2014/main" val="10005"/>
                  </a:ext>
                </a:extLst>
              </a:tr>
            </a:tbl>
          </a:graphicData>
        </a:graphic>
      </p:graphicFrame>
      <p:sp>
        <p:nvSpPr>
          <p:cNvPr id="5" name="Table note 1"/>
          <p:cNvSpPr/>
          <p:nvPr/>
        </p:nvSpPr>
        <p:spPr>
          <a:xfrm>
            <a:off x="457200" y="4114800"/>
            <a:ext cx="4023360" cy="457200"/>
          </a:xfrm>
          <a:prstGeom prst="roundRect">
            <a:avLst>
              <a:gd name="adj" fmla="val 24000"/>
            </a:avLst>
          </a:prstGeom>
          <a:solidFill>
            <a:schemeClr val="tx2"/>
          </a:solidFill>
          <a:ln/>
        </p:spPr>
        <p:txBody>
          <a:bodyPr/>
          <a:lstStyle/>
          <a:p>
            <a:endParaRPr lang="en-IN"/>
          </a:p>
        </p:txBody>
      </p:sp>
      <p:sp>
        <p:nvSpPr>
          <p:cNvPr id="6" name="Text 2"/>
          <p:cNvSpPr txBox="1"/>
          <p:nvPr/>
        </p:nvSpPr>
        <p:spPr>
          <a:xfrm>
            <a:off x="640080" y="4114800"/>
            <a:ext cx="3657600" cy="457200"/>
          </a:xfrm>
          <a:prstGeom prst="rect">
            <a:avLst/>
          </a:prstGeom>
          <a:noFill/>
          <a:ln/>
        </p:spPr>
        <p:txBody>
          <a:bodyPr wrap="square" lIns="0" tIns="0" rIns="0" bIns="0" rtlCol="0" anchor="ctr"/>
          <a:lstStyle/>
          <a:p>
            <a:pPr marL="0" indent="0">
              <a:buNone/>
            </a:pPr>
            <a:r>
              <a:rPr lang="en-US" sz="1400" dirty="0">
                <a:solidFill>
                  <a:schemeClr val="bg1"/>
                </a:solidFill>
                <a:latin typeface="Calibri" pitchFamily="34" charset="0"/>
                <a:ea typeface="Calibri" pitchFamily="34" charset="-122"/>
                <a:cs typeface="Calibri" pitchFamily="34" charset="-120"/>
              </a:rPr>
              <a:t>LSTM leads every accuracy-type metric</a:t>
            </a:r>
            <a:endParaRPr lang="en-US" sz="1400" dirty="0"/>
          </a:p>
        </p:txBody>
      </p:sp>
      <p:sp>
        <p:nvSpPr>
          <p:cNvPr id="7" name="Table note 2"/>
          <p:cNvSpPr/>
          <p:nvPr/>
        </p:nvSpPr>
        <p:spPr>
          <a:xfrm>
            <a:off x="4663440" y="4114800"/>
            <a:ext cx="4023360" cy="457200"/>
          </a:xfrm>
          <a:prstGeom prst="roundRect">
            <a:avLst>
              <a:gd name="adj" fmla="val 24000"/>
            </a:avLst>
          </a:prstGeom>
          <a:solidFill>
            <a:schemeClr val="bg2"/>
          </a:solidFill>
          <a:ln/>
        </p:spPr>
        <p:txBody>
          <a:bodyPr/>
          <a:lstStyle/>
          <a:p>
            <a:endParaRPr lang="en-IN"/>
          </a:p>
        </p:txBody>
      </p:sp>
      <p:sp>
        <p:nvSpPr>
          <p:cNvPr id="8" name="Text 4"/>
          <p:cNvSpPr txBox="1"/>
          <p:nvPr/>
        </p:nvSpPr>
        <p:spPr>
          <a:xfrm>
            <a:off x="4846320" y="4114800"/>
            <a:ext cx="3657600" cy="4572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Logistic Regression trains 100+ times faster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Where the mistakes happen</a:t>
            </a:r>
            <a:endParaRPr lang="en-US" sz="3200" dirty="0"/>
          </a:p>
        </p:txBody>
      </p:sp>
      <p:sp>
        <p:nvSpPr>
          <p:cNvPr id="4" name="Text 1"/>
          <p:cNvSpPr txBox="1"/>
          <p:nvPr/>
        </p:nvSpPr>
        <p:spPr>
          <a:xfrm>
            <a:off x="457200" y="1143000"/>
            <a:ext cx="393192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Logistic Regression</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3931920" cy="1901952"/>
        </p:xfrm>
        <a:graphic>
          <a:graphicData uri="http://schemas.openxmlformats.org/drawingml/2006/table">
            <a:tbl>
              <a:tblPr/>
              <a:tblGrid>
                <a:gridCol w="1188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75488">
                <a:tc>
                  <a:txBody>
                    <a:bodyPr/>
                    <a:lstStyle/>
                    <a:p>
                      <a:pPr marL="0" indent="0" algn="ctr">
                        <a:buNone/>
                      </a:pPr>
                      <a:r>
                        <a:rPr lang="en-US" sz="1200" b="1" dirty="0">
                          <a:solidFill>
                            <a:srgbClr val="FFFFFF"/>
                          </a:solidFill>
                        </a:rPr>
                        <a:t>Actual \ Pred.</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200" b="1" dirty="0">
                          <a:solidFill>
                            <a:srgbClr val="FFFFFF"/>
                          </a:solidFill>
                        </a:rPr>
                        <a:t>Negative</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200" b="1" dirty="0">
                          <a:solidFill>
                            <a:srgbClr val="FFFFFF"/>
                          </a:solidFill>
                        </a:rPr>
                        <a:t>Neutral</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200" b="1" dirty="0">
                          <a:solidFill>
                            <a:srgbClr val="FFFFFF"/>
                          </a:solidFill>
                        </a:rPr>
                        <a:t>Positive</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extLst>
                  <a:ext uri="{0D108BD9-81ED-4DB2-BD59-A6C34878D82A}">
                    <a16:rowId xmlns:a16="http://schemas.microsoft.com/office/drawing/2014/main" val="10000"/>
                  </a:ext>
                </a:extLst>
              </a:tr>
              <a:tr h="475488">
                <a:tc>
                  <a:txBody>
                    <a:bodyPr/>
                    <a:lstStyle/>
                    <a:p>
                      <a:pPr marL="0" indent="0" algn="ctr">
                        <a:buNone/>
                      </a:pPr>
                      <a:r>
                        <a:rPr lang="en-US" sz="1200" b="1" dirty="0">
                          <a:solidFill>
                            <a:srgbClr val="FFFFFF"/>
                          </a:solidFill>
                        </a:rPr>
                        <a:t>Negative</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500" b="1" dirty="0">
                          <a:solidFill>
                            <a:srgbClr val="14183A"/>
                          </a:solidFill>
                        </a:rPr>
                        <a:t>2414</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BFE6E2"/>
                    </a:solidFill>
                  </a:tcPr>
                </a:tc>
                <a:tc>
                  <a:txBody>
                    <a:bodyPr/>
                    <a:lstStyle/>
                    <a:p>
                      <a:pPr marL="0" indent="0" algn="ctr">
                        <a:buNone/>
                      </a:pPr>
                      <a:r>
                        <a:rPr lang="en-US" sz="1500" dirty="0">
                          <a:solidFill>
                            <a:srgbClr val="14183A"/>
                          </a:solidFill>
                        </a:rPr>
                        <a:t>377</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tc>
                  <a:txBody>
                    <a:bodyPr/>
                    <a:lstStyle/>
                    <a:p>
                      <a:pPr marL="0" indent="0" algn="ctr">
                        <a:buNone/>
                      </a:pPr>
                      <a:r>
                        <a:rPr lang="en-US" sz="1500" dirty="0">
                          <a:solidFill>
                            <a:srgbClr val="14183A"/>
                          </a:solidFill>
                        </a:rPr>
                        <a:t>289</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extLst>
                  <a:ext uri="{0D108BD9-81ED-4DB2-BD59-A6C34878D82A}">
                    <a16:rowId xmlns:a16="http://schemas.microsoft.com/office/drawing/2014/main" val="10001"/>
                  </a:ext>
                </a:extLst>
              </a:tr>
              <a:tr h="475488">
                <a:tc>
                  <a:txBody>
                    <a:bodyPr/>
                    <a:lstStyle/>
                    <a:p>
                      <a:pPr marL="0" indent="0" algn="ctr">
                        <a:buNone/>
                      </a:pPr>
                      <a:r>
                        <a:rPr lang="en-US" sz="1200" b="1" dirty="0">
                          <a:solidFill>
                            <a:srgbClr val="FFFFFF"/>
                          </a:solidFill>
                        </a:rPr>
                        <a:t>Neutral</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500" dirty="0">
                          <a:solidFill>
                            <a:srgbClr val="14183A"/>
                          </a:solidFill>
                        </a:rPr>
                        <a:t>141</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tc>
                  <a:txBody>
                    <a:bodyPr/>
                    <a:lstStyle/>
                    <a:p>
                      <a:pPr marL="0" indent="0" algn="ctr">
                        <a:buNone/>
                      </a:pPr>
                      <a:r>
                        <a:rPr lang="en-US" sz="1500" b="1" dirty="0">
                          <a:solidFill>
                            <a:srgbClr val="14183A"/>
                          </a:solidFill>
                        </a:rPr>
                        <a:t>1229</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BFE6E2"/>
                    </a:solidFill>
                  </a:tcPr>
                </a:tc>
                <a:tc>
                  <a:txBody>
                    <a:bodyPr/>
                    <a:lstStyle/>
                    <a:p>
                      <a:pPr marL="0" indent="0" algn="ctr">
                        <a:buNone/>
                      </a:pPr>
                      <a:r>
                        <a:rPr lang="en-US" sz="1500" dirty="0">
                          <a:solidFill>
                            <a:srgbClr val="14183A"/>
                          </a:solidFill>
                        </a:rPr>
                        <a:t>166</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extLst>
                  <a:ext uri="{0D108BD9-81ED-4DB2-BD59-A6C34878D82A}">
                    <a16:rowId xmlns:a16="http://schemas.microsoft.com/office/drawing/2014/main" val="10002"/>
                  </a:ext>
                </a:extLst>
              </a:tr>
              <a:tr h="475488">
                <a:tc>
                  <a:txBody>
                    <a:bodyPr/>
                    <a:lstStyle/>
                    <a:p>
                      <a:pPr marL="0" indent="0" algn="ctr">
                        <a:buNone/>
                      </a:pPr>
                      <a:r>
                        <a:rPr lang="en-US" sz="1200" b="1" dirty="0">
                          <a:solidFill>
                            <a:srgbClr val="FFFFFF"/>
                          </a:solidFill>
                        </a:rPr>
                        <a:t>Positive</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500" dirty="0">
                          <a:solidFill>
                            <a:srgbClr val="14183A"/>
                          </a:solidFill>
                        </a:rPr>
                        <a:t>339</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tc>
                  <a:txBody>
                    <a:bodyPr/>
                    <a:lstStyle/>
                    <a:p>
                      <a:pPr marL="0" indent="0" algn="ctr">
                        <a:buNone/>
                      </a:pPr>
                      <a:r>
                        <a:rPr lang="en-US" sz="1500" dirty="0">
                          <a:solidFill>
                            <a:srgbClr val="14183A"/>
                          </a:solidFill>
                        </a:rPr>
                        <a:t>433</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tc>
                  <a:txBody>
                    <a:bodyPr/>
                    <a:lstStyle/>
                    <a:p>
                      <a:pPr marL="0" indent="0" algn="ctr">
                        <a:buNone/>
                      </a:pPr>
                      <a:r>
                        <a:rPr lang="en-US" sz="1500" b="1" dirty="0">
                          <a:solidFill>
                            <a:srgbClr val="14183A"/>
                          </a:solidFill>
                        </a:rPr>
                        <a:t>2837</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BFE6E2"/>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4754880" y="1143000"/>
            <a:ext cx="3931920" cy="27432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LSTM</a:t>
            </a:r>
            <a:endParaRPr lang="en-US" sz="16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4754880" y="1508760"/>
          <a:ext cx="3931920" cy="1901952"/>
        </p:xfrm>
        <a:graphic>
          <a:graphicData uri="http://schemas.openxmlformats.org/drawingml/2006/table">
            <a:tbl>
              <a:tblPr/>
              <a:tblGrid>
                <a:gridCol w="1188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75488">
                <a:tc>
                  <a:txBody>
                    <a:bodyPr/>
                    <a:lstStyle/>
                    <a:p>
                      <a:pPr marL="0" indent="0" algn="ctr">
                        <a:buNone/>
                      </a:pPr>
                      <a:r>
                        <a:rPr lang="en-US" sz="1200" b="1" dirty="0">
                          <a:solidFill>
                            <a:srgbClr val="FFFFFF"/>
                          </a:solidFill>
                        </a:rPr>
                        <a:t>Actual \ Pred.</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200" b="1" dirty="0">
                          <a:solidFill>
                            <a:srgbClr val="FFFFFF"/>
                          </a:solidFill>
                        </a:rPr>
                        <a:t>Negative</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200" b="1" dirty="0">
                          <a:solidFill>
                            <a:srgbClr val="FFFFFF"/>
                          </a:solidFill>
                        </a:rPr>
                        <a:t>Neutral</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200" b="1" dirty="0">
                          <a:solidFill>
                            <a:srgbClr val="FFFFFF"/>
                          </a:solidFill>
                        </a:rPr>
                        <a:t>Positive</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extLst>
                  <a:ext uri="{0D108BD9-81ED-4DB2-BD59-A6C34878D82A}">
                    <a16:rowId xmlns:a16="http://schemas.microsoft.com/office/drawing/2014/main" val="10000"/>
                  </a:ext>
                </a:extLst>
              </a:tr>
              <a:tr h="475488">
                <a:tc>
                  <a:txBody>
                    <a:bodyPr/>
                    <a:lstStyle/>
                    <a:p>
                      <a:pPr marL="0" indent="0" algn="ctr">
                        <a:buNone/>
                      </a:pPr>
                      <a:r>
                        <a:rPr lang="en-US" sz="1200" b="1" dirty="0">
                          <a:solidFill>
                            <a:srgbClr val="FFFFFF"/>
                          </a:solidFill>
                        </a:rPr>
                        <a:t>Negative</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500" b="1" dirty="0">
                          <a:solidFill>
                            <a:srgbClr val="14183A"/>
                          </a:solidFill>
                        </a:rPr>
                        <a:t>2619</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BFE6E2"/>
                    </a:solidFill>
                  </a:tcPr>
                </a:tc>
                <a:tc>
                  <a:txBody>
                    <a:bodyPr/>
                    <a:lstStyle/>
                    <a:p>
                      <a:pPr marL="0" indent="0" algn="ctr">
                        <a:buNone/>
                      </a:pPr>
                      <a:r>
                        <a:rPr lang="en-US" sz="1500" dirty="0">
                          <a:solidFill>
                            <a:srgbClr val="14183A"/>
                          </a:solidFill>
                        </a:rPr>
                        <a:t>164</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tc>
                  <a:txBody>
                    <a:bodyPr/>
                    <a:lstStyle/>
                    <a:p>
                      <a:pPr marL="0" indent="0" algn="ctr">
                        <a:buNone/>
                      </a:pPr>
                      <a:r>
                        <a:rPr lang="en-US" sz="1500" dirty="0">
                          <a:solidFill>
                            <a:srgbClr val="14183A"/>
                          </a:solidFill>
                        </a:rPr>
                        <a:t>297</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extLst>
                  <a:ext uri="{0D108BD9-81ED-4DB2-BD59-A6C34878D82A}">
                    <a16:rowId xmlns:a16="http://schemas.microsoft.com/office/drawing/2014/main" val="10001"/>
                  </a:ext>
                </a:extLst>
              </a:tr>
              <a:tr h="475488">
                <a:tc>
                  <a:txBody>
                    <a:bodyPr/>
                    <a:lstStyle/>
                    <a:p>
                      <a:pPr marL="0" indent="0" algn="ctr">
                        <a:buNone/>
                      </a:pPr>
                      <a:r>
                        <a:rPr lang="en-US" sz="1200" b="1" dirty="0">
                          <a:solidFill>
                            <a:srgbClr val="FFFFFF"/>
                          </a:solidFill>
                        </a:rPr>
                        <a:t>Neutral</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500" dirty="0">
                          <a:solidFill>
                            <a:srgbClr val="14183A"/>
                          </a:solidFill>
                        </a:rPr>
                        <a:t>202</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tc>
                  <a:txBody>
                    <a:bodyPr/>
                    <a:lstStyle/>
                    <a:p>
                      <a:pPr marL="0" indent="0" algn="ctr">
                        <a:buNone/>
                      </a:pPr>
                      <a:r>
                        <a:rPr lang="en-US" sz="1500" b="1" dirty="0">
                          <a:solidFill>
                            <a:srgbClr val="14183A"/>
                          </a:solidFill>
                        </a:rPr>
                        <a:t>1109</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BFE6E2"/>
                    </a:solidFill>
                  </a:tcPr>
                </a:tc>
                <a:tc>
                  <a:txBody>
                    <a:bodyPr/>
                    <a:lstStyle/>
                    <a:p>
                      <a:pPr marL="0" indent="0" algn="ctr">
                        <a:buNone/>
                      </a:pPr>
                      <a:r>
                        <a:rPr lang="en-US" sz="1500" dirty="0">
                          <a:solidFill>
                            <a:srgbClr val="14183A"/>
                          </a:solidFill>
                        </a:rPr>
                        <a:t>225</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extLst>
                  <a:ext uri="{0D108BD9-81ED-4DB2-BD59-A6C34878D82A}">
                    <a16:rowId xmlns:a16="http://schemas.microsoft.com/office/drawing/2014/main" val="10002"/>
                  </a:ext>
                </a:extLst>
              </a:tr>
              <a:tr h="475488">
                <a:tc>
                  <a:txBody>
                    <a:bodyPr/>
                    <a:lstStyle/>
                    <a:p>
                      <a:pPr marL="0" indent="0" algn="ctr">
                        <a:buNone/>
                      </a:pPr>
                      <a:r>
                        <a:rPr lang="en-US" sz="1200" b="1" dirty="0">
                          <a:solidFill>
                            <a:srgbClr val="FFFFFF"/>
                          </a:solidFill>
                        </a:rPr>
                        <a:t>Positive</a:t>
                      </a:r>
                      <a:endParaRPr lang="en-US" sz="12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2F6B"/>
                    </a:solidFill>
                  </a:tcPr>
                </a:tc>
                <a:tc>
                  <a:txBody>
                    <a:bodyPr/>
                    <a:lstStyle/>
                    <a:p>
                      <a:pPr marL="0" indent="0" algn="ctr">
                        <a:buNone/>
                      </a:pPr>
                      <a:r>
                        <a:rPr lang="en-US" sz="1500" dirty="0">
                          <a:solidFill>
                            <a:srgbClr val="14183A"/>
                          </a:solidFill>
                        </a:rPr>
                        <a:t>415</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tc>
                  <a:txBody>
                    <a:bodyPr/>
                    <a:lstStyle/>
                    <a:p>
                      <a:pPr marL="0" indent="0" algn="ctr">
                        <a:buNone/>
                      </a:pPr>
                      <a:r>
                        <a:rPr lang="en-US" sz="1500" dirty="0">
                          <a:solidFill>
                            <a:srgbClr val="14183A"/>
                          </a:solidFill>
                        </a:rPr>
                        <a:t>242</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0D6"/>
                    </a:solidFill>
                  </a:tcPr>
                </a:tc>
                <a:tc>
                  <a:txBody>
                    <a:bodyPr/>
                    <a:lstStyle/>
                    <a:p>
                      <a:pPr marL="0" indent="0" algn="ctr">
                        <a:buNone/>
                      </a:pPr>
                      <a:r>
                        <a:rPr lang="en-US" sz="1500" b="1" dirty="0">
                          <a:solidFill>
                            <a:srgbClr val="14183A"/>
                          </a:solidFill>
                        </a:rPr>
                        <a:t>2952</a:t>
                      </a:r>
                      <a:endParaRPr lang="en-US" sz="1500" dirty="0"/>
                    </a:p>
                  </a:txBody>
                  <a:tcPr marL="45720" marR="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BFE6E2"/>
                    </a:solidFill>
                  </a:tcPr>
                </a:tc>
                <a:extLst>
                  <a:ext uri="{0D108BD9-81ED-4DB2-BD59-A6C34878D82A}">
                    <a16:rowId xmlns:a16="http://schemas.microsoft.com/office/drawing/2014/main" val="10003"/>
                  </a:ext>
                </a:extLst>
              </a:tr>
            </a:tbl>
          </a:graphicData>
        </a:graphic>
      </p:graphicFrame>
      <p:sp>
        <p:nvSpPr>
          <p:cNvPr id="8" name="Confusion insight"/>
          <p:cNvSpPr/>
          <p:nvPr/>
        </p:nvSpPr>
        <p:spPr>
          <a:xfrm>
            <a:off x="457200" y="3611880"/>
            <a:ext cx="8229600" cy="868680"/>
          </a:xfrm>
          <a:prstGeom prst="roundRect">
            <a:avLst>
              <a:gd name="adj" fmla="val 12632"/>
            </a:avLst>
          </a:prstGeom>
          <a:solidFill>
            <a:schemeClr val="tx2"/>
          </a:solidFill>
          <a:ln/>
        </p:spPr>
        <p:txBody>
          <a:bodyPr/>
          <a:lstStyle/>
          <a:p>
            <a:endParaRPr lang="en-IN"/>
          </a:p>
        </p:txBody>
      </p:sp>
      <p:sp>
        <p:nvSpPr>
          <p:cNvPr id="9" name="Text 4"/>
          <p:cNvSpPr txBox="1"/>
          <p:nvPr/>
        </p:nvSpPr>
        <p:spPr>
          <a:xfrm>
            <a:off x="685800" y="3611880"/>
            <a:ext cx="7772400" cy="868680"/>
          </a:xfrm>
          <a:prstGeom prst="rect">
            <a:avLst/>
          </a:prstGeom>
          <a:noFill/>
          <a:ln/>
        </p:spPr>
        <p:txBody>
          <a:bodyPr wrap="square" lIns="0" tIns="0" rIns="0" bIns="0" rtlCol="0" anchor="ctr"/>
          <a:lstStyle/>
          <a:p>
            <a:pPr marL="0" indent="0">
              <a:buNone/>
            </a:pPr>
            <a:r>
              <a:rPr lang="en-US" sz="1400" b="1" dirty="0">
                <a:solidFill>
                  <a:srgbClr val="8FD3E8"/>
                </a:solidFill>
                <a:latin typeface="Calibri" pitchFamily="34" charset="0"/>
                <a:ea typeface="Calibri" pitchFamily="34" charset="-122"/>
                <a:cs typeface="Calibri" pitchFamily="34" charset="-120"/>
              </a:rPr>
              <a:t>Teal cells are correct, coral cells are mix-ups. </a:t>
            </a:r>
            <a:r>
              <a:rPr lang="en-US" sz="1400" dirty="0">
                <a:solidFill>
                  <a:schemeClr val="bg1"/>
                </a:solidFill>
                <a:latin typeface="Calibri" pitchFamily="34" charset="0"/>
                <a:ea typeface="Calibri" pitchFamily="34" charset="-122"/>
                <a:cs typeface="Calibri" pitchFamily="34" charset="-120"/>
              </a:rPr>
              <a:t>The LSTM cuts Positive-to-Neutral errors from 433 to 242 and Negative-to-Neutral from 377 to 164. In exchange it misses more real Neutral tweets (1,109 correct vs 1,229).</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Neutral is the hard class</a:t>
            </a:r>
            <a:endParaRPr lang="en-US" sz="3200" dirty="0"/>
          </a:p>
        </p:txBody>
      </p:sp>
      <p:graphicFrame>
        <p:nvGraphicFramePr>
          <p:cNvPr id="4" name="Chart 0"/>
          <p:cNvGraphicFramePr/>
          <p:nvPr/>
        </p:nvGraphicFramePr>
        <p:xfrm>
          <a:off x="365760" y="1097280"/>
          <a:ext cx="493776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5" name="Class insight 1"/>
          <p:cNvSpPr/>
          <p:nvPr/>
        </p:nvSpPr>
        <p:spPr>
          <a:xfrm>
            <a:off x="5577840" y="1188720"/>
            <a:ext cx="3108960" cy="1051560"/>
          </a:xfrm>
          <a:prstGeom prst="roundRect">
            <a:avLst>
              <a:gd name="adj" fmla="val 10435"/>
            </a:avLst>
          </a:prstGeom>
          <a:solidFill>
            <a:schemeClr val="bg2"/>
          </a:solidFill>
          <a:ln/>
        </p:spPr>
        <p:txBody>
          <a:bodyPr/>
          <a:lstStyle/>
          <a:p>
            <a:endParaRPr lang="en-IN"/>
          </a:p>
        </p:txBody>
      </p:sp>
      <p:sp>
        <p:nvSpPr>
          <p:cNvPr id="6" name="Text 2"/>
          <p:cNvSpPr txBox="1"/>
          <p:nvPr/>
        </p:nvSpPr>
        <p:spPr>
          <a:xfrm>
            <a:off x="5760720" y="1280160"/>
            <a:ext cx="2743200" cy="256032"/>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Over-labels Neutral</a:t>
            </a:r>
            <a:endParaRPr lang="en-US" sz="1400" dirty="0"/>
          </a:p>
        </p:txBody>
      </p:sp>
      <p:sp>
        <p:nvSpPr>
          <p:cNvPr id="7" name="Text 3"/>
          <p:cNvSpPr txBox="1"/>
          <p:nvPr/>
        </p:nvSpPr>
        <p:spPr>
          <a:xfrm>
            <a:off x="5760720" y="1572768"/>
            <a:ext cx="2743200" cy="621792"/>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Finds 80% of Neutral tweets, but only 60% of its Neutral labels are right.</a:t>
            </a:r>
            <a:endParaRPr lang="en-US" sz="1300" dirty="0"/>
          </a:p>
        </p:txBody>
      </p:sp>
      <p:sp>
        <p:nvSpPr>
          <p:cNvPr id="8" name="Class insight 2"/>
          <p:cNvSpPr/>
          <p:nvPr/>
        </p:nvSpPr>
        <p:spPr>
          <a:xfrm>
            <a:off x="5577840" y="2350008"/>
            <a:ext cx="3108960" cy="1051560"/>
          </a:xfrm>
          <a:prstGeom prst="roundRect">
            <a:avLst>
              <a:gd name="adj" fmla="val 10435"/>
            </a:avLst>
          </a:prstGeom>
          <a:solidFill>
            <a:schemeClr val="bg2"/>
          </a:solidFill>
          <a:ln/>
        </p:spPr>
        <p:txBody>
          <a:bodyPr/>
          <a:lstStyle/>
          <a:p>
            <a:endParaRPr lang="en-IN"/>
          </a:p>
        </p:txBody>
      </p:sp>
      <p:sp>
        <p:nvSpPr>
          <p:cNvPr id="9" name="Text 5"/>
          <p:cNvSpPr txBox="1"/>
          <p:nvPr/>
        </p:nvSpPr>
        <p:spPr>
          <a:xfrm>
            <a:off x="5760720" y="2441448"/>
            <a:ext cx="2743200" cy="256032"/>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LSTM is more balanced</a:t>
            </a:r>
            <a:endParaRPr lang="en-US" sz="1400" dirty="0"/>
          </a:p>
        </p:txBody>
      </p:sp>
      <p:sp>
        <p:nvSpPr>
          <p:cNvPr id="10" name="Text 6"/>
          <p:cNvSpPr txBox="1"/>
          <p:nvPr/>
        </p:nvSpPr>
        <p:spPr>
          <a:xfrm>
            <a:off x="5760720" y="2734056"/>
            <a:ext cx="2743200" cy="621792"/>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Neutral precision 0.73 and recall 0.72, a much better balance.</a:t>
            </a:r>
            <a:endParaRPr lang="en-US" sz="1300" dirty="0"/>
          </a:p>
        </p:txBody>
      </p:sp>
      <p:sp>
        <p:nvSpPr>
          <p:cNvPr id="11" name="Class insight 3"/>
          <p:cNvSpPr/>
          <p:nvPr/>
        </p:nvSpPr>
        <p:spPr>
          <a:xfrm>
            <a:off x="5577840" y="3511296"/>
            <a:ext cx="3108960" cy="1051560"/>
          </a:xfrm>
          <a:prstGeom prst="roundRect">
            <a:avLst>
              <a:gd name="adj" fmla="val 10435"/>
            </a:avLst>
          </a:prstGeom>
          <a:solidFill>
            <a:schemeClr val="bg2"/>
          </a:solidFill>
          <a:ln/>
        </p:spPr>
        <p:txBody>
          <a:bodyPr/>
          <a:lstStyle/>
          <a:p>
            <a:endParaRPr lang="en-IN"/>
          </a:p>
        </p:txBody>
      </p:sp>
      <p:sp>
        <p:nvSpPr>
          <p:cNvPr id="12" name="Text 8"/>
          <p:cNvSpPr txBox="1"/>
          <p:nvPr/>
        </p:nvSpPr>
        <p:spPr>
          <a:xfrm>
            <a:off x="5760720" y="3602736"/>
            <a:ext cx="2743200" cy="256032"/>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Naive Bayes struggles</a:t>
            </a:r>
            <a:endParaRPr lang="en-US" sz="1400" dirty="0"/>
          </a:p>
        </p:txBody>
      </p:sp>
      <p:sp>
        <p:nvSpPr>
          <p:cNvPr id="13" name="Text 9"/>
          <p:cNvSpPr txBox="1"/>
          <p:nvPr/>
        </p:nvSpPr>
        <p:spPr>
          <a:xfrm>
            <a:off x="5760720" y="3895344"/>
            <a:ext cx="2743200" cy="621792"/>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Neutral recall is only 0.32: it misses most neutral posts.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Testing on unseen tweets</a:t>
            </a:r>
            <a:endParaRPr lang="en-US" sz="3200" dirty="0"/>
          </a:p>
        </p:txBody>
      </p:sp>
      <p:graphicFrame>
        <p:nvGraphicFramePr>
          <p:cNvPr id="4" name="Chart 0"/>
          <p:cNvGraphicFramePr/>
          <p:nvPr/>
        </p:nvGraphicFramePr>
        <p:xfrm>
          <a:off x="365760" y="1097280"/>
          <a:ext cx="512064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5" name="Unseen accuracy card"/>
          <p:cNvSpPr/>
          <p:nvPr/>
        </p:nvSpPr>
        <p:spPr>
          <a:xfrm>
            <a:off x="5760720" y="1188720"/>
            <a:ext cx="2926080" cy="1371600"/>
          </a:xfrm>
          <a:prstGeom prst="roundRect">
            <a:avLst>
              <a:gd name="adj" fmla="val 8000"/>
            </a:avLst>
          </a:prstGeom>
          <a:solidFill>
            <a:schemeClr val="tx2"/>
          </a:solidFill>
          <a:ln/>
        </p:spPr>
        <p:txBody>
          <a:bodyPr/>
          <a:lstStyle/>
          <a:p>
            <a:endParaRPr lang="en-IN"/>
          </a:p>
        </p:txBody>
      </p:sp>
      <p:sp>
        <p:nvSpPr>
          <p:cNvPr id="6" name="Text 2"/>
          <p:cNvSpPr txBox="1"/>
          <p:nvPr/>
        </p:nvSpPr>
        <p:spPr>
          <a:xfrm>
            <a:off x="5943600" y="1280160"/>
            <a:ext cx="2560320" cy="640080"/>
          </a:xfrm>
          <a:prstGeom prst="rect">
            <a:avLst/>
          </a:prstGeom>
          <a:noFill/>
          <a:ln/>
        </p:spPr>
        <p:txBody>
          <a:bodyPr wrap="square" lIns="0" tIns="0" rIns="0" bIns="0" rtlCol="0" anchor="t"/>
          <a:lstStyle/>
          <a:p>
            <a:pPr marL="0" indent="0">
              <a:buNone/>
            </a:pPr>
            <a:r>
              <a:rPr lang="en-US" sz="4000" b="1" dirty="0">
                <a:solidFill>
                  <a:schemeClr val="bg1"/>
                </a:solidFill>
                <a:latin typeface="Cambria" pitchFamily="34" charset="0"/>
                <a:ea typeface="Cambria" pitchFamily="34" charset="-122"/>
                <a:cs typeface="Cambria" pitchFamily="34" charset="-120"/>
              </a:rPr>
              <a:t>77.2%</a:t>
            </a:r>
            <a:endParaRPr lang="en-US" sz="4000" dirty="0"/>
          </a:p>
        </p:txBody>
      </p:sp>
      <p:sp>
        <p:nvSpPr>
          <p:cNvPr id="7" name="Text 3"/>
          <p:cNvSpPr txBox="1"/>
          <p:nvPr/>
        </p:nvSpPr>
        <p:spPr>
          <a:xfrm>
            <a:off x="5943600" y="1920240"/>
            <a:ext cx="2560320" cy="548640"/>
          </a:xfrm>
          <a:prstGeom prst="rect">
            <a:avLst/>
          </a:prstGeom>
          <a:noFill/>
          <a:ln/>
        </p:spPr>
        <p:txBody>
          <a:bodyPr wrap="square" lIns="0" tIns="0" rIns="0" bIns="0" rtlCol="0" anchor="t"/>
          <a:lstStyle/>
          <a:p>
            <a:pPr marL="0" indent="0">
              <a:buNone/>
            </a:pPr>
            <a:r>
              <a:rPr lang="en-US" sz="1300" dirty="0">
                <a:solidFill>
                  <a:schemeClr val="bg1"/>
                </a:solidFill>
                <a:latin typeface="Calibri" pitchFamily="34" charset="0"/>
                <a:ea typeface="Calibri" pitchFamily="34" charset="-122"/>
                <a:cs typeface="Calibri" pitchFamily="34" charset="-120"/>
              </a:rPr>
              <a:t>accuracy on 3,796 tweets the model never saw (F1 0.777)</a:t>
            </a:r>
            <a:endParaRPr lang="en-US" sz="1300" dirty="0"/>
          </a:p>
        </p:txBody>
      </p:sp>
      <p:sp>
        <p:nvSpPr>
          <p:cNvPr id="8" name="High confidence card"/>
          <p:cNvSpPr/>
          <p:nvPr/>
        </p:nvSpPr>
        <p:spPr>
          <a:xfrm>
            <a:off x="5760720" y="2743200"/>
            <a:ext cx="2926080" cy="1737360"/>
          </a:xfrm>
          <a:prstGeom prst="roundRect">
            <a:avLst>
              <a:gd name="adj" fmla="val 6316"/>
            </a:avLst>
          </a:prstGeom>
          <a:solidFill>
            <a:schemeClr val="bg2"/>
          </a:solidFill>
          <a:ln/>
        </p:spPr>
        <p:txBody>
          <a:bodyPr/>
          <a:lstStyle/>
          <a:p>
            <a:endParaRPr lang="en-IN"/>
          </a:p>
        </p:txBody>
      </p:sp>
      <p:sp>
        <p:nvSpPr>
          <p:cNvPr id="9" name="Text 5"/>
          <p:cNvSpPr txBox="1"/>
          <p:nvPr/>
        </p:nvSpPr>
        <p:spPr>
          <a:xfrm>
            <a:off x="5943600" y="2834640"/>
            <a:ext cx="2560320" cy="64008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40.5%</a:t>
            </a:r>
            <a:endParaRPr lang="en-US" sz="4000" dirty="0"/>
          </a:p>
        </p:txBody>
      </p:sp>
      <p:sp>
        <p:nvSpPr>
          <p:cNvPr id="10" name="Text 6"/>
          <p:cNvSpPr txBox="1"/>
          <p:nvPr/>
        </p:nvSpPr>
        <p:spPr>
          <a:xfrm>
            <a:off x="5943600" y="3474720"/>
            <a:ext cx="2560320" cy="82296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of tweets get over 80% confidence, and 93.4% of those are correct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Predicting a new post</a:t>
            </a:r>
            <a:endParaRPr lang="en-US" sz="3200" dirty="0"/>
          </a:p>
        </p:txBody>
      </p:sp>
      <p:sp>
        <p:nvSpPr>
          <p:cNvPr id="4" name="Predict step 1"/>
          <p:cNvSpPr/>
          <p:nvPr/>
        </p:nvSpPr>
        <p:spPr>
          <a:xfrm>
            <a:off x="457200" y="1188720"/>
            <a:ext cx="1463040" cy="685800"/>
          </a:xfrm>
          <a:prstGeom prst="roundRect">
            <a:avLst>
              <a:gd name="adj" fmla="val 13333"/>
            </a:avLst>
          </a:prstGeom>
          <a:solidFill>
            <a:schemeClr val="tx2"/>
          </a:solidFill>
          <a:ln/>
        </p:spPr>
        <p:txBody>
          <a:bodyPr/>
          <a:lstStyle/>
          <a:p>
            <a:endParaRPr lang="en-IN"/>
          </a:p>
        </p:txBody>
      </p:sp>
      <p:sp>
        <p:nvSpPr>
          <p:cNvPr id="5" name="Text 2"/>
          <p:cNvSpPr txBox="1"/>
          <p:nvPr/>
        </p:nvSpPr>
        <p:spPr>
          <a:xfrm>
            <a:off x="457200" y="1188720"/>
            <a:ext cx="1463040" cy="68580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New post</a:t>
            </a:r>
            <a:endParaRPr lang="en-US" sz="1400" dirty="0"/>
          </a:p>
        </p:txBody>
      </p:sp>
      <p:sp>
        <p:nvSpPr>
          <p:cNvPr id="6" name="Predict arrow 1"/>
          <p:cNvSpPr/>
          <p:nvPr/>
        </p:nvSpPr>
        <p:spPr>
          <a:xfrm>
            <a:off x="1956816" y="1426464"/>
            <a:ext cx="182880" cy="256032"/>
          </a:xfrm>
          <a:prstGeom prst="rightArrow">
            <a:avLst/>
          </a:prstGeom>
          <a:solidFill>
            <a:schemeClr val="accent5"/>
          </a:solidFill>
          <a:ln/>
        </p:spPr>
        <p:txBody>
          <a:bodyPr/>
          <a:lstStyle/>
          <a:p>
            <a:endParaRPr lang="en-IN"/>
          </a:p>
        </p:txBody>
      </p:sp>
      <p:sp>
        <p:nvSpPr>
          <p:cNvPr id="7" name="Predict step 2"/>
          <p:cNvSpPr/>
          <p:nvPr/>
        </p:nvSpPr>
        <p:spPr>
          <a:xfrm>
            <a:off x="2148840" y="1188720"/>
            <a:ext cx="1463040" cy="685800"/>
          </a:xfrm>
          <a:prstGeom prst="roundRect">
            <a:avLst>
              <a:gd name="adj" fmla="val 13333"/>
            </a:avLst>
          </a:prstGeom>
          <a:solidFill>
            <a:schemeClr val="tx2"/>
          </a:solidFill>
          <a:ln/>
        </p:spPr>
        <p:txBody>
          <a:bodyPr/>
          <a:lstStyle/>
          <a:p>
            <a:endParaRPr lang="en-IN"/>
          </a:p>
        </p:txBody>
      </p:sp>
      <p:sp>
        <p:nvSpPr>
          <p:cNvPr id="8" name="Text 5"/>
          <p:cNvSpPr txBox="1"/>
          <p:nvPr/>
        </p:nvSpPr>
        <p:spPr>
          <a:xfrm>
            <a:off x="2148840" y="1188720"/>
            <a:ext cx="1463040" cy="68580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Clean text</a:t>
            </a:r>
            <a:endParaRPr lang="en-US" sz="1400" dirty="0"/>
          </a:p>
        </p:txBody>
      </p:sp>
      <p:sp>
        <p:nvSpPr>
          <p:cNvPr id="9" name="Predict arrow 2"/>
          <p:cNvSpPr/>
          <p:nvPr/>
        </p:nvSpPr>
        <p:spPr>
          <a:xfrm>
            <a:off x="3648456" y="1426464"/>
            <a:ext cx="182880" cy="256032"/>
          </a:xfrm>
          <a:prstGeom prst="rightArrow">
            <a:avLst/>
          </a:prstGeom>
          <a:solidFill>
            <a:schemeClr val="accent5"/>
          </a:solidFill>
          <a:ln/>
        </p:spPr>
        <p:txBody>
          <a:bodyPr/>
          <a:lstStyle/>
          <a:p>
            <a:endParaRPr lang="en-IN"/>
          </a:p>
        </p:txBody>
      </p:sp>
      <p:sp>
        <p:nvSpPr>
          <p:cNvPr id="10" name="Predict step 3"/>
          <p:cNvSpPr/>
          <p:nvPr/>
        </p:nvSpPr>
        <p:spPr>
          <a:xfrm>
            <a:off x="3840480" y="1188720"/>
            <a:ext cx="1463040" cy="685800"/>
          </a:xfrm>
          <a:prstGeom prst="roundRect">
            <a:avLst>
              <a:gd name="adj" fmla="val 13333"/>
            </a:avLst>
          </a:prstGeom>
          <a:solidFill>
            <a:schemeClr val="tx2"/>
          </a:solidFill>
          <a:ln/>
        </p:spPr>
        <p:txBody>
          <a:bodyPr/>
          <a:lstStyle/>
          <a:p>
            <a:endParaRPr lang="en-IN"/>
          </a:p>
        </p:txBody>
      </p:sp>
      <p:sp>
        <p:nvSpPr>
          <p:cNvPr id="11" name="Text 8"/>
          <p:cNvSpPr txBox="1"/>
          <p:nvPr/>
        </p:nvSpPr>
        <p:spPr>
          <a:xfrm>
            <a:off x="3840480" y="1188720"/>
            <a:ext cx="1463040" cy="68580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TF-IDF vector</a:t>
            </a:r>
            <a:endParaRPr lang="en-US" sz="1400" dirty="0"/>
          </a:p>
        </p:txBody>
      </p:sp>
      <p:sp>
        <p:nvSpPr>
          <p:cNvPr id="12" name="Predict arrow 3"/>
          <p:cNvSpPr/>
          <p:nvPr/>
        </p:nvSpPr>
        <p:spPr>
          <a:xfrm>
            <a:off x="5340096" y="1426464"/>
            <a:ext cx="182880" cy="256032"/>
          </a:xfrm>
          <a:prstGeom prst="rightArrow">
            <a:avLst/>
          </a:prstGeom>
          <a:solidFill>
            <a:schemeClr val="accent5"/>
          </a:solidFill>
          <a:ln/>
        </p:spPr>
        <p:txBody>
          <a:bodyPr/>
          <a:lstStyle/>
          <a:p>
            <a:endParaRPr lang="en-IN"/>
          </a:p>
        </p:txBody>
      </p:sp>
      <p:sp>
        <p:nvSpPr>
          <p:cNvPr id="13" name="Predict step 4"/>
          <p:cNvSpPr/>
          <p:nvPr/>
        </p:nvSpPr>
        <p:spPr>
          <a:xfrm>
            <a:off x="5532120" y="1188720"/>
            <a:ext cx="1463040" cy="685800"/>
          </a:xfrm>
          <a:prstGeom prst="roundRect">
            <a:avLst>
              <a:gd name="adj" fmla="val 13333"/>
            </a:avLst>
          </a:prstGeom>
          <a:solidFill>
            <a:schemeClr val="tx2"/>
          </a:solidFill>
          <a:ln/>
        </p:spPr>
        <p:txBody>
          <a:bodyPr/>
          <a:lstStyle/>
          <a:p>
            <a:endParaRPr lang="en-IN"/>
          </a:p>
        </p:txBody>
      </p:sp>
      <p:sp>
        <p:nvSpPr>
          <p:cNvPr id="14" name="Text 11"/>
          <p:cNvSpPr txBox="1"/>
          <p:nvPr/>
        </p:nvSpPr>
        <p:spPr>
          <a:xfrm>
            <a:off x="5532120" y="1188720"/>
            <a:ext cx="1463040" cy="68580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Model</a:t>
            </a:r>
            <a:endParaRPr lang="en-US" sz="1400" dirty="0"/>
          </a:p>
        </p:txBody>
      </p:sp>
      <p:sp>
        <p:nvSpPr>
          <p:cNvPr id="15" name="Predict arrow 4"/>
          <p:cNvSpPr/>
          <p:nvPr/>
        </p:nvSpPr>
        <p:spPr>
          <a:xfrm>
            <a:off x="7031736" y="1426464"/>
            <a:ext cx="182880" cy="256032"/>
          </a:xfrm>
          <a:prstGeom prst="rightArrow">
            <a:avLst/>
          </a:prstGeom>
          <a:solidFill>
            <a:schemeClr val="accent5"/>
          </a:solidFill>
          <a:ln/>
        </p:spPr>
        <p:txBody>
          <a:bodyPr/>
          <a:lstStyle/>
          <a:p>
            <a:endParaRPr lang="en-IN"/>
          </a:p>
        </p:txBody>
      </p:sp>
      <p:sp>
        <p:nvSpPr>
          <p:cNvPr id="16" name="Predict step 5"/>
          <p:cNvSpPr/>
          <p:nvPr/>
        </p:nvSpPr>
        <p:spPr>
          <a:xfrm>
            <a:off x="7223760" y="1188720"/>
            <a:ext cx="1463040" cy="685800"/>
          </a:xfrm>
          <a:prstGeom prst="roundRect">
            <a:avLst>
              <a:gd name="adj" fmla="val 13333"/>
            </a:avLst>
          </a:prstGeom>
          <a:solidFill>
            <a:schemeClr val="accent1"/>
          </a:solidFill>
          <a:ln/>
        </p:spPr>
        <p:txBody>
          <a:bodyPr/>
          <a:lstStyle/>
          <a:p>
            <a:endParaRPr lang="en-IN"/>
          </a:p>
        </p:txBody>
      </p:sp>
      <p:sp>
        <p:nvSpPr>
          <p:cNvPr id="17" name="Text 14"/>
          <p:cNvSpPr txBox="1"/>
          <p:nvPr/>
        </p:nvSpPr>
        <p:spPr>
          <a:xfrm>
            <a:off x="7223760" y="1188720"/>
            <a:ext cx="1463040" cy="68580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Label + confidence</a:t>
            </a:r>
            <a:endParaRPr lang="en-US" sz="1400" dirty="0"/>
          </a:p>
        </p:txBody>
      </p:sp>
      <p:sp>
        <p:nvSpPr>
          <p:cNvPr id="18" name="Text 15"/>
          <p:cNvSpPr txBox="1"/>
          <p:nvPr/>
        </p:nvSpPr>
        <p:spPr>
          <a:xfrm>
            <a:off x="457200" y="2148840"/>
            <a:ext cx="5486400" cy="274320"/>
          </a:xfrm>
          <a:prstGeom prst="rect">
            <a:avLst/>
          </a:prstGeom>
          <a:noFill/>
          <a:ln/>
        </p:spPr>
        <p:txBody>
          <a:bodyPr wrap="square" lIns="0" tIns="0" rIns="0" bIns="0" rtlCol="0" anchor="t"/>
          <a:lstStyle/>
          <a:p>
            <a:pPr marL="0" indent="0">
              <a:buNone/>
            </a:pPr>
            <a:r>
              <a:rPr lang="en-US" sz="1400" b="1" dirty="0">
                <a:solidFill>
                  <a:schemeClr val="accent5"/>
                </a:solidFill>
                <a:latin typeface="Calibri" pitchFamily="34" charset="0"/>
                <a:ea typeface="Calibri" pitchFamily="34" charset="-122"/>
                <a:cs typeface="Calibri" pitchFamily="34" charset="-120"/>
              </a:rPr>
              <a:t>Sample predictions from the saved model</a:t>
            </a:r>
            <a:endParaRPr lang="en-US" sz="1400" dirty="0"/>
          </a:p>
        </p:txBody>
      </p:sp>
      <p:sp>
        <p:nvSpPr>
          <p:cNvPr id="19" name="Sample 1"/>
          <p:cNvSpPr/>
          <p:nvPr/>
        </p:nvSpPr>
        <p:spPr>
          <a:xfrm>
            <a:off x="457200" y="2514600"/>
            <a:ext cx="4023360" cy="896112"/>
          </a:xfrm>
          <a:prstGeom prst="roundRect">
            <a:avLst>
              <a:gd name="adj" fmla="val 12245"/>
            </a:avLst>
          </a:prstGeom>
          <a:solidFill>
            <a:schemeClr val="bg2"/>
          </a:solidFill>
          <a:ln/>
        </p:spPr>
        <p:txBody>
          <a:bodyPr/>
          <a:lstStyle/>
          <a:p>
            <a:endParaRPr lang="en-IN"/>
          </a:p>
        </p:txBody>
      </p:sp>
      <p:sp>
        <p:nvSpPr>
          <p:cNvPr id="20" name="Text 17"/>
          <p:cNvSpPr txBox="1"/>
          <p:nvPr/>
        </p:nvSpPr>
        <p:spPr>
          <a:xfrm>
            <a:off x="640080" y="2514600"/>
            <a:ext cx="2286000" cy="896112"/>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Post thanking nurses and doctors</a:t>
            </a:r>
            <a:endParaRPr lang="en-US" sz="1400" dirty="0"/>
          </a:p>
        </p:txBody>
      </p:sp>
      <p:sp>
        <p:nvSpPr>
          <p:cNvPr id="21" name="Sample label 1"/>
          <p:cNvSpPr/>
          <p:nvPr/>
        </p:nvSpPr>
        <p:spPr>
          <a:xfrm>
            <a:off x="3063240" y="2642616"/>
            <a:ext cx="1188720" cy="310896"/>
          </a:xfrm>
          <a:prstGeom prst="roundRect">
            <a:avLst>
              <a:gd name="adj" fmla="val 50000"/>
            </a:avLst>
          </a:prstGeom>
          <a:solidFill>
            <a:schemeClr val="accent1"/>
          </a:solidFill>
          <a:ln/>
        </p:spPr>
        <p:txBody>
          <a:bodyPr/>
          <a:lstStyle/>
          <a:p>
            <a:endParaRPr lang="en-IN"/>
          </a:p>
        </p:txBody>
      </p:sp>
      <p:sp>
        <p:nvSpPr>
          <p:cNvPr id="22" name="Text 19"/>
          <p:cNvSpPr txBox="1"/>
          <p:nvPr/>
        </p:nvSpPr>
        <p:spPr>
          <a:xfrm>
            <a:off x="3063240" y="2642616"/>
            <a:ext cx="1188720" cy="310896"/>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Positive</a:t>
            </a:r>
            <a:endParaRPr lang="en-US" sz="1300" dirty="0"/>
          </a:p>
        </p:txBody>
      </p:sp>
      <p:sp>
        <p:nvSpPr>
          <p:cNvPr id="23" name="Text 20"/>
          <p:cNvSpPr txBox="1"/>
          <p:nvPr/>
        </p:nvSpPr>
        <p:spPr>
          <a:xfrm>
            <a:off x="3063240" y="3026664"/>
            <a:ext cx="1188720" cy="274320"/>
          </a:xfrm>
          <a:prstGeom prst="rect">
            <a:avLst/>
          </a:prstGeom>
          <a:noFill/>
          <a:ln/>
        </p:spPr>
        <p:txBody>
          <a:bodyPr wrap="square" lIns="0" tIns="0" rIns="0" bIns="0" rtlCol="0" anchor="t"/>
          <a:lstStyle/>
          <a:p>
            <a:pPr marL="0" indent="0" algn="ctr">
              <a:buNone/>
            </a:pPr>
            <a:r>
              <a:rPr lang="en-US" sz="1200" dirty="0">
                <a:solidFill>
                  <a:schemeClr val="accent5"/>
                </a:solidFill>
                <a:latin typeface="Calibri" pitchFamily="34" charset="0"/>
                <a:ea typeface="Calibri" pitchFamily="34" charset="-122"/>
                <a:cs typeface="Calibri" pitchFamily="34" charset="-120"/>
              </a:rPr>
              <a:t>confidence ~100%</a:t>
            </a:r>
            <a:endParaRPr lang="en-US" sz="1200" dirty="0"/>
          </a:p>
        </p:txBody>
      </p:sp>
      <p:sp>
        <p:nvSpPr>
          <p:cNvPr id="24" name="Sample 2"/>
          <p:cNvSpPr/>
          <p:nvPr/>
        </p:nvSpPr>
        <p:spPr>
          <a:xfrm>
            <a:off x="4663440" y="2514600"/>
            <a:ext cx="4023360" cy="896112"/>
          </a:xfrm>
          <a:prstGeom prst="roundRect">
            <a:avLst>
              <a:gd name="adj" fmla="val 12245"/>
            </a:avLst>
          </a:prstGeom>
          <a:solidFill>
            <a:schemeClr val="bg2"/>
          </a:solidFill>
          <a:ln/>
        </p:spPr>
        <p:txBody>
          <a:bodyPr/>
          <a:lstStyle/>
          <a:p>
            <a:endParaRPr lang="en-IN"/>
          </a:p>
        </p:txBody>
      </p:sp>
      <p:sp>
        <p:nvSpPr>
          <p:cNvPr id="25" name="Text 22"/>
          <p:cNvSpPr txBox="1"/>
          <p:nvPr/>
        </p:nvSpPr>
        <p:spPr>
          <a:xfrm>
            <a:off x="4846320" y="2514600"/>
            <a:ext cx="2286000" cy="896112"/>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Post about panic buying and fear</a:t>
            </a:r>
            <a:endParaRPr lang="en-US" sz="1400" dirty="0"/>
          </a:p>
        </p:txBody>
      </p:sp>
      <p:sp>
        <p:nvSpPr>
          <p:cNvPr id="26" name="Sample label 2"/>
          <p:cNvSpPr/>
          <p:nvPr/>
        </p:nvSpPr>
        <p:spPr>
          <a:xfrm>
            <a:off x="7269480" y="2642616"/>
            <a:ext cx="1188720" cy="310896"/>
          </a:xfrm>
          <a:prstGeom prst="roundRect">
            <a:avLst>
              <a:gd name="adj" fmla="val 50000"/>
            </a:avLst>
          </a:prstGeom>
          <a:solidFill>
            <a:schemeClr val="accent2"/>
          </a:solidFill>
          <a:ln/>
        </p:spPr>
        <p:txBody>
          <a:bodyPr/>
          <a:lstStyle/>
          <a:p>
            <a:endParaRPr lang="en-IN"/>
          </a:p>
        </p:txBody>
      </p:sp>
      <p:sp>
        <p:nvSpPr>
          <p:cNvPr id="27" name="Text 24"/>
          <p:cNvSpPr txBox="1"/>
          <p:nvPr/>
        </p:nvSpPr>
        <p:spPr>
          <a:xfrm>
            <a:off x="7269480" y="2642616"/>
            <a:ext cx="1188720" cy="310896"/>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Negative</a:t>
            </a:r>
            <a:endParaRPr lang="en-US" sz="1300" dirty="0"/>
          </a:p>
        </p:txBody>
      </p:sp>
      <p:sp>
        <p:nvSpPr>
          <p:cNvPr id="28" name="Text 25"/>
          <p:cNvSpPr txBox="1"/>
          <p:nvPr/>
        </p:nvSpPr>
        <p:spPr>
          <a:xfrm>
            <a:off x="7269480" y="3026664"/>
            <a:ext cx="1188720" cy="274320"/>
          </a:xfrm>
          <a:prstGeom prst="rect">
            <a:avLst/>
          </a:prstGeom>
          <a:noFill/>
          <a:ln/>
        </p:spPr>
        <p:txBody>
          <a:bodyPr wrap="square" lIns="0" tIns="0" rIns="0" bIns="0" rtlCol="0" anchor="t"/>
          <a:lstStyle/>
          <a:p>
            <a:pPr marL="0" indent="0" algn="ctr">
              <a:buNone/>
            </a:pPr>
            <a:r>
              <a:rPr lang="en-US" sz="1200" dirty="0">
                <a:solidFill>
                  <a:schemeClr val="accent5"/>
                </a:solidFill>
                <a:latin typeface="Calibri" pitchFamily="34" charset="0"/>
                <a:ea typeface="Calibri" pitchFamily="34" charset="-122"/>
                <a:cs typeface="Calibri" pitchFamily="34" charset="-120"/>
              </a:rPr>
              <a:t>confidence ~100%</a:t>
            </a:r>
            <a:endParaRPr lang="en-US" sz="1200" dirty="0"/>
          </a:p>
        </p:txBody>
      </p:sp>
      <p:sp>
        <p:nvSpPr>
          <p:cNvPr id="29" name="Sample 3"/>
          <p:cNvSpPr/>
          <p:nvPr/>
        </p:nvSpPr>
        <p:spPr>
          <a:xfrm>
            <a:off x="457200" y="3538728"/>
            <a:ext cx="4023360" cy="896112"/>
          </a:xfrm>
          <a:prstGeom prst="roundRect">
            <a:avLst>
              <a:gd name="adj" fmla="val 12245"/>
            </a:avLst>
          </a:prstGeom>
          <a:solidFill>
            <a:schemeClr val="bg2"/>
          </a:solidFill>
          <a:ln/>
        </p:spPr>
        <p:txBody>
          <a:bodyPr/>
          <a:lstStyle/>
          <a:p>
            <a:endParaRPr lang="en-IN"/>
          </a:p>
        </p:txBody>
      </p:sp>
      <p:sp>
        <p:nvSpPr>
          <p:cNvPr id="30" name="Text 27"/>
          <p:cNvSpPr txBox="1"/>
          <p:nvPr/>
        </p:nvSpPr>
        <p:spPr>
          <a:xfrm>
            <a:off x="640080" y="3538728"/>
            <a:ext cx="2286000" cy="896112"/>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Notice about new government guidelines</a:t>
            </a:r>
            <a:endParaRPr lang="en-US" sz="1400" dirty="0"/>
          </a:p>
        </p:txBody>
      </p:sp>
      <p:sp>
        <p:nvSpPr>
          <p:cNvPr id="31" name="Sample label 3"/>
          <p:cNvSpPr/>
          <p:nvPr/>
        </p:nvSpPr>
        <p:spPr>
          <a:xfrm>
            <a:off x="3063240" y="3666744"/>
            <a:ext cx="1188720" cy="310896"/>
          </a:xfrm>
          <a:prstGeom prst="roundRect">
            <a:avLst>
              <a:gd name="adj" fmla="val 50000"/>
            </a:avLst>
          </a:prstGeom>
          <a:solidFill>
            <a:schemeClr val="accent3"/>
          </a:solidFill>
          <a:ln/>
        </p:spPr>
        <p:txBody>
          <a:bodyPr/>
          <a:lstStyle/>
          <a:p>
            <a:endParaRPr lang="en-IN"/>
          </a:p>
        </p:txBody>
      </p:sp>
      <p:sp>
        <p:nvSpPr>
          <p:cNvPr id="32" name="Text 29"/>
          <p:cNvSpPr txBox="1"/>
          <p:nvPr/>
        </p:nvSpPr>
        <p:spPr>
          <a:xfrm>
            <a:off x="3063240" y="3666744"/>
            <a:ext cx="1188720" cy="310896"/>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Neutral</a:t>
            </a:r>
            <a:endParaRPr lang="en-US" sz="1300" dirty="0"/>
          </a:p>
        </p:txBody>
      </p:sp>
      <p:sp>
        <p:nvSpPr>
          <p:cNvPr id="33" name="Text 30"/>
          <p:cNvSpPr txBox="1"/>
          <p:nvPr/>
        </p:nvSpPr>
        <p:spPr>
          <a:xfrm>
            <a:off x="3063240" y="4050792"/>
            <a:ext cx="1188720" cy="274320"/>
          </a:xfrm>
          <a:prstGeom prst="rect">
            <a:avLst/>
          </a:prstGeom>
          <a:noFill/>
          <a:ln/>
        </p:spPr>
        <p:txBody>
          <a:bodyPr wrap="square" lIns="0" tIns="0" rIns="0" bIns="0" rtlCol="0" anchor="t"/>
          <a:lstStyle/>
          <a:p>
            <a:pPr marL="0" indent="0" algn="ctr">
              <a:buNone/>
            </a:pPr>
            <a:r>
              <a:rPr lang="en-US" sz="1200" dirty="0">
                <a:solidFill>
                  <a:schemeClr val="accent5"/>
                </a:solidFill>
                <a:latin typeface="Calibri" pitchFamily="34" charset="0"/>
                <a:ea typeface="Calibri" pitchFamily="34" charset="-122"/>
                <a:cs typeface="Calibri" pitchFamily="34" charset="-120"/>
              </a:rPr>
              <a:t>confidence ~75%</a:t>
            </a:r>
            <a:endParaRPr lang="en-US" sz="1200" dirty="0"/>
          </a:p>
        </p:txBody>
      </p:sp>
      <p:sp>
        <p:nvSpPr>
          <p:cNvPr id="34" name="Sample 4"/>
          <p:cNvSpPr/>
          <p:nvPr/>
        </p:nvSpPr>
        <p:spPr>
          <a:xfrm>
            <a:off x="4663440" y="3538728"/>
            <a:ext cx="4023360" cy="896112"/>
          </a:xfrm>
          <a:prstGeom prst="roundRect">
            <a:avLst>
              <a:gd name="adj" fmla="val 12245"/>
            </a:avLst>
          </a:prstGeom>
          <a:solidFill>
            <a:schemeClr val="bg2"/>
          </a:solidFill>
          <a:ln/>
        </p:spPr>
        <p:txBody>
          <a:bodyPr/>
          <a:lstStyle/>
          <a:p>
            <a:endParaRPr lang="en-IN"/>
          </a:p>
        </p:txBody>
      </p:sp>
      <p:sp>
        <p:nvSpPr>
          <p:cNvPr id="35" name="Text 32"/>
          <p:cNvSpPr txBox="1"/>
          <p:nvPr/>
        </p:nvSpPr>
        <p:spPr>
          <a:xfrm>
            <a:off x="4846320" y="3538728"/>
            <a:ext cx="2286000" cy="896112"/>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“Not good. Not good at all.”</a:t>
            </a:r>
            <a:endParaRPr lang="en-US" sz="1400" dirty="0"/>
          </a:p>
        </p:txBody>
      </p:sp>
      <p:sp>
        <p:nvSpPr>
          <p:cNvPr id="36" name="Sample label 4"/>
          <p:cNvSpPr/>
          <p:nvPr/>
        </p:nvSpPr>
        <p:spPr>
          <a:xfrm>
            <a:off x="7269480" y="3666744"/>
            <a:ext cx="1188720" cy="310896"/>
          </a:xfrm>
          <a:prstGeom prst="roundRect">
            <a:avLst>
              <a:gd name="adj" fmla="val 50000"/>
            </a:avLst>
          </a:prstGeom>
          <a:solidFill>
            <a:schemeClr val="accent2"/>
          </a:solidFill>
          <a:ln/>
        </p:spPr>
        <p:txBody>
          <a:bodyPr/>
          <a:lstStyle/>
          <a:p>
            <a:endParaRPr lang="en-IN"/>
          </a:p>
        </p:txBody>
      </p:sp>
      <p:sp>
        <p:nvSpPr>
          <p:cNvPr id="37" name="Text 34"/>
          <p:cNvSpPr txBox="1"/>
          <p:nvPr/>
        </p:nvSpPr>
        <p:spPr>
          <a:xfrm>
            <a:off x="7269480" y="3666744"/>
            <a:ext cx="1188720" cy="310896"/>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Negative</a:t>
            </a:r>
            <a:endParaRPr lang="en-US" sz="1300" dirty="0"/>
          </a:p>
        </p:txBody>
      </p:sp>
      <p:sp>
        <p:nvSpPr>
          <p:cNvPr id="38" name="Text 35"/>
          <p:cNvSpPr txBox="1"/>
          <p:nvPr/>
        </p:nvSpPr>
        <p:spPr>
          <a:xfrm>
            <a:off x="7269480" y="4050792"/>
            <a:ext cx="1188720" cy="274320"/>
          </a:xfrm>
          <a:prstGeom prst="rect">
            <a:avLst/>
          </a:prstGeom>
          <a:noFill/>
          <a:ln/>
        </p:spPr>
        <p:txBody>
          <a:bodyPr wrap="square" lIns="0" tIns="0" rIns="0" bIns="0" rtlCol="0" anchor="t"/>
          <a:lstStyle/>
          <a:p>
            <a:pPr marL="0" indent="0" algn="ctr">
              <a:buNone/>
            </a:pPr>
            <a:r>
              <a:rPr lang="en-US" sz="1200" dirty="0">
                <a:solidFill>
                  <a:schemeClr val="accent5"/>
                </a:solidFill>
                <a:latin typeface="Calibri" pitchFamily="34" charset="0"/>
                <a:ea typeface="Calibri" pitchFamily="34" charset="-122"/>
                <a:cs typeface="Calibri" pitchFamily="34" charset="-120"/>
              </a:rPr>
              <a:t>confidence ~53%</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Real-time streaming results</a:t>
            </a:r>
            <a:endParaRPr lang="en-US" sz="3200" dirty="0"/>
          </a:p>
        </p:txBody>
      </p:sp>
      <p:sp>
        <p:nvSpPr>
          <p:cNvPr id="4" name="Flow card Producer"/>
          <p:cNvSpPr/>
          <p:nvPr/>
        </p:nvSpPr>
        <p:spPr>
          <a:xfrm>
            <a:off x="457200" y="1188720"/>
            <a:ext cx="1874520" cy="1371600"/>
          </a:xfrm>
          <a:prstGeom prst="roundRect">
            <a:avLst>
              <a:gd name="adj" fmla="val 8000"/>
            </a:avLst>
          </a:prstGeom>
          <a:solidFill>
            <a:schemeClr val="bg2"/>
          </a:solidFill>
          <a:ln/>
        </p:spPr>
        <p:txBody>
          <a:bodyPr/>
          <a:lstStyle/>
          <a:p>
            <a:endParaRPr lang="en-IN"/>
          </a:p>
        </p:txBody>
      </p:sp>
      <p:sp>
        <p:nvSpPr>
          <p:cNvPr id="5" name="Producer circle"/>
          <p:cNvSpPr/>
          <p:nvPr/>
        </p:nvSpPr>
        <p:spPr>
          <a:xfrm>
            <a:off x="594360" y="1371600"/>
            <a:ext cx="502920" cy="502920"/>
          </a:xfrm>
          <a:prstGeom prst="ellipse">
            <a:avLst/>
          </a:prstGeom>
          <a:solidFill>
            <a:schemeClr val="accent5"/>
          </a:solidFill>
          <a:ln/>
        </p:spPr>
        <p:txBody>
          <a:bodyPr/>
          <a:lstStyle/>
          <a:p>
            <a:endParaRPr lang="en-IN"/>
          </a:p>
        </p:txBody>
      </p:sp>
      <p:pic>
        <p:nvPicPr>
          <p:cNvPr id="6" name="Producer icon" descr="Producer"/>
          <p:cNvPicPr>
            <a:picLocks noChangeAspect="1"/>
          </p:cNvPicPr>
          <p:nvPr/>
        </p:nvPicPr>
        <p:blipFill>
          <a:blip r:embed="rId3"/>
          <a:stretch>
            <a:fillRect/>
          </a:stretch>
        </p:blipFill>
        <p:spPr>
          <a:xfrm>
            <a:off x="720090" y="1497330"/>
            <a:ext cx="251460" cy="251460"/>
          </a:xfrm>
          <a:prstGeom prst="rect">
            <a:avLst/>
          </a:prstGeom>
        </p:spPr>
      </p:pic>
      <p:sp>
        <p:nvSpPr>
          <p:cNvPr id="7" name="Text 3"/>
          <p:cNvSpPr txBox="1"/>
          <p:nvPr/>
        </p:nvSpPr>
        <p:spPr>
          <a:xfrm>
            <a:off x="1188720" y="1371600"/>
            <a:ext cx="10972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Producer</a:t>
            </a:r>
            <a:endParaRPr lang="en-US" sz="1400" dirty="0"/>
          </a:p>
        </p:txBody>
      </p:sp>
      <p:sp>
        <p:nvSpPr>
          <p:cNvPr id="8" name="Text 4"/>
          <p:cNvSpPr txBox="1"/>
          <p:nvPr/>
        </p:nvSpPr>
        <p:spPr>
          <a:xfrm>
            <a:off x="594360" y="2011680"/>
            <a:ext cx="1645920" cy="4572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Replays unseen tweets</a:t>
            </a:r>
            <a:endParaRPr lang="en-US" sz="1300" dirty="0"/>
          </a:p>
        </p:txBody>
      </p:sp>
      <p:sp>
        <p:nvSpPr>
          <p:cNvPr id="9" name="Flow arrow 1"/>
          <p:cNvSpPr/>
          <p:nvPr/>
        </p:nvSpPr>
        <p:spPr>
          <a:xfrm>
            <a:off x="2368296" y="1764792"/>
            <a:ext cx="201168" cy="228600"/>
          </a:xfrm>
          <a:prstGeom prst="rightArrow">
            <a:avLst/>
          </a:prstGeom>
          <a:solidFill>
            <a:schemeClr val="accent5"/>
          </a:solidFill>
          <a:ln/>
        </p:spPr>
        <p:txBody>
          <a:bodyPr/>
          <a:lstStyle/>
          <a:p>
            <a:endParaRPr lang="en-IN"/>
          </a:p>
        </p:txBody>
      </p:sp>
      <p:sp>
        <p:nvSpPr>
          <p:cNvPr id="10" name="Flow card Kafka topic"/>
          <p:cNvSpPr/>
          <p:nvPr/>
        </p:nvSpPr>
        <p:spPr>
          <a:xfrm>
            <a:off x="2606040" y="1188720"/>
            <a:ext cx="1874520" cy="1371600"/>
          </a:xfrm>
          <a:prstGeom prst="roundRect">
            <a:avLst>
              <a:gd name="adj" fmla="val 8000"/>
            </a:avLst>
          </a:prstGeom>
          <a:solidFill>
            <a:schemeClr val="bg2"/>
          </a:solidFill>
          <a:ln/>
        </p:spPr>
        <p:txBody>
          <a:bodyPr/>
          <a:lstStyle/>
          <a:p>
            <a:endParaRPr lang="en-IN"/>
          </a:p>
        </p:txBody>
      </p:sp>
      <p:sp>
        <p:nvSpPr>
          <p:cNvPr id="11" name="Kafka topic circle"/>
          <p:cNvSpPr/>
          <p:nvPr/>
        </p:nvSpPr>
        <p:spPr>
          <a:xfrm>
            <a:off x="2743200" y="1371600"/>
            <a:ext cx="502920" cy="502920"/>
          </a:xfrm>
          <a:prstGeom prst="ellipse">
            <a:avLst/>
          </a:prstGeom>
          <a:solidFill>
            <a:schemeClr val="accent4"/>
          </a:solidFill>
          <a:ln/>
        </p:spPr>
        <p:txBody>
          <a:bodyPr/>
          <a:lstStyle/>
          <a:p>
            <a:endParaRPr lang="en-IN"/>
          </a:p>
        </p:txBody>
      </p:sp>
      <p:pic>
        <p:nvPicPr>
          <p:cNvPr id="12" name="Kafka topic icon" descr="Kafka topic"/>
          <p:cNvPicPr>
            <a:picLocks noChangeAspect="1"/>
          </p:cNvPicPr>
          <p:nvPr/>
        </p:nvPicPr>
        <p:blipFill>
          <a:blip r:embed="rId4"/>
          <a:stretch>
            <a:fillRect/>
          </a:stretch>
        </p:blipFill>
        <p:spPr>
          <a:xfrm>
            <a:off x="2868930" y="1497330"/>
            <a:ext cx="251460" cy="251460"/>
          </a:xfrm>
          <a:prstGeom prst="rect">
            <a:avLst/>
          </a:prstGeom>
        </p:spPr>
      </p:pic>
      <p:sp>
        <p:nvSpPr>
          <p:cNvPr id="13" name="Text 8"/>
          <p:cNvSpPr txBox="1"/>
          <p:nvPr/>
        </p:nvSpPr>
        <p:spPr>
          <a:xfrm>
            <a:off x="3337560" y="1371600"/>
            <a:ext cx="10972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Kafka topic</a:t>
            </a:r>
            <a:endParaRPr lang="en-US" sz="1400" dirty="0"/>
          </a:p>
        </p:txBody>
      </p:sp>
      <p:sp>
        <p:nvSpPr>
          <p:cNvPr id="14" name="Text 9"/>
          <p:cNvSpPr txBox="1"/>
          <p:nvPr/>
        </p:nvSpPr>
        <p:spPr>
          <a:xfrm>
            <a:off x="2743200" y="2011680"/>
            <a:ext cx="1645920" cy="4572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1 broker, 1 partition</a:t>
            </a:r>
            <a:endParaRPr lang="en-US" sz="1300" dirty="0"/>
          </a:p>
        </p:txBody>
      </p:sp>
      <p:sp>
        <p:nvSpPr>
          <p:cNvPr id="15" name="Flow arrow 2"/>
          <p:cNvSpPr/>
          <p:nvPr/>
        </p:nvSpPr>
        <p:spPr>
          <a:xfrm>
            <a:off x="4517136" y="1764792"/>
            <a:ext cx="201168" cy="228600"/>
          </a:xfrm>
          <a:prstGeom prst="rightArrow">
            <a:avLst/>
          </a:prstGeom>
          <a:solidFill>
            <a:schemeClr val="accent5"/>
          </a:solidFill>
          <a:ln/>
        </p:spPr>
        <p:txBody>
          <a:bodyPr/>
          <a:lstStyle/>
          <a:p>
            <a:endParaRPr lang="en-IN"/>
          </a:p>
        </p:txBody>
      </p:sp>
      <p:sp>
        <p:nvSpPr>
          <p:cNvPr id="16" name="Flow card Consumer"/>
          <p:cNvSpPr/>
          <p:nvPr/>
        </p:nvSpPr>
        <p:spPr>
          <a:xfrm>
            <a:off x="4754880" y="1188720"/>
            <a:ext cx="1874520" cy="1371600"/>
          </a:xfrm>
          <a:prstGeom prst="roundRect">
            <a:avLst>
              <a:gd name="adj" fmla="val 8000"/>
            </a:avLst>
          </a:prstGeom>
          <a:solidFill>
            <a:schemeClr val="bg2"/>
          </a:solidFill>
          <a:ln/>
        </p:spPr>
        <p:txBody>
          <a:bodyPr/>
          <a:lstStyle/>
          <a:p>
            <a:endParaRPr lang="en-IN"/>
          </a:p>
        </p:txBody>
      </p:sp>
      <p:sp>
        <p:nvSpPr>
          <p:cNvPr id="17" name="Consumer circle"/>
          <p:cNvSpPr/>
          <p:nvPr/>
        </p:nvSpPr>
        <p:spPr>
          <a:xfrm>
            <a:off x="4892040" y="1371600"/>
            <a:ext cx="502920" cy="502920"/>
          </a:xfrm>
          <a:prstGeom prst="ellipse">
            <a:avLst/>
          </a:prstGeom>
          <a:solidFill>
            <a:schemeClr val="accent3"/>
          </a:solidFill>
          <a:ln/>
        </p:spPr>
        <p:txBody>
          <a:bodyPr/>
          <a:lstStyle/>
          <a:p>
            <a:endParaRPr lang="en-IN"/>
          </a:p>
        </p:txBody>
      </p:sp>
      <p:pic>
        <p:nvPicPr>
          <p:cNvPr id="18" name="Consumer icon" descr="Consumer"/>
          <p:cNvPicPr>
            <a:picLocks noChangeAspect="1"/>
          </p:cNvPicPr>
          <p:nvPr/>
        </p:nvPicPr>
        <p:blipFill>
          <a:blip r:embed="rId5"/>
          <a:stretch>
            <a:fillRect/>
          </a:stretch>
        </p:blipFill>
        <p:spPr>
          <a:xfrm>
            <a:off x="5017770" y="1497330"/>
            <a:ext cx="251460" cy="251460"/>
          </a:xfrm>
          <a:prstGeom prst="rect">
            <a:avLst/>
          </a:prstGeom>
        </p:spPr>
      </p:pic>
      <p:sp>
        <p:nvSpPr>
          <p:cNvPr id="19" name="Text 13"/>
          <p:cNvSpPr txBox="1"/>
          <p:nvPr/>
        </p:nvSpPr>
        <p:spPr>
          <a:xfrm>
            <a:off x="5486400" y="1371600"/>
            <a:ext cx="10972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Consumer</a:t>
            </a:r>
            <a:endParaRPr lang="en-US" sz="1400" dirty="0"/>
          </a:p>
        </p:txBody>
      </p:sp>
      <p:sp>
        <p:nvSpPr>
          <p:cNvPr id="20" name="Text 14"/>
          <p:cNvSpPr txBox="1"/>
          <p:nvPr/>
        </p:nvSpPr>
        <p:spPr>
          <a:xfrm>
            <a:off x="4892040" y="2011680"/>
            <a:ext cx="1645920" cy="4572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0.5 s micro-batches</a:t>
            </a:r>
            <a:endParaRPr lang="en-US" sz="1300" dirty="0"/>
          </a:p>
        </p:txBody>
      </p:sp>
      <p:sp>
        <p:nvSpPr>
          <p:cNvPr id="21" name="Flow arrow 3"/>
          <p:cNvSpPr/>
          <p:nvPr/>
        </p:nvSpPr>
        <p:spPr>
          <a:xfrm>
            <a:off x="6665976" y="1764792"/>
            <a:ext cx="201168" cy="228600"/>
          </a:xfrm>
          <a:prstGeom prst="rightArrow">
            <a:avLst/>
          </a:prstGeom>
          <a:solidFill>
            <a:schemeClr val="accent5"/>
          </a:solidFill>
          <a:ln/>
        </p:spPr>
        <p:txBody>
          <a:bodyPr/>
          <a:lstStyle/>
          <a:p>
            <a:endParaRPr lang="en-IN"/>
          </a:p>
        </p:txBody>
      </p:sp>
      <p:sp>
        <p:nvSpPr>
          <p:cNvPr id="22" name="Flow card Spark + model"/>
          <p:cNvSpPr/>
          <p:nvPr/>
        </p:nvSpPr>
        <p:spPr>
          <a:xfrm>
            <a:off x="6903720" y="1188720"/>
            <a:ext cx="1874520" cy="1371600"/>
          </a:xfrm>
          <a:prstGeom prst="roundRect">
            <a:avLst>
              <a:gd name="adj" fmla="val 8000"/>
            </a:avLst>
          </a:prstGeom>
          <a:solidFill>
            <a:schemeClr val="bg2"/>
          </a:solidFill>
          <a:ln/>
        </p:spPr>
        <p:txBody>
          <a:bodyPr/>
          <a:lstStyle/>
          <a:p>
            <a:endParaRPr lang="en-IN"/>
          </a:p>
        </p:txBody>
      </p:sp>
      <p:sp>
        <p:nvSpPr>
          <p:cNvPr id="23" name="Spark + model circle"/>
          <p:cNvSpPr/>
          <p:nvPr/>
        </p:nvSpPr>
        <p:spPr>
          <a:xfrm>
            <a:off x="7040880" y="1371600"/>
            <a:ext cx="502920" cy="502920"/>
          </a:xfrm>
          <a:prstGeom prst="ellipse">
            <a:avLst/>
          </a:prstGeom>
          <a:solidFill>
            <a:schemeClr val="accent1"/>
          </a:solidFill>
          <a:ln/>
        </p:spPr>
        <p:txBody>
          <a:bodyPr/>
          <a:lstStyle/>
          <a:p>
            <a:endParaRPr lang="en-IN"/>
          </a:p>
        </p:txBody>
      </p:sp>
      <p:pic>
        <p:nvPicPr>
          <p:cNvPr id="24" name="Spark + model icon" descr="Spark + model"/>
          <p:cNvPicPr>
            <a:picLocks noChangeAspect="1"/>
          </p:cNvPicPr>
          <p:nvPr/>
        </p:nvPicPr>
        <p:blipFill>
          <a:blip r:embed="rId6"/>
          <a:stretch>
            <a:fillRect/>
          </a:stretch>
        </p:blipFill>
        <p:spPr>
          <a:xfrm>
            <a:off x="7166610" y="1497330"/>
            <a:ext cx="251460" cy="251460"/>
          </a:xfrm>
          <a:prstGeom prst="rect">
            <a:avLst/>
          </a:prstGeom>
        </p:spPr>
      </p:pic>
      <p:sp>
        <p:nvSpPr>
          <p:cNvPr id="25" name="Text 18"/>
          <p:cNvSpPr txBox="1"/>
          <p:nvPr/>
        </p:nvSpPr>
        <p:spPr>
          <a:xfrm>
            <a:off x="7635240" y="1371600"/>
            <a:ext cx="1097280" cy="50292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Spark + model</a:t>
            </a:r>
            <a:endParaRPr lang="en-US" sz="1400" dirty="0"/>
          </a:p>
        </p:txBody>
      </p:sp>
      <p:sp>
        <p:nvSpPr>
          <p:cNvPr id="26" name="Text 19"/>
          <p:cNvSpPr txBox="1"/>
          <p:nvPr/>
        </p:nvSpPr>
        <p:spPr>
          <a:xfrm>
            <a:off x="7040880" y="2011680"/>
            <a:ext cx="1645920" cy="4572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Score and aggregate</a:t>
            </a:r>
            <a:endParaRPr lang="en-US" sz="1300" dirty="0"/>
          </a:p>
        </p:txBody>
      </p:sp>
      <p:sp>
        <p:nvSpPr>
          <p:cNvPr id="27" name="Live stat 1"/>
          <p:cNvSpPr/>
          <p:nvPr/>
        </p:nvSpPr>
        <p:spPr>
          <a:xfrm>
            <a:off x="457200" y="2880360"/>
            <a:ext cx="2560320" cy="1600200"/>
          </a:xfrm>
          <a:prstGeom prst="roundRect">
            <a:avLst>
              <a:gd name="adj" fmla="val 6857"/>
            </a:avLst>
          </a:prstGeom>
          <a:solidFill>
            <a:schemeClr val="bg2"/>
          </a:solidFill>
          <a:ln/>
        </p:spPr>
        <p:txBody>
          <a:bodyPr/>
          <a:lstStyle/>
          <a:p>
            <a:endParaRPr lang="en-IN"/>
          </a:p>
        </p:txBody>
      </p:sp>
      <p:sp>
        <p:nvSpPr>
          <p:cNvPr id="28" name="Text 21"/>
          <p:cNvSpPr txBox="1"/>
          <p:nvPr/>
        </p:nvSpPr>
        <p:spPr>
          <a:xfrm>
            <a:off x="640080" y="3017520"/>
            <a:ext cx="2194560" cy="640080"/>
          </a:xfrm>
          <a:prstGeom prst="rect">
            <a:avLst/>
          </a:prstGeom>
          <a:noFill/>
          <a:ln/>
        </p:spPr>
        <p:txBody>
          <a:bodyPr wrap="square" lIns="0" tIns="0" rIns="0" bIns="0" rtlCol="0" anchor="t"/>
          <a:lstStyle/>
          <a:p>
            <a:pPr marL="0" indent="0">
              <a:buNone/>
            </a:pPr>
            <a:r>
              <a:rPr lang="en-US" sz="3800" b="1" dirty="0">
                <a:solidFill>
                  <a:schemeClr val="accent4"/>
                </a:solidFill>
                <a:latin typeface="Cambria" pitchFamily="34" charset="0"/>
                <a:ea typeface="Cambria" pitchFamily="34" charset="-122"/>
                <a:cs typeface="Cambria" pitchFamily="34" charset="-120"/>
              </a:rPr>
              <a:t>1,200</a:t>
            </a:r>
            <a:endParaRPr lang="en-US" sz="3800" dirty="0"/>
          </a:p>
        </p:txBody>
      </p:sp>
      <p:sp>
        <p:nvSpPr>
          <p:cNvPr id="29" name="Text 22"/>
          <p:cNvSpPr txBox="1"/>
          <p:nvPr/>
        </p:nvSpPr>
        <p:spPr>
          <a:xfrm>
            <a:off x="640080" y="3703320"/>
            <a:ext cx="21945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unseen tweets streamed</a:t>
            </a:r>
            <a:endParaRPr lang="en-US" sz="1400" dirty="0"/>
          </a:p>
        </p:txBody>
      </p:sp>
      <p:sp>
        <p:nvSpPr>
          <p:cNvPr id="30" name="Live stat 2"/>
          <p:cNvSpPr/>
          <p:nvPr/>
        </p:nvSpPr>
        <p:spPr>
          <a:xfrm>
            <a:off x="3291840" y="2880360"/>
            <a:ext cx="2560320" cy="1600200"/>
          </a:xfrm>
          <a:prstGeom prst="roundRect">
            <a:avLst>
              <a:gd name="adj" fmla="val 6857"/>
            </a:avLst>
          </a:prstGeom>
          <a:solidFill>
            <a:schemeClr val="bg2"/>
          </a:solidFill>
          <a:ln/>
        </p:spPr>
        <p:txBody>
          <a:bodyPr/>
          <a:lstStyle/>
          <a:p>
            <a:endParaRPr lang="en-IN"/>
          </a:p>
        </p:txBody>
      </p:sp>
      <p:sp>
        <p:nvSpPr>
          <p:cNvPr id="31" name="Text 24"/>
          <p:cNvSpPr txBox="1"/>
          <p:nvPr/>
        </p:nvSpPr>
        <p:spPr>
          <a:xfrm>
            <a:off x="3474720" y="3017520"/>
            <a:ext cx="2194560" cy="640080"/>
          </a:xfrm>
          <a:prstGeom prst="rect">
            <a:avLst/>
          </a:prstGeom>
          <a:noFill/>
          <a:ln/>
        </p:spPr>
        <p:txBody>
          <a:bodyPr wrap="square" lIns="0" tIns="0" rIns="0" bIns="0" rtlCol="0" anchor="t"/>
          <a:lstStyle/>
          <a:p>
            <a:pPr marL="0" indent="0">
              <a:buNone/>
            </a:pPr>
            <a:r>
              <a:rPr lang="en-US" sz="3800" b="1" dirty="0">
                <a:solidFill>
                  <a:schemeClr val="accent4"/>
                </a:solidFill>
                <a:latin typeface="Cambria" pitchFamily="34" charset="0"/>
                <a:ea typeface="Cambria" pitchFamily="34" charset="-122"/>
                <a:cs typeface="Cambria" pitchFamily="34" charset="-120"/>
              </a:rPr>
              <a:t>10</a:t>
            </a:r>
            <a:endParaRPr lang="en-US" sz="3800" dirty="0"/>
          </a:p>
        </p:txBody>
      </p:sp>
      <p:sp>
        <p:nvSpPr>
          <p:cNvPr id="32" name="Text 25"/>
          <p:cNvSpPr txBox="1"/>
          <p:nvPr/>
        </p:nvSpPr>
        <p:spPr>
          <a:xfrm>
            <a:off x="3474720" y="3703320"/>
            <a:ext cx="21945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micro-batches (43–133 tweets each)</a:t>
            </a:r>
            <a:endParaRPr lang="en-US" sz="1400" dirty="0"/>
          </a:p>
        </p:txBody>
      </p:sp>
      <p:sp>
        <p:nvSpPr>
          <p:cNvPr id="33" name="Live stat 3"/>
          <p:cNvSpPr/>
          <p:nvPr/>
        </p:nvSpPr>
        <p:spPr>
          <a:xfrm>
            <a:off x="6126480" y="2880360"/>
            <a:ext cx="2560320" cy="1600200"/>
          </a:xfrm>
          <a:prstGeom prst="roundRect">
            <a:avLst>
              <a:gd name="adj" fmla="val 6857"/>
            </a:avLst>
          </a:prstGeom>
          <a:solidFill>
            <a:schemeClr val="tx2"/>
          </a:solidFill>
          <a:ln/>
        </p:spPr>
        <p:txBody>
          <a:bodyPr/>
          <a:lstStyle/>
          <a:p>
            <a:endParaRPr lang="en-IN"/>
          </a:p>
        </p:txBody>
      </p:sp>
      <p:sp>
        <p:nvSpPr>
          <p:cNvPr id="34" name="Text 27"/>
          <p:cNvSpPr txBox="1"/>
          <p:nvPr/>
        </p:nvSpPr>
        <p:spPr>
          <a:xfrm>
            <a:off x="6309360" y="3017520"/>
            <a:ext cx="2194560" cy="64008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77.2%</a:t>
            </a:r>
            <a:endParaRPr lang="en-US" sz="3800" dirty="0"/>
          </a:p>
        </p:txBody>
      </p:sp>
      <p:sp>
        <p:nvSpPr>
          <p:cNvPr id="35" name="Text 28"/>
          <p:cNvSpPr txBox="1"/>
          <p:nvPr/>
        </p:nvSpPr>
        <p:spPr>
          <a:xfrm>
            <a:off x="6309360" y="3703320"/>
            <a:ext cx="2194560" cy="640080"/>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live accuracy, same as the offline test</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7-day sentiment forecast</a:t>
            </a:r>
            <a:endParaRPr lang="en-US" sz="3200" dirty="0"/>
          </a:p>
        </p:txBody>
      </p:sp>
      <p:graphicFrame>
        <p:nvGraphicFramePr>
          <p:cNvPr id="4" name="Chart 0"/>
          <p:cNvGraphicFramePr/>
          <p:nvPr/>
        </p:nvGraphicFramePr>
        <p:xfrm>
          <a:off x="365760" y="1097280"/>
          <a:ext cx="393192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5" name="Method card"/>
          <p:cNvSpPr/>
          <p:nvPr/>
        </p:nvSpPr>
        <p:spPr>
          <a:xfrm>
            <a:off x="4572000" y="1188720"/>
            <a:ext cx="4114800" cy="1234440"/>
          </a:xfrm>
          <a:prstGeom prst="roundRect">
            <a:avLst>
              <a:gd name="adj" fmla="val 8889"/>
            </a:avLst>
          </a:prstGeom>
          <a:solidFill>
            <a:schemeClr val="tx2"/>
          </a:solidFill>
          <a:ln/>
        </p:spPr>
        <p:txBody>
          <a:bodyPr/>
          <a:lstStyle/>
          <a:p>
            <a:endParaRPr lang="en-IN"/>
          </a:p>
        </p:txBody>
      </p:sp>
      <p:sp>
        <p:nvSpPr>
          <p:cNvPr id="6" name="Text 2"/>
          <p:cNvSpPr txBox="1"/>
          <p:nvPr/>
        </p:nvSpPr>
        <p:spPr>
          <a:xfrm>
            <a:off x="4754880" y="1280160"/>
            <a:ext cx="3749040" cy="274320"/>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Linear trend</a:t>
            </a:r>
            <a:endParaRPr lang="en-US" sz="1400" dirty="0"/>
          </a:p>
        </p:txBody>
      </p:sp>
      <p:sp>
        <p:nvSpPr>
          <p:cNvPr id="7" name="Text 3"/>
          <p:cNvSpPr txBox="1"/>
          <p:nvPr/>
        </p:nvSpPr>
        <p:spPr>
          <a:xfrm>
            <a:off x="4754880" y="1600200"/>
            <a:ext cx="3749040" cy="411480"/>
          </a:xfrm>
          <a:prstGeom prst="rect">
            <a:avLst/>
          </a:prstGeom>
          <a:noFill/>
          <a:ln/>
        </p:spPr>
        <p:txBody>
          <a:bodyPr wrap="square" lIns="0" tIns="0" rIns="0" bIns="0" rtlCol="0" anchor="t"/>
          <a:lstStyle/>
          <a:p>
            <a:pPr marL="0" indent="0">
              <a:buNone/>
            </a:pPr>
            <a:r>
              <a:rPr lang="en-US" sz="2200" b="1" dirty="0">
                <a:solidFill>
                  <a:schemeClr val="bg1"/>
                </a:solidFill>
                <a:latin typeface="Cambria" pitchFamily="34" charset="0"/>
                <a:ea typeface="Cambria" pitchFamily="34" charset="-122"/>
                <a:cs typeface="Cambria" pitchFamily="34" charset="-120"/>
              </a:rPr>
              <a:t>share(day) = a + b × day</a:t>
            </a:r>
            <a:endParaRPr lang="en-US" sz="2200" dirty="0"/>
          </a:p>
        </p:txBody>
      </p:sp>
      <p:sp>
        <p:nvSpPr>
          <p:cNvPr id="8" name="Text 4"/>
          <p:cNvSpPr txBox="1"/>
          <p:nvPr/>
        </p:nvSpPr>
        <p:spPr>
          <a:xfrm>
            <a:off x="4754880" y="2057400"/>
            <a:ext cx="3749040" cy="274320"/>
          </a:xfrm>
          <a:prstGeom prst="rect">
            <a:avLst/>
          </a:prstGeom>
          <a:noFill/>
          <a:ln/>
        </p:spPr>
        <p:txBody>
          <a:bodyPr wrap="square" lIns="0" tIns="0" rIns="0" bIns="0" rtlCol="0" anchor="t"/>
          <a:lstStyle/>
          <a:p>
            <a:pPr marL="0" indent="0">
              <a:buNone/>
            </a:pPr>
            <a:r>
              <a:rPr lang="en-US" sz="1300" dirty="0">
                <a:solidFill>
                  <a:schemeClr val="bg1"/>
                </a:solidFill>
                <a:latin typeface="Calibri" pitchFamily="34" charset="0"/>
                <a:ea typeface="Calibri" pitchFamily="34" charset="-122"/>
                <a:cs typeface="Calibri" pitchFamily="34" charset="-120"/>
              </a:rPr>
              <a:t>Fit on 30 daily shares per class, extend 7 days</a:t>
            </a:r>
            <a:endParaRPr lang="en-US" sz="1300" dirty="0"/>
          </a:p>
        </p:txBody>
      </p:sp>
      <p:sp>
        <p:nvSpPr>
          <p:cNvPr id="9" name="Text 5"/>
          <p:cNvSpPr txBox="1"/>
          <p:nvPr/>
        </p:nvSpPr>
        <p:spPr>
          <a:xfrm>
            <a:off x="4572000" y="2606040"/>
            <a:ext cx="411480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Daily trend b (percentage points per day)</a:t>
            </a:r>
            <a:endParaRPr lang="en-US" sz="1400" dirty="0"/>
          </a:p>
        </p:txBody>
      </p:sp>
      <p:sp>
        <p:nvSpPr>
          <p:cNvPr id="10" name="Slope card Negative"/>
          <p:cNvSpPr/>
          <p:nvPr/>
        </p:nvSpPr>
        <p:spPr>
          <a:xfrm>
            <a:off x="4572000" y="2971800"/>
            <a:ext cx="1280160" cy="1143000"/>
          </a:xfrm>
          <a:prstGeom prst="roundRect">
            <a:avLst>
              <a:gd name="adj" fmla="val 9600"/>
            </a:avLst>
          </a:prstGeom>
          <a:solidFill>
            <a:schemeClr val="bg2"/>
          </a:solidFill>
          <a:ln/>
        </p:spPr>
        <p:txBody>
          <a:bodyPr/>
          <a:lstStyle/>
          <a:p>
            <a:endParaRPr lang="en-IN"/>
          </a:p>
        </p:txBody>
      </p:sp>
      <p:sp>
        <p:nvSpPr>
          <p:cNvPr id="11" name="Text 7"/>
          <p:cNvSpPr txBox="1"/>
          <p:nvPr/>
        </p:nvSpPr>
        <p:spPr>
          <a:xfrm>
            <a:off x="4572000" y="3063240"/>
            <a:ext cx="1280160" cy="50292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−0.21</a:t>
            </a:r>
            <a:endParaRPr lang="en-US" sz="2600" dirty="0"/>
          </a:p>
        </p:txBody>
      </p:sp>
      <p:sp>
        <p:nvSpPr>
          <p:cNvPr id="12" name="Dot Negative"/>
          <p:cNvSpPr/>
          <p:nvPr/>
        </p:nvSpPr>
        <p:spPr>
          <a:xfrm>
            <a:off x="4754880" y="3749040"/>
            <a:ext cx="164592" cy="164592"/>
          </a:xfrm>
          <a:prstGeom prst="ellipse">
            <a:avLst/>
          </a:prstGeom>
          <a:solidFill>
            <a:schemeClr val="accent2"/>
          </a:solidFill>
          <a:ln/>
        </p:spPr>
        <p:txBody>
          <a:bodyPr/>
          <a:lstStyle/>
          <a:p>
            <a:endParaRPr lang="en-IN"/>
          </a:p>
        </p:txBody>
      </p:sp>
      <p:sp>
        <p:nvSpPr>
          <p:cNvPr id="13" name="Text 9"/>
          <p:cNvSpPr txBox="1"/>
          <p:nvPr/>
        </p:nvSpPr>
        <p:spPr>
          <a:xfrm>
            <a:off x="4983480" y="3703320"/>
            <a:ext cx="822960" cy="25603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Negative</a:t>
            </a:r>
            <a:endParaRPr lang="en-US" sz="1200" dirty="0"/>
          </a:p>
        </p:txBody>
      </p:sp>
      <p:sp>
        <p:nvSpPr>
          <p:cNvPr id="14" name="Slope card Neutral"/>
          <p:cNvSpPr/>
          <p:nvPr/>
        </p:nvSpPr>
        <p:spPr>
          <a:xfrm>
            <a:off x="5989320" y="2971800"/>
            <a:ext cx="1280160" cy="1143000"/>
          </a:xfrm>
          <a:prstGeom prst="roundRect">
            <a:avLst>
              <a:gd name="adj" fmla="val 9600"/>
            </a:avLst>
          </a:prstGeom>
          <a:solidFill>
            <a:schemeClr val="bg2"/>
          </a:solidFill>
          <a:ln/>
        </p:spPr>
        <p:txBody>
          <a:bodyPr/>
          <a:lstStyle/>
          <a:p>
            <a:endParaRPr lang="en-IN"/>
          </a:p>
        </p:txBody>
      </p:sp>
      <p:sp>
        <p:nvSpPr>
          <p:cNvPr id="15" name="Text 11"/>
          <p:cNvSpPr txBox="1"/>
          <p:nvPr/>
        </p:nvSpPr>
        <p:spPr>
          <a:xfrm>
            <a:off x="5989320" y="3063240"/>
            <a:ext cx="1280160" cy="50292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+0.11</a:t>
            </a:r>
            <a:endParaRPr lang="en-US" sz="2600" dirty="0"/>
          </a:p>
        </p:txBody>
      </p:sp>
      <p:sp>
        <p:nvSpPr>
          <p:cNvPr id="16" name="Dot Neutral"/>
          <p:cNvSpPr/>
          <p:nvPr/>
        </p:nvSpPr>
        <p:spPr>
          <a:xfrm>
            <a:off x="6172200" y="3749040"/>
            <a:ext cx="164592" cy="164592"/>
          </a:xfrm>
          <a:prstGeom prst="ellipse">
            <a:avLst/>
          </a:prstGeom>
          <a:solidFill>
            <a:schemeClr val="accent3"/>
          </a:solidFill>
          <a:ln/>
        </p:spPr>
        <p:txBody>
          <a:bodyPr/>
          <a:lstStyle/>
          <a:p>
            <a:endParaRPr lang="en-IN"/>
          </a:p>
        </p:txBody>
      </p:sp>
      <p:sp>
        <p:nvSpPr>
          <p:cNvPr id="17" name="Text 13"/>
          <p:cNvSpPr txBox="1"/>
          <p:nvPr/>
        </p:nvSpPr>
        <p:spPr>
          <a:xfrm>
            <a:off x="6400800" y="3703320"/>
            <a:ext cx="822960" cy="25603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Neutral</a:t>
            </a:r>
            <a:endParaRPr lang="en-US" sz="1200" dirty="0"/>
          </a:p>
        </p:txBody>
      </p:sp>
      <p:sp>
        <p:nvSpPr>
          <p:cNvPr id="18" name="Slope card Positive"/>
          <p:cNvSpPr/>
          <p:nvPr/>
        </p:nvSpPr>
        <p:spPr>
          <a:xfrm>
            <a:off x="7406640" y="2971800"/>
            <a:ext cx="1280160" cy="1143000"/>
          </a:xfrm>
          <a:prstGeom prst="roundRect">
            <a:avLst>
              <a:gd name="adj" fmla="val 9600"/>
            </a:avLst>
          </a:prstGeom>
          <a:solidFill>
            <a:schemeClr val="bg2"/>
          </a:solidFill>
          <a:ln/>
        </p:spPr>
        <p:txBody>
          <a:bodyPr/>
          <a:lstStyle/>
          <a:p>
            <a:endParaRPr lang="en-IN"/>
          </a:p>
        </p:txBody>
      </p:sp>
      <p:sp>
        <p:nvSpPr>
          <p:cNvPr id="19" name="Text 15"/>
          <p:cNvSpPr txBox="1"/>
          <p:nvPr/>
        </p:nvSpPr>
        <p:spPr>
          <a:xfrm>
            <a:off x="7406640" y="3063240"/>
            <a:ext cx="1280160" cy="502920"/>
          </a:xfrm>
          <a:prstGeom prst="rect">
            <a:avLst/>
          </a:prstGeom>
          <a:noFill/>
          <a:ln/>
        </p:spPr>
        <p:txBody>
          <a:bodyPr wrap="square" lIns="0" tIns="0" rIns="0" bIns="0" rtlCol="0" anchor="t"/>
          <a:lstStyle/>
          <a:p>
            <a:pPr marL="0" indent="0" algn="ctr">
              <a:buNone/>
            </a:pPr>
            <a:r>
              <a:rPr lang="en-US" sz="2600" b="1" dirty="0">
                <a:solidFill>
                  <a:schemeClr val="tx2"/>
                </a:solidFill>
                <a:latin typeface="Cambria" pitchFamily="34" charset="0"/>
                <a:ea typeface="Cambria" pitchFamily="34" charset="-122"/>
                <a:cs typeface="Cambria" pitchFamily="34" charset="-120"/>
              </a:rPr>
              <a:t>+0.11</a:t>
            </a:r>
            <a:endParaRPr lang="en-US" sz="2600" dirty="0"/>
          </a:p>
        </p:txBody>
      </p:sp>
      <p:sp>
        <p:nvSpPr>
          <p:cNvPr id="20" name="Dot Positive"/>
          <p:cNvSpPr/>
          <p:nvPr/>
        </p:nvSpPr>
        <p:spPr>
          <a:xfrm>
            <a:off x="7589520" y="3749040"/>
            <a:ext cx="164592" cy="164592"/>
          </a:xfrm>
          <a:prstGeom prst="ellipse">
            <a:avLst/>
          </a:prstGeom>
          <a:solidFill>
            <a:schemeClr val="accent1"/>
          </a:solidFill>
          <a:ln/>
        </p:spPr>
        <p:txBody>
          <a:bodyPr/>
          <a:lstStyle/>
          <a:p>
            <a:endParaRPr lang="en-IN"/>
          </a:p>
        </p:txBody>
      </p:sp>
      <p:sp>
        <p:nvSpPr>
          <p:cNvPr id="21" name="Text 17"/>
          <p:cNvSpPr txBox="1"/>
          <p:nvPr/>
        </p:nvSpPr>
        <p:spPr>
          <a:xfrm>
            <a:off x="7818120" y="3703320"/>
            <a:ext cx="822960" cy="256032"/>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Positive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Can we trust the forecast?</a:t>
            </a:r>
            <a:endParaRPr lang="en-US" sz="3200" dirty="0"/>
          </a:p>
        </p:txBody>
      </p:sp>
      <p:graphicFrame>
        <p:nvGraphicFramePr>
          <p:cNvPr id="4" name="Chart 0"/>
          <p:cNvGraphicFramePr/>
          <p:nvPr/>
        </p:nvGraphicFramePr>
        <p:xfrm>
          <a:off x="365760" y="1097280"/>
          <a:ext cx="493776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What the test shows"/>
          <p:cNvSpPr/>
          <p:nvPr/>
        </p:nvSpPr>
        <p:spPr>
          <a:xfrm>
            <a:off x="5577840" y="1188720"/>
            <a:ext cx="3108960" cy="1508760"/>
          </a:xfrm>
          <a:prstGeom prst="roundRect">
            <a:avLst>
              <a:gd name="adj" fmla="val 7273"/>
            </a:avLst>
          </a:prstGeom>
          <a:solidFill>
            <a:schemeClr val="tx2"/>
          </a:solidFill>
          <a:ln/>
        </p:spPr>
        <p:txBody>
          <a:bodyPr/>
          <a:lstStyle/>
          <a:p>
            <a:endParaRPr lang="en-IN"/>
          </a:p>
        </p:txBody>
      </p:sp>
      <p:sp>
        <p:nvSpPr>
          <p:cNvPr id="6" name="Text 2"/>
          <p:cNvSpPr txBox="1"/>
          <p:nvPr/>
        </p:nvSpPr>
        <p:spPr>
          <a:xfrm>
            <a:off x="5760720" y="1298448"/>
            <a:ext cx="2743200" cy="274320"/>
          </a:xfrm>
          <a:prstGeom prst="rect">
            <a:avLst/>
          </a:prstGeom>
          <a:noFill/>
          <a:ln/>
        </p:spPr>
        <p:txBody>
          <a:bodyPr wrap="square" lIns="0" tIns="0" rIns="0" bIns="0" rtlCol="0" anchor="t"/>
          <a:lstStyle/>
          <a:p>
            <a:pPr marL="0" indent="0">
              <a:buNone/>
            </a:pPr>
            <a:r>
              <a:rPr lang="en-US" sz="1500" b="1" dirty="0">
                <a:solidFill>
                  <a:schemeClr val="accent6"/>
                </a:solidFill>
                <a:latin typeface="Calibri" pitchFamily="34" charset="0"/>
                <a:ea typeface="Calibri" pitchFamily="34" charset="-122"/>
                <a:cs typeface="Calibri" pitchFamily="34" charset="-120"/>
              </a:rPr>
              <a:t>What the test shows</a:t>
            </a:r>
            <a:endParaRPr lang="en-US" sz="1500" dirty="0"/>
          </a:p>
        </p:txBody>
      </p:sp>
      <p:sp>
        <p:nvSpPr>
          <p:cNvPr id="7" name="Text 3"/>
          <p:cNvSpPr txBox="1"/>
          <p:nvPr/>
        </p:nvSpPr>
        <p:spPr>
          <a:xfrm>
            <a:off x="5760720" y="1627632"/>
            <a:ext cx="2743200" cy="978408"/>
          </a:xfrm>
          <a:prstGeom prst="rect">
            <a:avLst/>
          </a:prstGeom>
          <a:noFill/>
          <a:ln/>
        </p:spPr>
        <p:txBody>
          <a:bodyPr wrap="square" lIns="0" tIns="0" rIns="0" bIns="0" rtlCol="0" anchor="t"/>
          <a:lstStyle/>
          <a:p>
            <a:pPr marL="0" indent="0">
              <a:buNone/>
            </a:pPr>
            <a:r>
              <a:rPr lang="en-US" sz="1300" dirty="0">
                <a:solidFill>
                  <a:schemeClr val="bg1"/>
                </a:solidFill>
                <a:latin typeface="Calibri" pitchFamily="34" charset="0"/>
                <a:ea typeface="Calibri" pitchFamily="34" charset="-122"/>
                <a:cs typeface="Calibri" pitchFamily="34" charset="-120"/>
              </a:rPr>
              <a:t>The trend beat the average only for Neutral. For Negative and Positive the average was closer.</a:t>
            </a:r>
            <a:endParaRPr lang="en-US" sz="1300" dirty="0"/>
          </a:p>
        </p:txBody>
      </p:sp>
      <p:sp>
        <p:nvSpPr>
          <p:cNvPr id="8" name="Card Why it is noisy"/>
          <p:cNvSpPr/>
          <p:nvPr/>
        </p:nvSpPr>
        <p:spPr>
          <a:xfrm>
            <a:off x="5577840" y="2880360"/>
            <a:ext cx="3108960" cy="1600200"/>
          </a:xfrm>
          <a:prstGeom prst="roundRect">
            <a:avLst>
              <a:gd name="adj" fmla="val 6857"/>
            </a:avLst>
          </a:prstGeom>
          <a:solidFill>
            <a:schemeClr val="bg2"/>
          </a:solidFill>
          <a:ln/>
        </p:spPr>
        <p:txBody>
          <a:bodyPr/>
          <a:lstStyle/>
          <a:p>
            <a:endParaRPr lang="en-IN"/>
          </a:p>
        </p:txBody>
      </p:sp>
      <p:sp>
        <p:nvSpPr>
          <p:cNvPr id="9" name="Text 5"/>
          <p:cNvSpPr txBox="1"/>
          <p:nvPr/>
        </p:nvSpPr>
        <p:spPr>
          <a:xfrm>
            <a:off x="5760720" y="2990088"/>
            <a:ext cx="2743200" cy="274320"/>
          </a:xfrm>
          <a:prstGeom prst="rect">
            <a:avLst/>
          </a:prstGeom>
          <a:noFill/>
          <a:ln/>
        </p:spPr>
        <p:txBody>
          <a:bodyPr wrap="square" lIns="0" tIns="0" rIns="0" bIns="0" rtlCol="0" anchor="t"/>
          <a:lstStyle/>
          <a:p>
            <a:pPr marL="0" indent="0">
              <a:buNone/>
            </a:pPr>
            <a:r>
              <a:rPr lang="en-US" sz="1500" b="1" dirty="0">
                <a:solidFill>
                  <a:schemeClr val="tx2"/>
                </a:solidFill>
                <a:latin typeface="Calibri" pitchFamily="34" charset="0"/>
                <a:ea typeface="Calibri" pitchFamily="34" charset="-122"/>
                <a:cs typeface="Calibri" pitchFamily="34" charset="-120"/>
              </a:rPr>
              <a:t>Why it is noisy</a:t>
            </a:r>
            <a:endParaRPr lang="en-US" sz="1500" dirty="0"/>
          </a:p>
        </p:txBody>
      </p:sp>
      <p:sp>
        <p:nvSpPr>
          <p:cNvPr id="10" name="Text 6"/>
          <p:cNvSpPr txBox="1"/>
          <p:nvPr/>
        </p:nvSpPr>
        <p:spPr>
          <a:xfrm>
            <a:off x="5760720" y="3319272"/>
            <a:ext cx="2743200" cy="106984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Daily volume swings from 3,446 tweets (20 Mar) to 23 (28 Mar), so daily shares jump around.</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Hashtag network: the concepts</a:t>
            </a:r>
            <a:endParaRPr lang="en-US" sz="3200" dirty="0"/>
          </a:p>
        </p:txBody>
      </p:sp>
      <p:sp>
        <p:nvSpPr>
          <p:cNvPr id="4" name="Edge 1"/>
          <p:cNvSpPr/>
          <p:nvPr/>
        </p:nvSpPr>
        <p:spPr>
          <a:xfrm>
            <a:off x="1051560" y="1691640"/>
            <a:ext cx="1645920" cy="1463040"/>
          </a:xfrm>
          <a:prstGeom prst="line">
            <a:avLst/>
          </a:prstGeom>
          <a:noFill/>
          <a:ln w="25400">
            <a:solidFill>
              <a:srgbClr val="B7BDD6"/>
            </a:solidFill>
            <a:prstDash val="solid"/>
          </a:ln>
        </p:spPr>
        <p:txBody>
          <a:bodyPr/>
          <a:lstStyle/>
          <a:p>
            <a:endParaRPr lang="en-IN"/>
          </a:p>
        </p:txBody>
      </p:sp>
      <p:sp>
        <p:nvSpPr>
          <p:cNvPr id="5" name="Edge 2"/>
          <p:cNvSpPr/>
          <p:nvPr/>
        </p:nvSpPr>
        <p:spPr>
          <a:xfrm>
            <a:off x="2354580" y="1485900"/>
            <a:ext cx="342900" cy="1668780"/>
          </a:xfrm>
          <a:prstGeom prst="line">
            <a:avLst/>
          </a:prstGeom>
          <a:noFill/>
          <a:ln w="25400">
            <a:solidFill>
              <a:srgbClr val="B7BDD6"/>
            </a:solidFill>
            <a:prstDash val="solid"/>
          </a:ln>
        </p:spPr>
        <p:txBody>
          <a:bodyPr/>
          <a:lstStyle/>
          <a:p>
            <a:endParaRPr lang="en-IN"/>
          </a:p>
        </p:txBody>
      </p:sp>
      <p:sp>
        <p:nvSpPr>
          <p:cNvPr id="6" name="Edge 3"/>
          <p:cNvSpPr/>
          <p:nvPr/>
        </p:nvSpPr>
        <p:spPr>
          <a:xfrm flipH="1">
            <a:off x="2697480" y="1737360"/>
            <a:ext cx="1143000" cy="1417320"/>
          </a:xfrm>
          <a:prstGeom prst="line">
            <a:avLst/>
          </a:prstGeom>
          <a:noFill/>
          <a:ln w="25400">
            <a:solidFill>
              <a:srgbClr val="B7BDD6"/>
            </a:solidFill>
            <a:prstDash val="solid"/>
          </a:ln>
        </p:spPr>
        <p:txBody>
          <a:bodyPr/>
          <a:lstStyle/>
          <a:p>
            <a:endParaRPr lang="en-IN"/>
          </a:p>
        </p:txBody>
      </p:sp>
      <p:sp>
        <p:nvSpPr>
          <p:cNvPr id="7" name="Edge 4"/>
          <p:cNvSpPr/>
          <p:nvPr/>
        </p:nvSpPr>
        <p:spPr>
          <a:xfrm flipH="1">
            <a:off x="982980" y="3154680"/>
            <a:ext cx="1714500" cy="937260"/>
          </a:xfrm>
          <a:prstGeom prst="line">
            <a:avLst/>
          </a:prstGeom>
          <a:noFill/>
          <a:ln w="25400">
            <a:solidFill>
              <a:srgbClr val="B7BDD6"/>
            </a:solidFill>
            <a:prstDash val="solid"/>
          </a:ln>
        </p:spPr>
        <p:txBody>
          <a:bodyPr/>
          <a:lstStyle/>
          <a:p>
            <a:endParaRPr lang="en-IN"/>
          </a:p>
        </p:txBody>
      </p:sp>
      <p:sp>
        <p:nvSpPr>
          <p:cNvPr id="8" name="Edge 5"/>
          <p:cNvSpPr/>
          <p:nvPr/>
        </p:nvSpPr>
        <p:spPr>
          <a:xfrm>
            <a:off x="2697480" y="3154680"/>
            <a:ext cx="1325880" cy="960120"/>
          </a:xfrm>
          <a:prstGeom prst="line">
            <a:avLst/>
          </a:prstGeom>
          <a:noFill/>
          <a:ln w="25400">
            <a:solidFill>
              <a:srgbClr val="B7BDD6"/>
            </a:solidFill>
            <a:prstDash val="solid"/>
          </a:ln>
        </p:spPr>
        <p:txBody>
          <a:bodyPr/>
          <a:lstStyle/>
          <a:p>
            <a:endParaRPr lang="en-IN"/>
          </a:p>
        </p:txBody>
      </p:sp>
      <p:sp>
        <p:nvSpPr>
          <p:cNvPr id="9" name="Node 1"/>
          <p:cNvSpPr/>
          <p:nvPr/>
        </p:nvSpPr>
        <p:spPr>
          <a:xfrm>
            <a:off x="2286000" y="2743200"/>
            <a:ext cx="822960" cy="822960"/>
          </a:xfrm>
          <a:prstGeom prst="ellipse">
            <a:avLst/>
          </a:prstGeom>
          <a:solidFill>
            <a:schemeClr val="accent4"/>
          </a:solidFill>
          <a:ln w="25400">
            <a:solidFill>
              <a:srgbClr val="FFFFFF"/>
            </a:solidFill>
            <a:prstDash val="solid"/>
          </a:ln>
        </p:spPr>
        <p:txBody>
          <a:bodyPr/>
          <a:lstStyle/>
          <a:p>
            <a:endParaRPr lang="en-IN"/>
          </a:p>
        </p:txBody>
      </p:sp>
      <p:sp>
        <p:nvSpPr>
          <p:cNvPr id="10" name="Node 2"/>
          <p:cNvSpPr/>
          <p:nvPr/>
        </p:nvSpPr>
        <p:spPr>
          <a:xfrm>
            <a:off x="777240" y="1417320"/>
            <a:ext cx="548640" cy="548640"/>
          </a:xfrm>
          <a:prstGeom prst="ellipse">
            <a:avLst/>
          </a:prstGeom>
          <a:solidFill>
            <a:schemeClr val="accent1"/>
          </a:solidFill>
          <a:ln w="25400">
            <a:solidFill>
              <a:srgbClr val="FFFFFF"/>
            </a:solidFill>
            <a:prstDash val="solid"/>
          </a:ln>
        </p:spPr>
        <p:txBody>
          <a:bodyPr/>
          <a:lstStyle/>
          <a:p>
            <a:endParaRPr lang="en-IN"/>
          </a:p>
        </p:txBody>
      </p:sp>
      <p:sp>
        <p:nvSpPr>
          <p:cNvPr id="11" name="Node 3"/>
          <p:cNvSpPr/>
          <p:nvPr/>
        </p:nvSpPr>
        <p:spPr>
          <a:xfrm>
            <a:off x="2103120" y="1234440"/>
            <a:ext cx="502920" cy="502920"/>
          </a:xfrm>
          <a:prstGeom prst="ellipse">
            <a:avLst/>
          </a:prstGeom>
          <a:solidFill>
            <a:schemeClr val="accent3"/>
          </a:solidFill>
          <a:ln w="25400">
            <a:solidFill>
              <a:srgbClr val="FFFFFF"/>
            </a:solidFill>
            <a:prstDash val="solid"/>
          </a:ln>
        </p:spPr>
        <p:txBody>
          <a:bodyPr/>
          <a:lstStyle/>
          <a:p>
            <a:endParaRPr lang="en-IN"/>
          </a:p>
        </p:txBody>
      </p:sp>
      <p:sp>
        <p:nvSpPr>
          <p:cNvPr id="12" name="Node 4"/>
          <p:cNvSpPr/>
          <p:nvPr/>
        </p:nvSpPr>
        <p:spPr>
          <a:xfrm>
            <a:off x="3566160" y="1463040"/>
            <a:ext cx="548640" cy="548640"/>
          </a:xfrm>
          <a:prstGeom prst="ellipse">
            <a:avLst/>
          </a:prstGeom>
          <a:solidFill>
            <a:schemeClr val="accent2"/>
          </a:solidFill>
          <a:ln w="25400">
            <a:solidFill>
              <a:srgbClr val="FFFFFF"/>
            </a:solidFill>
            <a:prstDash val="solid"/>
          </a:ln>
        </p:spPr>
        <p:txBody>
          <a:bodyPr/>
          <a:lstStyle/>
          <a:p>
            <a:endParaRPr lang="en-IN"/>
          </a:p>
        </p:txBody>
      </p:sp>
      <p:sp>
        <p:nvSpPr>
          <p:cNvPr id="13" name="Node 5"/>
          <p:cNvSpPr/>
          <p:nvPr/>
        </p:nvSpPr>
        <p:spPr>
          <a:xfrm>
            <a:off x="731520" y="3840480"/>
            <a:ext cx="502920" cy="502920"/>
          </a:xfrm>
          <a:prstGeom prst="ellipse">
            <a:avLst/>
          </a:prstGeom>
          <a:solidFill>
            <a:schemeClr val="accent5"/>
          </a:solidFill>
          <a:ln w="25400">
            <a:solidFill>
              <a:srgbClr val="FFFFFF"/>
            </a:solidFill>
            <a:prstDash val="solid"/>
          </a:ln>
        </p:spPr>
        <p:txBody>
          <a:bodyPr/>
          <a:lstStyle/>
          <a:p>
            <a:endParaRPr lang="en-IN"/>
          </a:p>
        </p:txBody>
      </p:sp>
      <p:sp>
        <p:nvSpPr>
          <p:cNvPr id="14" name="Node 6"/>
          <p:cNvSpPr/>
          <p:nvPr/>
        </p:nvSpPr>
        <p:spPr>
          <a:xfrm>
            <a:off x="3749040" y="3840480"/>
            <a:ext cx="548640" cy="548640"/>
          </a:xfrm>
          <a:prstGeom prst="ellipse">
            <a:avLst/>
          </a:prstGeom>
          <a:solidFill>
            <a:schemeClr val="accent1"/>
          </a:solidFill>
          <a:ln w="25400">
            <a:solidFill>
              <a:srgbClr val="FFFFFF"/>
            </a:solidFill>
            <a:prstDash val="solid"/>
          </a:ln>
        </p:spPr>
        <p:txBody>
          <a:bodyPr/>
          <a:lstStyle/>
          <a:p>
            <a:endParaRPr lang="en-IN"/>
          </a:p>
        </p:txBody>
      </p:sp>
      <p:sp>
        <p:nvSpPr>
          <p:cNvPr id="15" name="Text 12"/>
          <p:cNvSpPr txBox="1"/>
          <p:nvPr/>
        </p:nvSpPr>
        <p:spPr>
          <a:xfrm>
            <a:off x="2286000" y="2743200"/>
            <a:ext cx="822960" cy="82296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hub</a:t>
            </a:r>
            <a:endParaRPr lang="en-US" sz="1400" dirty="0"/>
          </a:p>
        </p:txBody>
      </p:sp>
      <p:sp>
        <p:nvSpPr>
          <p:cNvPr id="16" name="Text 13"/>
          <p:cNvSpPr txBox="1"/>
          <p:nvPr/>
        </p:nvSpPr>
        <p:spPr>
          <a:xfrm>
            <a:off x="457200" y="4480560"/>
            <a:ext cx="4114800" cy="228600"/>
          </a:xfrm>
          <a:prstGeom prst="rect">
            <a:avLst/>
          </a:prstGeom>
          <a:noFill/>
          <a:ln/>
        </p:spPr>
        <p:txBody>
          <a:bodyPr wrap="square" lIns="0" tIns="0" rIns="0" bIns="0" rtlCol="0" anchor="t"/>
          <a:lstStyle/>
          <a:p>
            <a:pPr marL="0" indent="0">
              <a:buNone/>
            </a:pPr>
            <a:r>
              <a:rPr lang="en-US" sz="1100" dirty="0">
                <a:solidFill>
                  <a:schemeClr val="accent5"/>
                </a:solidFill>
                <a:latin typeface="Calibri" pitchFamily="34" charset="0"/>
                <a:ea typeface="Calibri" pitchFamily="34" charset="-122"/>
                <a:cs typeface="Calibri" pitchFamily="34" charset="-120"/>
              </a:rPr>
              <a:t>Illustration: one hub linked to several hashtags</a:t>
            </a:r>
            <a:endParaRPr lang="en-US" sz="1100" dirty="0"/>
          </a:p>
        </p:txBody>
      </p:sp>
      <p:sp>
        <p:nvSpPr>
          <p:cNvPr id="17" name="Card Node"/>
          <p:cNvSpPr/>
          <p:nvPr/>
        </p:nvSpPr>
        <p:spPr>
          <a:xfrm>
            <a:off x="4754880" y="1188720"/>
            <a:ext cx="3931920" cy="749808"/>
          </a:xfrm>
          <a:prstGeom prst="roundRect">
            <a:avLst>
              <a:gd name="adj" fmla="val 14634"/>
            </a:avLst>
          </a:prstGeom>
          <a:solidFill>
            <a:schemeClr val="bg2"/>
          </a:solidFill>
          <a:ln/>
        </p:spPr>
        <p:txBody>
          <a:bodyPr/>
          <a:lstStyle/>
          <a:p>
            <a:endParaRPr lang="en-IN"/>
          </a:p>
        </p:txBody>
      </p:sp>
      <p:sp>
        <p:nvSpPr>
          <p:cNvPr id="18" name="Text 15"/>
          <p:cNvSpPr txBox="1"/>
          <p:nvPr/>
        </p:nvSpPr>
        <p:spPr>
          <a:xfrm>
            <a:off x="4937760" y="1298448"/>
            <a:ext cx="356616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Node</a:t>
            </a:r>
            <a:endParaRPr lang="en-US" sz="1400" dirty="0"/>
          </a:p>
        </p:txBody>
      </p:sp>
      <p:sp>
        <p:nvSpPr>
          <p:cNvPr id="19" name="Text 16"/>
          <p:cNvSpPr txBox="1"/>
          <p:nvPr/>
        </p:nvSpPr>
        <p:spPr>
          <a:xfrm>
            <a:off x="4937760" y="1554480"/>
            <a:ext cx="3566160" cy="29260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One hashtag, such as #covid19.</a:t>
            </a:r>
            <a:endParaRPr lang="en-US" sz="1300" dirty="0"/>
          </a:p>
        </p:txBody>
      </p:sp>
      <p:sp>
        <p:nvSpPr>
          <p:cNvPr id="20" name="Card Edge"/>
          <p:cNvSpPr/>
          <p:nvPr/>
        </p:nvSpPr>
        <p:spPr>
          <a:xfrm>
            <a:off x="4754880" y="2029968"/>
            <a:ext cx="3931920" cy="749808"/>
          </a:xfrm>
          <a:prstGeom prst="roundRect">
            <a:avLst>
              <a:gd name="adj" fmla="val 14634"/>
            </a:avLst>
          </a:prstGeom>
          <a:solidFill>
            <a:schemeClr val="bg2"/>
          </a:solidFill>
          <a:ln/>
        </p:spPr>
        <p:txBody>
          <a:bodyPr/>
          <a:lstStyle/>
          <a:p>
            <a:endParaRPr lang="en-IN"/>
          </a:p>
        </p:txBody>
      </p:sp>
      <p:sp>
        <p:nvSpPr>
          <p:cNvPr id="21" name="Text 18"/>
          <p:cNvSpPr txBox="1"/>
          <p:nvPr/>
        </p:nvSpPr>
        <p:spPr>
          <a:xfrm>
            <a:off x="4937760" y="2139696"/>
            <a:ext cx="356616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Edge</a:t>
            </a:r>
            <a:endParaRPr lang="en-US" sz="1400" dirty="0"/>
          </a:p>
        </p:txBody>
      </p:sp>
      <p:sp>
        <p:nvSpPr>
          <p:cNvPr id="22" name="Text 19"/>
          <p:cNvSpPr txBox="1"/>
          <p:nvPr/>
        </p:nvSpPr>
        <p:spPr>
          <a:xfrm>
            <a:off x="4937760" y="2395728"/>
            <a:ext cx="3566160" cy="29260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Two hashtags used in the same tweet.</a:t>
            </a:r>
            <a:endParaRPr lang="en-US" sz="1300" dirty="0"/>
          </a:p>
        </p:txBody>
      </p:sp>
      <p:sp>
        <p:nvSpPr>
          <p:cNvPr id="23" name="Card Degree centrality"/>
          <p:cNvSpPr/>
          <p:nvPr/>
        </p:nvSpPr>
        <p:spPr>
          <a:xfrm>
            <a:off x="4754880" y="2871216"/>
            <a:ext cx="3931920" cy="749808"/>
          </a:xfrm>
          <a:prstGeom prst="roundRect">
            <a:avLst>
              <a:gd name="adj" fmla="val 14634"/>
            </a:avLst>
          </a:prstGeom>
          <a:solidFill>
            <a:schemeClr val="bg2"/>
          </a:solidFill>
          <a:ln/>
        </p:spPr>
        <p:txBody>
          <a:bodyPr/>
          <a:lstStyle/>
          <a:p>
            <a:endParaRPr lang="en-IN"/>
          </a:p>
        </p:txBody>
      </p:sp>
      <p:sp>
        <p:nvSpPr>
          <p:cNvPr id="24" name="Text 21"/>
          <p:cNvSpPr txBox="1"/>
          <p:nvPr/>
        </p:nvSpPr>
        <p:spPr>
          <a:xfrm>
            <a:off x="4937760" y="2980944"/>
            <a:ext cx="356616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Degree centrality</a:t>
            </a:r>
            <a:endParaRPr lang="en-US" sz="1400" dirty="0"/>
          </a:p>
        </p:txBody>
      </p:sp>
      <p:sp>
        <p:nvSpPr>
          <p:cNvPr id="25" name="Text 22"/>
          <p:cNvSpPr txBox="1"/>
          <p:nvPr/>
        </p:nvSpPr>
        <p:spPr>
          <a:xfrm>
            <a:off x="4937760" y="3236976"/>
            <a:ext cx="3566160" cy="29260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Share of the other hashtags a tag is linked to.</a:t>
            </a:r>
            <a:endParaRPr lang="en-US" sz="1300" dirty="0"/>
          </a:p>
        </p:txBody>
      </p:sp>
      <p:sp>
        <p:nvSpPr>
          <p:cNvPr id="26" name="Card PageRank"/>
          <p:cNvSpPr/>
          <p:nvPr/>
        </p:nvSpPr>
        <p:spPr>
          <a:xfrm>
            <a:off x="4754880" y="3712464"/>
            <a:ext cx="3931920" cy="749808"/>
          </a:xfrm>
          <a:prstGeom prst="roundRect">
            <a:avLst>
              <a:gd name="adj" fmla="val 14634"/>
            </a:avLst>
          </a:prstGeom>
          <a:solidFill>
            <a:schemeClr val="bg2"/>
          </a:solidFill>
          <a:ln/>
        </p:spPr>
        <p:txBody>
          <a:bodyPr/>
          <a:lstStyle/>
          <a:p>
            <a:endParaRPr lang="en-IN"/>
          </a:p>
        </p:txBody>
      </p:sp>
      <p:sp>
        <p:nvSpPr>
          <p:cNvPr id="27" name="Text 24"/>
          <p:cNvSpPr txBox="1"/>
          <p:nvPr/>
        </p:nvSpPr>
        <p:spPr>
          <a:xfrm>
            <a:off x="4937760" y="3822192"/>
            <a:ext cx="3566160" cy="27432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PageRank</a:t>
            </a:r>
            <a:endParaRPr lang="en-US" sz="1400" dirty="0"/>
          </a:p>
        </p:txBody>
      </p:sp>
      <p:sp>
        <p:nvSpPr>
          <p:cNvPr id="28" name="Text 25"/>
          <p:cNvSpPr txBox="1"/>
          <p:nvPr/>
        </p:nvSpPr>
        <p:spPr>
          <a:xfrm>
            <a:off x="4937760" y="4078224"/>
            <a:ext cx="3566160" cy="29260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Importance, boosted by important neighbours.</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Hashtag network: the findings</a:t>
            </a:r>
            <a:endParaRPr lang="en-US" sz="3200" dirty="0"/>
          </a:p>
        </p:txBody>
      </p:sp>
      <p:graphicFrame>
        <p:nvGraphicFramePr>
          <p:cNvPr id="4" name="Chart 0"/>
          <p:cNvGraphicFramePr/>
          <p:nvPr/>
        </p:nvGraphicFramePr>
        <p:xfrm>
          <a:off x="365760" y="1097280"/>
          <a:ext cx="475488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5" name="Network stat 1"/>
          <p:cNvSpPr/>
          <p:nvPr/>
        </p:nvSpPr>
        <p:spPr>
          <a:xfrm>
            <a:off x="5394960" y="1188720"/>
            <a:ext cx="1554480" cy="1188720"/>
          </a:xfrm>
          <a:prstGeom prst="roundRect">
            <a:avLst>
              <a:gd name="adj" fmla="val 9231"/>
            </a:avLst>
          </a:prstGeom>
          <a:solidFill>
            <a:schemeClr val="bg2"/>
          </a:solidFill>
          <a:ln/>
        </p:spPr>
        <p:txBody>
          <a:bodyPr/>
          <a:lstStyle/>
          <a:p>
            <a:endParaRPr lang="en-IN"/>
          </a:p>
        </p:txBody>
      </p:sp>
      <p:sp>
        <p:nvSpPr>
          <p:cNvPr id="6" name="Text 2"/>
          <p:cNvSpPr txBox="1"/>
          <p:nvPr/>
        </p:nvSpPr>
        <p:spPr>
          <a:xfrm>
            <a:off x="5394960" y="1280160"/>
            <a:ext cx="1554480" cy="548640"/>
          </a:xfrm>
          <a:prstGeom prst="rect">
            <a:avLst/>
          </a:prstGeom>
          <a:noFill/>
          <a:ln/>
        </p:spPr>
        <p:txBody>
          <a:bodyPr wrap="square" lIns="0" tIns="0" rIns="0" bIns="0" rtlCol="0" anchor="t"/>
          <a:lstStyle/>
          <a:p>
            <a:pPr marL="0" indent="0" algn="ctr">
              <a:buNone/>
            </a:pPr>
            <a:r>
              <a:rPr lang="en-US" sz="3200" b="1" dirty="0">
                <a:solidFill>
                  <a:schemeClr val="accent4"/>
                </a:solidFill>
                <a:latin typeface="Cambria" pitchFamily="34" charset="0"/>
                <a:ea typeface="Cambria" pitchFamily="34" charset="-122"/>
                <a:cs typeface="Cambria" pitchFamily="34" charset="-120"/>
              </a:rPr>
              <a:t>40</a:t>
            </a:r>
            <a:endParaRPr lang="en-US" sz="3200" dirty="0"/>
          </a:p>
        </p:txBody>
      </p:sp>
      <p:sp>
        <p:nvSpPr>
          <p:cNvPr id="7" name="Text 3"/>
          <p:cNvSpPr txBox="1"/>
          <p:nvPr/>
        </p:nvSpPr>
        <p:spPr>
          <a:xfrm>
            <a:off x="5486400" y="1828800"/>
            <a:ext cx="1371600" cy="457200"/>
          </a:xfrm>
          <a:prstGeom prst="rect">
            <a:avLst/>
          </a:prstGeom>
          <a:noFill/>
          <a:ln/>
        </p:spPr>
        <p:txBody>
          <a:bodyPr wrap="square" lIns="0" tIns="0" rIns="0" bIns="0" rtlCol="0" anchor="t"/>
          <a:lstStyle/>
          <a:p>
            <a:pPr marL="0" indent="0" algn="ctr">
              <a:buNone/>
            </a:pPr>
            <a:r>
              <a:rPr lang="en-US" sz="1200" dirty="0">
                <a:solidFill>
                  <a:schemeClr val="accent5"/>
                </a:solidFill>
                <a:latin typeface="Calibri" pitchFamily="34" charset="0"/>
                <a:ea typeface="Calibri" pitchFamily="34" charset="-122"/>
                <a:cs typeface="Calibri" pitchFamily="34" charset="-120"/>
              </a:rPr>
              <a:t>hashtags (nodes)</a:t>
            </a:r>
            <a:endParaRPr lang="en-US" sz="1200" dirty="0"/>
          </a:p>
        </p:txBody>
      </p:sp>
      <p:sp>
        <p:nvSpPr>
          <p:cNvPr id="8" name="Network stat 2"/>
          <p:cNvSpPr/>
          <p:nvPr/>
        </p:nvSpPr>
        <p:spPr>
          <a:xfrm>
            <a:off x="7086600" y="1188720"/>
            <a:ext cx="1554480" cy="1188720"/>
          </a:xfrm>
          <a:prstGeom prst="roundRect">
            <a:avLst>
              <a:gd name="adj" fmla="val 9231"/>
            </a:avLst>
          </a:prstGeom>
          <a:solidFill>
            <a:schemeClr val="bg2"/>
          </a:solidFill>
          <a:ln/>
        </p:spPr>
        <p:txBody>
          <a:bodyPr/>
          <a:lstStyle/>
          <a:p>
            <a:endParaRPr lang="en-IN"/>
          </a:p>
        </p:txBody>
      </p:sp>
      <p:sp>
        <p:nvSpPr>
          <p:cNvPr id="9" name="Text 5"/>
          <p:cNvSpPr txBox="1"/>
          <p:nvPr/>
        </p:nvSpPr>
        <p:spPr>
          <a:xfrm>
            <a:off x="7086600" y="1280160"/>
            <a:ext cx="1554480" cy="548640"/>
          </a:xfrm>
          <a:prstGeom prst="rect">
            <a:avLst/>
          </a:prstGeom>
          <a:noFill/>
          <a:ln/>
        </p:spPr>
        <p:txBody>
          <a:bodyPr wrap="square" lIns="0" tIns="0" rIns="0" bIns="0" rtlCol="0" anchor="t"/>
          <a:lstStyle/>
          <a:p>
            <a:pPr marL="0" indent="0" algn="ctr">
              <a:buNone/>
            </a:pPr>
            <a:r>
              <a:rPr lang="en-US" sz="3200" b="1" dirty="0">
                <a:solidFill>
                  <a:schemeClr val="accent4"/>
                </a:solidFill>
                <a:latin typeface="Cambria" pitchFamily="34" charset="0"/>
                <a:ea typeface="Cambria" pitchFamily="34" charset="-122"/>
                <a:cs typeface="Cambria" pitchFamily="34" charset="-120"/>
              </a:rPr>
              <a:t>150</a:t>
            </a:r>
            <a:endParaRPr lang="en-US" sz="3200" dirty="0"/>
          </a:p>
        </p:txBody>
      </p:sp>
      <p:sp>
        <p:nvSpPr>
          <p:cNvPr id="10" name="Text 6"/>
          <p:cNvSpPr txBox="1"/>
          <p:nvPr/>
        </p:nvSpPr>
        <p:spPr>
          <a:xfrm>
            <a:off x="7178040" y="1828800"/>
            <a:ext cx="1371600" cy="457200"/>
          </a:xfrm>
          <a:prstGeom prst="rect">
            <a:avLst/>
          </a:prstGeom>
          <a:noFill/>
          <a:ln/>
        </p:spPr>
        <p:txBody>
          <a:bodyPr wrap="square" lIns="0" tIns="0" rIns="0" bIns="0" rtlCol="0" anchor="t"/>
          <a:lstStyle/>
          <a:p>
            <a:pPr marL="0" indent="0" algn="ctr">
              <a:buNone/>
            </a:pPr>
            <a:r>
              <a:rPr lang="en-US" sz="1200" dirty="0">
                <a:solidFill>
                  <a:schemeClr val="accent5"/>
                </a:solidFill>
                <a:latin typeface="Calibri" pitchFamily="34" charset="0"/>
                <a:ea typeface="Calibri" pitchFamily="34" charset="-122"/>
                <a:cs typeface="Calibri" pitchFamily="34" charset="-120"/>
              </a:rPr>
              <a:t>strongest links</a:t>
            </a:r>
            <a:endParaRPr lang="en-US" sz="1200" dirty="0"/>
          </a:p>
        </p:txBody>
      </p:sp>
      <p:sp>
        <p:nvSpPr>
          <p:cNvPr id="11" name="Network insight card"/>
          <p:cNvSpPr/>
          <p:nvPr/>
        </p:nvSpPr>
        <p:spPr>
          <a:xfrm>
            <a:off x="5394960" y="2606040"/>
            <a:ext cx="3291840" cy="1874520"/>
          </a:xfrm>
          <a:prstGeom prst="roundRect">
            <a:avLst>
              <a:gd name="adj" fmla="val 5854"/>
            </a:avLst>
          </a:prstGeom>
          <a:solidFill>
            <a:schemeClr val="tx2"/>
          </a:solidFill>
          <a:ln/>
        </p:spPr>
        <p:txBody>
          <a:bodyPr/>
          <a:lstStyle/>
          <a:p>
            <a:endParaRPr lang="en-IN"/>
          </a:p>
        </p:txBody>
      </p:sp>
      <p:sp>
        <p:nvSpPr>
          <p:cNvPr id="12" name="Text 8"/>
          <p:cNvSpPr txBox="1"/>
          <p:nvPr/>
        </p:nvSpPr>
        <p:spPr>
          <a:xfrm>
            <a:off x="5577840" y="2697480"/>
            <a:ext cx="2926080" cy="274320"/>
          </a:xfrm>
          <a:prstGeom prst="rect">
            <a:avLst/>
          </a:prstGeom>
          <a:noFill/>
          <a:ln/>
        </p:spPr>
        <p:txBody>
          <a:bodyPr wrap="square" lIns="0" tIns="0" rIns="0" bIns="0" rtlCol="0" anchor="t"/>
          <a:lstStyle/>
          <a:p>
            <a:pPr marL="0" indent="0">
              <a:buNone/>
            </a:pPr>
            <a:r>
              <a:rPr lang="en-US" sz="1600" b="1" dirty="0">
                <a:solidFill>
                  <a:schemeClr val="accent6"/>
                </a:solidFill>
                <a:latin typeface="Calibri" pitchFamily="34" charset="0"/>
                <a:ea typeface="Calibri" pitchFamily="34" charset="-122"/>
                <a:cs typeface="Calibri" pitchFamily="34" charset="-120"/>
              </a:rPr>
              <a:t>What the graph shows</a:t>
            </a:r>
            <a:endParaRPr lang="en-US" sz="1600" dirty="0"/>
          </a:p>
        </p:txBody>
      </p:sp>
      <p:sp>
        <p:nvSpPr>
          <p:cNvPr id="13" name="Text 9"/>
          <p:cNvSpPr txBox="1"/>
          <p:nvPr/>
        </p:nvSpPr>
        <p:spPr>
          <a:xfrm>
            <a:off x="5577840" y="3063240"/>
            <a:ext cx="2926080" cy="1325880"/>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#coronavirus and #covid19 are the central hubs. #toiletpaper is the largest hub outside the virus names, a sign of the panic-buying theme.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Streamlit dashboard</a:t>
            </a:r>
            <a:endParaRPr lang="en-US" sz="3200" dirty="0"/>
          </a:p>
        </p:txBody>
      </p:sp>
      <p:sp>
        <p:nvSpPr>
          <p:cNvPr id="4" name="Tab card Overview"/>
          <p:cNvSpPr/>
          <p:nvPr/>
        </p:nvSpPr>
        <p:spPr>
          <a:xfrm>
            <a:off x="457200" y="1188720"/>
            <a:ext cx="2560320" cy="1463040"/>
          </a:xfrm>
          <a:prstGeom prst="roundRect">
            <a:avLst>
              <a:gd name="adj" fmla="val 7500"/>
            </a:avLst>
          </a:prstGeom>
          <a:solidFill>
            <a:schemeClr val="bg2"/>
          </a:solidFill>
          <a:ln/>
        </p:spPr>
        <p:txBody>
          <a:bodyPr/>
          <a:lstStyle/>
          <a:p>
            <a:endParaRPr lang="en-IN"/>
          </a:p>
        </p:txBody>
      </p:sp>
      <p:sp>
        <p:nvSpPr>
          <p:cNvPr id="5" name="Overview circle"/>
          <p:cNvSpPr/>
          <p:nvPr/>
        </p:nvSpPr>
        <p:spPr>
          <a:xfrm>
            <a:off x="640080" y="1371600"/>
            <a:ext cx="548640" cy="548640"/>
          </a:xfrm>
          <a:prstGeom prst="ellipse">
            <a:avLst/>
          </a:prstGeom>
          <a:solidFill>
            <a:schemeClr val="accent4"/>
          </a:solidFill>
          <a:ln/>
        </p:spPr>
        <p:txBody>
          <a:bodyPr/>
          <a:lstStyle/>
          <a:p>
            <a:endParaRPr lang="en-IN"/>
          </a:p>
        </p:txBody>
      </p:sp>
      <p:pic>
        <p:nvPicPr>
          <p:cNvPr id="6" name="Overview icon" descr="Overview"/>
          <p:cNvPicPr>
            <a:picLocks noChangeAspect="1"/>
          </p:cNvPicPr>
          <p:nvPr/>
        </p:nvPicPr>
        <p:blipFill>
          <a:blip r:embed="rId3"/>
          <a:stretch>
            <a:fillRect/>
          </a:stretch>
        </p:blipFill>
        <p:spPr>
          <a:xfrm>
            <a:off x="777240" y="1508760"/>
            <a:ext cx="274320" cy="274320"/>
          </a:xfrm>
          <a:prstGeom prst="rect">
            <a:avLst/>
          </a:prstGeom>
        </p:spPr>
      </p:pic>
      <p:sp>
        <p:nvSpPr>
          <p:cNvPr id="7" name="Text 3"/>
          <p:cNvSpPr txBox="1"/>
          <p:nvPr/>
        </p:nvSpPr>
        <p:spPr>
          <a:xfrm>
            <a:off x="1325880" y="1371600"/>
            <a:ext cx="1600200" cy="5486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Overview</a:t>
            </a:r>
            <a:endParaRPr lang="en-US" sz="1600" dirty="0"/>
          </a:p>
        </p:txBody>
      </p:sp>
      <p:sp>
        <p:nvSpPr>
          <p:cNvPr id="8" name="Text 4"/>
          <p:cNvSpPr txBox="1"/>
          <p:nvPr/>
        </p:nvSpPr>
        <p:spPr>
          <a:xfrm>
            <a:off x="640080" y="2057400"/>
            <a:ext cx="2194560" cy="5029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Key numbers and class mix</a:t>
            </a:r>
            <a:endParaRPr lang="en-US" sz="1400" dirty="0"/>
          </a:p>
        </p:txBody>
      </p:sp>
      <p:sp>
        <p:nvSpPr>
          <p:cNvPr id="9" name="Tab card Try a post"/>
          <p:cNvSpPr/>
          <p:nvPr/>
        </p:nvSpPr>
        <p:spPr>
          <a:xfrm>
            <a:off x="3291840" y="1188720"/>
            <a:ext cx="2560320" cy="1463040"/>
          </a:xfrm>
          <a:prstGeom prst="roundRect">
            <a:avLst>
              <a:gd name="adj" fmla="val 7500"/>
            </a:avLst>
          </a:prstGeom>
          <a:solidFill>
            <a:schemeClr val="bg2"/>
          </a:solidFill>
          <a:ln/>
        </p:spPr>
        <p:txBody>
          <a:bodyPr/>
          <a:lstStyle/>
          <a:p>
            <a:endParaRPr lang="en-IN"/>
          </a:p>
        </p:txBody>
      </p:sp>
      <p:sp>
        <p:nvSpPr>
          <p:cNvPr id="10" name="Try a post circle"/>
          <p:cNvSpPr/>
          <p:nvPr/>
        </p:nvSpPr>
        <p:spPr>
          <a:xfrm>
            <a:off x="3474720" y="1371600"/>
            <a:ext cx="548640" cy="548640"/>
          </a:xfrm>
          <a:prstGeom prst="ellipse">
            <a:avLst/>
          </a:prstGeom>
          <a:solidFill>
            <a:schemeClr val="accent1"/>
          </a:solidFill>
          <a:ln/>
        </p:spPr>
        <p:txBody>
          <a:bodyPr/>
          <a:lstStyle/>
          <a:p>
            <a:endParaRPr lang="en-IN"/>
          </a:p>
        </p:txBody>
      </p:sp>
      <p:pic>
        <p:nvPicPr>
          <p:cNvPr id="11" name="Try a post icon" descr="Try a post"/>
          <p:cNvPicPr>
            <a:picLocks noChangeAspect="1"/>
          </p:cNvPicPr>
          <p:nvPr/>
        </p:nvPicPr>
        <p:blipFill>
          <a:blip r:embed="rId4"/>
          <a:stretch>
            <a:fillRect/>
          </a:stretch>
        </p:blipFill>
        <p:spPr>
          <a:xfrm>
            <a:off x="3611880" y="1508760"/>
            <a:ext cx="274320" cy="274320"/>
          </a:xfrm>
          <a:prstGeom prst="rect">
            <a:avLst/>
          </a:prstGeom>
        </p:spPr>
      </p:pic>
      <p:sp>
        <p:nvSpPr>
          <p:cNvPr id="12" name="Text 7"/>
          <p:cNvSpPr txBox="1"/>
          <p:nvPr/>
        </p:nvSpPr>
        <p:spPr>
          <a:xfrm>
            <a:off x="4160520" y="1371600"/>
            <a:ext cx="1600200" cy="5486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Try a post</a:t>
            </a:r>
            <a:endParaRPr lang="en-US" sz="1600" dirty="0"/>
          </a:p>
        </p:txBody>
      </p:sp>
      <p:sp>
        <p:nvSpPr>
          <p:cNvPr id="13" name="Text 8"/>
          <p:cNvSpPr txBox="1"/>
          <p:nvPr/>
        </p:nvSpPr>
        <p:spPr>
          <a:xfrm>
            <a:off x="3474720" y="2057400"/>
            <a:ext cx="2194560" cy="5029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Type text, get label and confidence</a:t>
            </a:r>
            <a:endParaRPr lang="en-US" sz="1400" dirty="0"/>
          </a:p>
        </p:txBody>
      </p:sp>
      <p:sp>
        <p:nvSpPr>
          <p:cNvPr id="14" name="Tab card Trends"/>
          <p:cNvSpPr/>
          <p:nvPr/>
        </p:nvSpPr>
        <p:spPr>
          <a:xfrm>
            <a:off x="6126480" y="1188720"/>
            <a:ext cx="2560320" cy="1463040"/>
          </a:xfrm>
          <a:prstGeom prst="roundRect">
            <a:avLst>
              <a:gd name="adj" fmla="val 7500"/>
            </a:avLst>
          </a:prstGeom>
          <a:solidFill>
            <a:schemeClr val="bg2"/>
          </a:solidFill>
          <a:ln/>
        </p:spPr>
        <p:txBody>
          <a:bodyPr/>
          <a:lstStyle/>
          <a:p>
            <a:endParaRPr lang="en-IN"/>
          </a:p>
        </p:txBody>
      </p:sp>
      <p:sp>
        <p:nvSpPr>
          <p:cNvPr id="15" name="Trends circle"/>
          <p:cNvSpPr/>
          <p:nvPr/>
        </p:nvSpPr>
        <p:spPr>
          <a:xfrm>
            <a:off x="6309360" y="1371600"/>
            <a:ext cx="548640" cy="548640"/>
          </a:xfrm>
          <a:prstGeom prst="ellipse">
            <a:avLst/>
          </a:prstGeom>
          <a:solidFill>
            <a:schemeClr val="accent3"/>
          </a:solidFill>
          <a:ln/>
        </p:spPr>
        <p:txBody>
          <a:bodyPr/>
          <a:lstStyle/>
          <a:p>
            <a:endParaRPr lang="en-IN"/>
          </a:p>
        </p:txBody>
      </p:sp>
      <p:pic>
        <p:nvPicPr>
          <p:cNvPr id="16" name="Trends icon" descr="Trends"/>
          <p:cNvPicPr>
            <a:picLocks noChangeAspect="1"/>
          </p:cNvPicPr>
          <p:nvPr/>
        </p:nvPicPr>
        <p:blipFill>
          <a:blip r:embed="rId5"/>
          <a:stretch>
            <a:fillRect/>
          </a:stretch>
        </p:blipFill>
        <p:spPr>
          <a:xfrm>
            <a:off x="6446520" y="1508760"/>
            <a:ext cx="274320" cy="274320"/>
          </a:xfrm>
          <a:prstGeom prst="rect">
            <a:avLst/>
          </a:prstGeom>
        </p:spPr>
      </p:pic>
      <p:sp>
        <p:nvSpPr>
          <p:cNvPr id="17" name="Text 11"/>
          <p:cNvSpPr txBox="1"/>
          <p:nvPr/>
        </p:nvSpPr>
        <p:spPr>
          <a:xfrm>
            <a:off x="6995160" y="1371600"/>
            <a:ext cx="1600200" cy="5486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Trends</a:t>
            </a:r>
            <a:endParaRPr lang="en-US" sz="1600" dirty="0"/>
          </a:p>
        </p:txBody>
      </p:sp>
      <p:sp>
        <p:nvSpPr>
          <p:cNvPr id="18" name="Text 12"/>
          <p:cNvSpPr txBox="1"/>
          <p:nvPr/>
        </p:nvSpPr>
        <p:spPr>
          <a:xfrm>
            <a:off x="6309360" y="2057400"/>
            <a:ext cx="2194560" cy="5029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Daily sentiment and forecast</a:t>
            </a:r>
            <a:endParaRPr lang="en-US" sz="1400" dirty="0"/>
          </a:p>
        </p:txBody>
      </p:sp>
      <p:sp>
        <p:nvSpPr>
          <p:cNvPr id="19" name="Tab card Word cloud"/>
          <p:cNvSpPr/>
          <p:nvPr/>
        </p:nvSpPr>
        <p:spPr>
          <a:xfrm>
            <a:off x="457200" y="2880360"/>
            <a:ext cx="2560320" cy="1463040"/>
          </a:xfrm>
          <a:prstGeom prst="roundRect">
            <a:avLst>
              <a:gd name="adj" fmla="val 7500"/>
            </a:avLst>
          </a:prstGeom>
          <a:solidFill>
            <a:schemeClr val="bg2"/>
          </a:solidFill>
          <a:ln/>
        </p:spPr>
        <p:txBody>
          <a:bodyPr/>
          <a:lstStyle/>
          <a:p>
            <a:endParaRPr lang="en-IN"/>
          </a:p>
        </p:txBody>
      </p:sp>
      <p:sp>
        <p:nvSpPr>
          <p:cNvPr id="20" name="Word cloud circle"/>
          <p:cNvSpPr/>
          <p:nvPr/>
        </p:nvSpPr>
        <p:spPr>
          <a:xfrm>
            <a:off x="640080" y="3063240"/>
            <a:ext cx="548640" cy="548640"/>
          </a:xfrm>
          <a:prstGeom prst="ellipse">
            <a:avLst/>
          </a:prstGeom>
          <a:solidFill>
            <a:schemeClr val="accent5"/>
          </a:solidFill>
          <a:ln/>
        </p:spPr>
        <p:txBody>
          <a:bodyPr/>
          <a:lstStyle/>
          <a:p>
            <a:endParaRPr lang="en-IN"/>
          </a:p>
        </p:txBody>
      </p:sp>
      <p:pic>
        <p:nvPicPr>
          <p:cNvPr id="21" name="Word cloud icon" descr="Word cloud"/>
          <p:cNvPicPr>
            <a:picLocks noChangeAspect="1"/>
          </p:cNvPicPr>
          <p:nvPr/>
        </p:nvPicPr>
        <p:blipFill>
          <a:blip r:embed="rId6"/>
          <a:stretch>
            <a:fillRect/>
          </a:stretch>
        </p:blipFill>
        <p:spPr>
          <a:xfrm>
            <a:off x="777240" y="3200400"/>
            <a:ext cx="274320" cy="274320"/>
          </a:xfrm>
          <a:prstGeom prst="rect">
            <a:avLst/>
          </a:prstGeom>
        </p:spPr>
      </p:pic>
      <p:sp>
        <p:nvSpPr>
          <p:cNvPr id="22" name="Text 15"/>
          <p:cNvSpPr txBox="1"/>
          <p:nvPr/>
        </p:nvSpPr>
        <p:spPr>
          <a:xfrm>
            <a:off x="1325880" y="3063240"/>
            <a:ext cx="1600200" cy="5486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Word cloud</a:t>
            </a:r>
            <a:endParaRPr lang="en-US" sz="1600" dirty="0"/>
          </a:p>
        </p:txBody>
      </p:sp>
      <p:sp>
        <p:nvSpPr>
          <p:cNvPr id="23" name="Text 16"/>
          <p:cNvSpPr txBox="1"/>
          <p:nvPr/>
        </p:nvSpPr>
        <p:spPr>
          <a:xfrm>
            <a:off x="640080" y="3749040"/>
            <a:ext cx="2194560" cy="5029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Top words for each sentiment</a:t>
            </a:r>
            <a:endParaRPr lang="en-US" sz="1400" dirty="0"/>
          </a:p>
        </p:txBody>
      </p:sp>
      <p:sp>
        <p:nvSpPr>
          <p:cNvPr id="24" name="Tab card Hashtag network"/>
          <p:cNvSpPr/>
          <p:nvPr/>
        </p:nvSpPr>
        <p:spPr>
          <a:xfrm>
            <a:off x="3291840" y="2880360"/>
            <a:ext cx="2560320" cy="1463040"/>
          </a:xfrm>
          <a:prstGeom prst="roundRect">
            <a:avLst>
              <a:gd name="adj" fmla="val 7500"/>
            </a:avLst>
          </a:prstGeom>
          <a:solidFill>
            <a:schemeClr val="bg2"/>
          </a:solidFill>
          <a:ln/>
        </p:spPr>
        <p:txBody>
          <a:bodyPr/>
          <a:lstStyle/>
          <a:p>
            <a:endParaRPr lang="en-IN"/>
          </a:p>
        </p:txBody>
      </p:sp>
      <p:sp>
        <p:nvSpPr>
          <p:cNvPr id="25" name="Hashtag network circle"/>
          <p:cNvSpPr/>
          <p:nvPr/>
        </p:nvSpPr>
        <p:spPr>
          <a:xfrm>
            <a:off x="3474720" y="3063240"/>
            <a:ext cx="548640" cy="548640"/>
          </a:xfrm>
          <a:prstGeom prst="ellipse">
            <a:avLst/>
          </a:prstGeom>
          <a:solidFill>
            <a:schemeClr val="accent2"/>
          </a:solidFill>
          <a:ln/>
        </p:spPr>
        <p:txBody>
          <a:bodyPr/>
          <a:lstStyle/>
          <a:p>
            <a:endParaRPr lang="en-IN"/>
          </a:p>
        </p:txBody>
      </p:sp>
      <p:pic>
        <p:nvPicPr>
          <p:cNvPr id="26" name="Hashtag network icon" descr="Hashtag network"/>
          <p:cNvPicPr>
            <a:picLocks noChangeAspect="1"/>
          </p:cNvPicPr>
          <p:nvPr/>
        </p:nvPicPr>
        <p:blipFill>
          <a:blip r:embed="rId7"/>
          <a:stretch>
            <a:fillRect/>
          </a:stretch>
        </p:blipFill>
        <p:spPr>
          <a:xfrm>
            <a:off x="3611880" y="3200400"/>
            <a:ext cx="274320" cy="274320"/>
          </a:xfrm>
          <a:prstGeom prst="rect">
            <a:avLst/>
          </a:prstGeom>
        </p:spPr>
      </p:pic>
      <p:sp>
        <p:nvSpPr>
          <p:cNvPr id="27" name="Text 19"/>
          <p:cNvSpPr txBox="1"/>
          <p:nvPr/>
        </p:nvSpPr>
        <p:spPr>
          <a:xfrm>
            <a:off x="4160520" y="3063240"/>
            <a:ext cx="1600200" cy="5486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Hashtag network</a:t>
            </a:r>
            <a:endParaRPr lang="en-US" sz="1600" dirty="0"/>
          </a:p>
        </p:txBody>
      </p:sp>
      <p:sp>
        <p:nvSpPr>
          <p:cNvPr id="28" name="Text 20"/>
          <p:cNvSpPr txBox="1"/>
          <p:nvPr/>
        </p:nvSpPr>
        <p:spPr>
          <a:xfrm>
            <a:off x="3474720" y="3749040"/>
            <a:ext cx="2194560" cy="5029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Hubs and links between tags</a:t>
            </a:r>
            <a:endParaRPr lang="en-US" sz="1400" dirty="0"/>
          </a:p>
        </p:txBody>
      </p:sp>
      <p:sp>
        <p:nvSpPr>
          <p:cNvPr id="29" name="Tab card Live stream"/>
          <p:cNvSpPr/>
          <p:nvPr/>
        </p:nvSpPr>
        <p:spPr>
          <a:xfrm>
            <a:off x="6126480" y="2880360"/>
            <a:ext cx="2560320" cy="1463040"/>
          </a:xfrm>
          <a:prstGeom prst="roundRect">
            <a:avLst>
              <a:gd name="adj" fmla="val 7500"/>
            </a:avLst>
          </a:prstGeom>
          <a:solidFill>
            <a:schemeClr val="bg2"/>
          </a:solidFill>
          <a:ln/>
        </p:spPr>
        <p:txBody>
          <a:bodyPr/>
          <a:lstStyle/>
          <a:p>
            <a:endParaRPr lang="en-IN"/>
          </a:p>
        </p:txBody>
      </p:sp>
      <p:sp>
        <p:nvSpPr>
          <p:cNvPr id="30" name="Live stream circle"/>
          <p:cNvSpPr/>
          <p:nvPr/>
        </p:nvSpPr>
        <p:spPr>
          <a:xfrm>
            <a:off x="6309360" y="3063240"/>
            <a:ext cx="548640" cy="548640"/>
          </a:xfrm>
          <a:prstGeom prst="ellipse">
            <a:avLst/>
          </a:prstGeom>
          <a:solidFill>
            <a:schemeClr val="tx2"/>
          </a:solidFill>
          <a:ln/>
        </p:spPr>
        <p:txBody>
          <a:bodyPr/>
          <a:lstStyle/>
          <a:p>
            <a:endParaRPr lang="en-IN"/>
          </a:p>
        </p:txBody>
      </p:sp>
      <p:pic>
        <p:nvPicPr>
          <p:cNvPr id="31" name="Live stream icon" descr="Live stream"/>
          <p:cNvPicPr>
            <a:picLocks noChangeAspect="1"/>
          </p:cNvPicPr>
          <p:nvPr/>
        </p:nvPicPr>
        <p:blipFill>
          <a:blip r:embed="rId8"/>
          <a:stretch>
            <a:fillRect/>
          </a:stretch>
        </p:blipFill>
        <p:spPr>
          <a:xfrm>
            <a:off x="6446520" y="3200400"/>
            <a:ext cx="274320" cy="274320"/>
          </a:xfrm>
          <a:prstGeom prst="rect">
            <a:avLst/>
          </a:prstGeom>
        </p:spPr>
      </p:pic>
      <p:sp>
        <p:nvSpPr>
          <p:cNvPr id="32" name="Text 23"/>
          <p:cNvSpPr txBox="1"/>
          <p:nvPr/>
        </p:nvSpPr>
        <p:spPr>
          <a:xfrm>
            <a:off x="6995160" y="3063240"/>
            <a:ext cx="1600200" cy="548640"/>
          </a:xfrm>
          <a:prstGeom prst="rect">
            <a:avLst/>
          </a:prstGeom>
          <a:noFill/>
          <a:ln/>
        </p:spPr>
        <p:txBody>
          <a:bodyPr wrap="square" lIns="0" tIns="0" rIns="0" bIns="0" rtlCol="0" anchor="ctr"/>
          <a:lstStyle/>
          <a:p>
            <a:pPr marL="0" indent="0">
              <a:buNone/>
            </a:pPr>
            <a:r>
              <a:rPr lang="en-US" sz="1600" b="1" dirty="0">
                <a:solidFill>
                  <a:schemeClr val="tx2"/>
                </a:solidFill>
                <a:latin typeface="Cambria" pitchFamily="34" charset="0"/>
                <a:ea typeface="Cambria" pitchFamily="34" charset="-122"/>
                <a:cs typeface="Cambria" pitchFamily="34" charset="-120"/>
              </a:rPr>
              <a:t>Live stream</a:t>
            </a:r>
            <a:endParaRPr lang="en-US" sz="1600" dirty="0"/>
          </a:p>
        </p:txBody>
      </p:sp>
      <p:sp>
        <p:nvSpPr>
          <p:cNvPr id="33" name="Text 24"/>
          <p:cNvSpPr txBox="1"/>
          <p:nvPr/>
        </p:nvSpPr>
        <p:spPr>
          <a:xfrm>
            <a:off x="6309360" y="3749040"/>
            <a:ext cx="2194560" cy="5029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Batches arriving from Kafka</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Challenges and limitations</a:t>
            </a:r>
            <a:endParaRPr lang="en-US" sz="3200" dirty="0"/>
          </a:p>
        </p:txBody>
      </p:sp>
      <p:sp>
        <p:nvSpPr>
          <p:cNvPr id="4" name="Limit Sarcasm and irony"/>
          <p:cNvSpPr/>
          <p:nvPr/>
        </p:nvSpPr>
        <p:spPr>
          <a:xfrm>
            <a:off x="457200" y="1188720"/>
            <a:ext cx="2560320" cy="1508760"/>
          </a:xfrm>
          <a:prstGeom prst="roundRect">
            <a:avLst>
              <a:gd name="adj" fmla="val 7273"/>
            </a:avLst>
          </a:prstGeom>
          <a:solidFill>
            <a:schemeClr val="bg2"/>
          </a:solidFill>
          <a:ln/>
        </p:spPr>
        <p:txBody>
          <a:bodyPr/>
          <a:lstStyle/>
          <a:p>
            <a:endParaRPr lang="en-IN"/>
          </a:p>
        </p:txBody>
      </p:sp>
      <p:sp>
        <p:nvSpPr>
          <p:cNvPr id="5" name="Sarcasm and irony circle"/>
          <p:cNvSpPr/>
          <p:nvPr/>
        </p:nvSpPr>
        <p:spPr>
          <a:xfrm>
            <a:off x="640080" y="1353312"/>
            <a:ext cx="457200" cy="457200"/>
          </a:xfrm>
          <a:prstGeom prst="ellipse">
            <a:avLst/>
          </a:prstGeom>
          <a:solidFill>
            <a:schemeClr val="accent2"/>
          </a:solidFill>
          <a:ln/>
        </p:spPr>
        <p:txBody>
          <a:bodyPr/>
          <a:lstStyle/>
          <a:p>
            <a:endParaRPr lang="en-IN"/>
          </a:p>
        </p:txBody>
      </p:sp>
      <p:pic>
        <p:nvPicPr>
          <p:cNvPr id="6" name="Sarcasm and irony icon" descr="Sarcasm and irony"/>
          <p:cNvPicPr>
            <a:picLocks noChangeAspect="1"/>
          </p:cNvPicPr>
          <p:nvPr/>
        </p:nvPicPr>
        <p:blipFill>
          <a:blip r:embed="rId3"/>
          <a:stretch>
            <a:fillRect/>
          </a:stretch>
        </p:blipFill>
        <p:spPr>
          <a:xfrm>
            <a:off x="754380" y="1467612"/>
            <a:ext cx="228600" cy="228600"/>
          </a:xfrm>
          <a:prstGeom prst="rect">
            <a:avLst/>
          </a:prstGeom>
        </p:spPr>
      </p:pic>
      <p:sp>
        <p:nvSpPr>
          <p:cNvPr id="7" name="Text 3"/>
          <p:cNvSpPr txBox="1"/>
          <p:nvPr/>
        </p:nvSpPr>
        <p:spPr>
          <a:xfrm>
            <a:off x="1234440" y="1353312"/>
            <a:ext cx="1691640" cy="45720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Sarcasm and irony</a:t>
            </a:r>
            <a:endParaRPr lang="en-US" sz="1500" dirty="0"/>
          </a:p>
        </p:txBody>
      </p:sp>
      <p:sp>
        <p:nvSpPr>
          <p:cNvPr id="8" name="Text 4"/>
          <p:cNvSpPr txBox="1"/>
          <p:nvPr/>
        </p:nvSpPr>
        <p:spPr>
          <a:xfrm>
            <a:off x="640080" y="1965960"/>
            <a:ext cx="2240280" cy="6858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“Great, empty shelves again” reads positive to a word-based model.</a:t>
            </a:r>
            <a:endParaRPr lang="en-US" sz="1300" dirty="0"/>
          </a:p>
        </p:txBody>
      </p:sp>
      <p:sp>
        <p:nvSpPr>
          <p:cNvPr id="9" name="Limit Neutral ambiguity"/>
          <p:cNvSpPr/>
          <p:nvPr/>
        </p:nvSpPr>
        <p:spPr>
          <a:xfrm>
            <a:off x="3291840" y="1188720"/>
            <a:ext cx="2560320" cy="1508760"/>
          </a:xfrm>
          <a:prstGeom prst="roundRect">
            <a:avLst>
              <a:gd name="adj" fmla="val 7273"/>
            </a:avLst>
          </a:prstGeom>
          <a:solidFill>
            <a:schemeClr val="bg2"/>
          </a:solidFill>
          <a:ln/>
        </p:spPr>
        <p:txBody>
          <a:bodyPr/>
          <a:lstStyle/>
          <a:p>
            <a:endParaRPr lang="en-IN"/>
          </a:p>
        </p:txBody>
      </p:sp>
      <p:sp>
        <p:nvSpPr>
          <p:cNvPr id="10" name="Neutral ambiguity circle"/>
          <p:cNvSpPr/>
          <p:nvPr/>
        </p:nvSpPr>
        <p:spPr>
          <a:xfrm>
            <a:off x="3474720" y="1353312"/>
            <a:ext cx="457200" cy="457200"/>
          </a:xfrm>
          <a:prstGeom prst="ellipse">
            <a:avLst/>
          </a:prstGeom>
          <a:solidFill>
            <a:schemeClr val="accent3"/>
          </a:solidFill>
          <a:ln/>
        </p:spPr>
        <p:txBody>
          <a:bodyPr/>
          <a:lstStyle/>
          <a:p>
            <a:endParaRPr lang="en-IN"/>
          </a:p>
        </p:txBody>
      </p:sp>
      <p:pic>
        <p:nvPicPr>
          <p:cNvPr id="11" name="Neutral ambiguity icon" descr="Neutral ambiguity"/>
          <p:cNvPicPr>
            <a:picLocks noChangeAspect="1"/>
          </p:cNvPicPr>
          <p:nvPr/>
        </p:nvPicPr>
        <p:blipFill>
          <a:blip r:embed="rId4"/>
          <a:stretch>
            <a:fillRect/>
          </a:stretch>
        </p:blipFill>
        <p:spPr>
          <a:xfrm>
            <a:off x="3589020" y="1467612"/>
            <a:ext cx="228600" cy="228600"/>
          </a:xfrm>
          <a:prstGeom prst="rect">
            <a:avLst/>
          </a:prstGeom>
        </p:spPr>
      </p:pic>
      <p:sp>
        <p:nvSpPr>
          <p:cNvPr id="12" name="Text 7"/>
          <p:cNvSpPr txBox="1"/>
          <p:nvPr/>
        </p:nvSpPr>
        <p:spPr>
          <a:xfrm>
            <a:off x="4069080" y="1353312"/>
            <a:ext cx="1691640" cy="45720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Neutral ambiguity</a:t>
            </a:r>
            <a:endParaRPr lang="en-US" sz="1500" dirty="0"/>
          </a:p>
        </p:txBody>
      </p:sp>
      <p:sp>
        <p:nvSpPr>
          <p:cNvPr id="13" name="Text 8"/>
          <p:cNvSpPr txBox="1"/>
          <p:nvPr/>
        </p:nvSpPr>
        <p:spPr>
          <a:xfrm>
            <a:off x="3474720" y="1965960"/>
            <a:ext cx="2240280" cy="6858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Neutral has the lowest F1 for every model.</a:t>
            </a:r>
            <a:endParaRPr lang="en-US" sz="1300" dirty="0"/>
          </a:p>
        </p:txBody>
      </p:sp>
      <p:sp>
        <p:nvSpPr>
          <p:cNvPr id="14" name="Limit Time shift"/>
          <p:cNvSpPr/>
          <p:nvPr/>
        </p:nvSpPr>
        <p:spPr>
          <a:xfrm>
            <a:off x="6126480" y="1188720"/>
            <a:ext cx="2560320" cy="1508760"/>
          </a:xfrm>
          <a:prstGeom prst="roundRect">
            <a:avLst>
              <a:gd name="adj" fmla="val 7273"/>
            </a:avLst>
          </a:prstGeom>
          <a:solidFill>
            <a:schemeClr val="bg2"/>
          </a:solidFill>
          <a:ln/>
        </p:spPr>
        <p:txBody>
          <a:bodyPr/>
          <a:lstStyle/>
          <a:p>
            <a:endParaRPr lang="en-IN"/>
          </a:p>
        </p:txBody>
      </p:sp>
      <p:sp>
        <p:nvSpPr>
          <p:cNvPr id="15" name="Time shift circle"/>
          <p:cNvSpPr/>
          <p:nvPr/>
        </p:nvSpPr>
        <p:spPr>
          <a:xfrm>
            <a:off x="6309360" y="1353312"/>
            <a:ext cx="457200" cy="457200"/>
          </a:xfrm>
          <a:prstGeom prst="ellipse">
            <a:avLst/>
          </a:prstGeom>
          <a:solidFill>
            <a:schemeClr val="accent4"/>
          </a:solidFill>
          <a:ln/>
        </p:spPr>
        <p:txBody>
          <a:bodyPr/>
          <a:lstStyle/>
          <a:p>
            <a:endParaRPr lang="en-IN"/>
          </a:p>
        </p:txBody>
      </p:sp>
      <p:pic>
        <p:nvPicPr>
          <p:cNvPr id="16" name="Time shift icon" descr="Time shift"/>
          <p:cNvPicPr>
            <a:picLocks noChangeAspect="1"/>
          </p:cNvPicPr>
          <p:nvPr/>
        </p:nvPicPr>
        <p:blipFill>
          <a:blip r:embed="rId5"/>
          <a:stretch>
            <a:fillRect/>
          </a:stretch>
        </p:blipFill>
        <p:spPr>
          <a:xfrm>
            <a:off x="6423660" y="1467612"/>
            <a:ext cx="228600" cy="228600"/>
          </a:xfrm>
          <a:prstGeom prst="rect">
            <a:avLst/>
          </a:prstGeom>
        </p:spPr>
      </p:pic>
      <p:sp>
        <p:nvSpPr>
          <p:cNvPr id="17" name="Text 11"/>
          <p:cNvSpPr txBox="1"/>
          <p:nvPr/>
        </p:nvSpPr>
        <p:spPr>
          <a:xfrm>
            <a:off x="6903720" y="1353312"/>
            <a:ext cx="1691640" cy="45720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Time shift</a:t>
            </a:r>
            <a:endParaRPr lang="en-US" sz="1500" dirty="0"/>
          </a:p>
        </p:txBody>
      </p:sp>
      <p:sp>
        <p:nvSpPr>
          <p:cNvPr id="18" name="Text 12"/>
          <p:cNvSpPr txBox="1"/>
          <p:nvPr/>
        </p:nvSpPr>
        <p:spPr>
          <a:xfrm>
            <a:off x="6309360" y="1965960"/>
            <a:ext cx="2240280" cy="6858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Accuracy fell to 77.2% on tweets from another period.</a:t>
            </a:r>
            <a:endParaRPr lang="en-US" sz="1300" dirty="0"/>
          </a:p>
        </p:txBody>
      </p:sp>
      <p:sp>
        <p:nvSpPr>
          <p:cNvPr id="19" name="Limit One topic only"/>
          <p:cNvSpPr/>
          <p:nvPr/>
        </p:nvSpPr>
        <p:spPr>
          <a:xfrm>
            <a:off x="457200" y="2880360"/>
            <a:ext cx="2560320" cy="1508760"/>
          </a:xfrm>
          <a:prstGeom prst="roundRect">
            <a:avLst>
              <a:gd name="adj" fmla="val 7273"/>
            </a:avLst>
          </a:prstGeom>
          <a:solidFill>
            <a:schemeClr val="bg2"/>
          </a:solidFill>
          <a:ln/>
        </p:spPr>
        <p:txBody>
          <a:bodyPr/>
          <a:lstStyle/>
          <a:p>
            <a:endParaRPr lang="en-IN"/>
          </a:p>
        </p:txBody>
      </p:sp>
      <p:sp>
        <p:nvSpPr>
          <p:cNvPr id="20" name="One topic only circle"/>
          <p:cNvSpPr/>
          <p:nvPr/>
        </p:nvSpPr>
        <p:spPr>
          <a:xfrm>
            <a:off x="640080" y="3044952"/>
            <a:ext cx="457200" cy="457200"/>
          </a:xfrm>
          <a:prstGeom prst="ellipse">
            <a:avLst/>
          </a:prstGeom>
          <a:solidFill>
            <a:schemeClr val="accent5"/>
          </a:solidFill>
          <a:ln/>
        </p:spPr>
        <p:txBody>
          <a:bodyPr/>
          <a:lstStyle/>
          <a:p>
            <a:endParaRPr lang="en-IN"/>
          </a:p>
        </p:txBody>
      </p:sp>
      <p:pic>
        <p:nvPicPr>
          <p:cNvPr id="21" name="One topic only icon" descr="One topic only"/>
          <p:cNvPicPr>
            <a:picLocks noChangeAspect="1"/>
          </p:cNvPicPr>
          <p:nvPr/>
        </p:nvPicPr>
        <p:blipFill>
          <a:blip r:embed="rId6"/>
          <a:stretch>
            <a:fillRect/>
          </a:stretch>
        </p:blipFill>
        <p:spPr>
          <a:xfrm>
            <a:off x="754380" y="3159252"/>
            <a:ext cx="228600" cy="228600"/>
          </a:xfrm>
          <a:prstGeom prst="rect">
            <a:avLst/>
          </a:prstGeom>
        </p:spPr>
      </p:pic>
      <p:sp>
        <p:nvSpPr>
          <p:cNvPr id="22" name="Text 15"/>
          <p:cNvSpPr txBox="1"/>
          <p:nvPr/>
        </p:nvSpPr>
        <p:spPr>
          <a:xfrm>
            <a:off x="1234440" y="3044952"/>
            <a:ext cx="1691640" cy="45720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One topic only</a:t>
            </a:r>
            <a:endParaRPr lang="en-US" sz="1500" dirty="0"/>
          </a:p>
        </p:txBody>
      </p:sp>
      <p:sp>
        <p:nvSpPr>
          <p:cNvPr id="23" name="Text 16"/>
          <p:cNvSpPr txBox="1"/>
          <p:nvPr/>
        </p:nvSpPr>
        <p:spPr>
          <a:xfrm>
            <a:off x="640080" y="3657600"/>
            <a:ext cx="2240280" cy="6858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COVID-19 tweets over about a month; other topics may differ.</a:t>
            </a:r>
            <a:endParaRPr lang="en-US" sz="1300" dirty="0"/>
          </a:p>
        </p:txBody>
      </p:sp>
      <p:sp>
        <p:nvSpPr>
          <p:cNvPr id="24" name="Limit Run-to-run variation"/>
          <p:cNvSpPr/>
          <p:nvPr/>
        </p:nvSpPr>
        <p:spPr>
          <a:xfrm>
            <a:off x="3291840" y="2880360"/>
            <a:ext cx="2560320" cy="1508760"/>
          </a:xfrm>
          <a:prstGeom prst="roundRect">
            <a:avLst>
              <a:gd name="adj" fmla="val 7273"/>
            </a:avLst>
          </a:prstGeom>
          <a:solidFill>
            <a:schemeClr val="bg2"/>
          </a:solidFill>
          <a:ln/>
        </p:spPr>
        <p:txBody>
          <a:bodyPr/>
          <a:lstStyle/>
          <a:p>
            <a:endParaRPr lang="en-IN"/>
          </a:p>
        </p:txBody>
      </p:sp>
      <p:sp>
        <p:nvSpPr>
          <p:cNvPr id="25" name="Run-to-run variation circle"/>
          <p:cNvSpPr/>
          <p:nvPr/>
        </p:nvSpPr>
        <p:spPr>
          <a:xfrm>
            <a:off x="3474720" y="3044952"/>
            <a:ext cx="457200" cy="457200"/>
          </a:xfrm>
          <a:prstGeom prst="ellipse">
            <a:avLst/>
          </a:prstGeom>
          <a:solidFill>
            <a:schemeClr val="accent1"/>
          </a:solidFill>
          <a:ln/>
        </p:spPr>
        <p:txBody>
          <a:bodyPr/>
          <a:lstStyle/>
          <a:p>
            <a:endParaRPr lang="en-IN"/>
          </a:p>
        </p:txBody>
      </p:sp>
      <p:pic>
        <p:nvPicPr>
          <p:cNvPr id="26" name="Run-to-run variation icon" descr="Run-to-run variation"/>
          <p:cNvPicPr>
            <a:picLocks noChangeAspect="1"/>
          </p:cNvPicPr>
          <p:nvPr/>
        </p:nvPicPr>
        <p:blipFill>
          <a:blip r:embed="rId7"/>
          <a:stretch>
            <a:fillRect/>
          </a:stretch>
        </p:blipFill>
        <p:spPr>
          <a:xfrm>
            <a:off x="3589020" y="3159252"/>
            <a:ext cx="228600" cy="228600"/>
          </a:xfrm>
          <a:prstGeom prst="rect">
            <a:avLst/>
          </a:prstGeom>
        </p:spPr>
      </p:pic>
      <p:sp>
        <p:nvSpPr>
          <p:cNvPr id="27" name="Text 19"/>
          <p:cNvSpPr txBox="1"/>
          <p:nvPr/>
        </p:nvSpPr>
        <p:spPr>
          <a:xfrm>
            <a:off x="4069080" y="3044952"/>
            <a:ext cx="1691640" cy="45720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Run-to-run variation</a:t>
            </a:r>
            <a:endParaRPr lang="en-US" sz="1500" dirty="0"/>
          </a:p>
        </p:txBody>
      </p:sp>
      <p:sp>
        <p:nvSpPr>
          <p:cNvPr id="28" name="Text 20"/>
          <p:cNvSpPr txBox="1"/>
          <p:nvPr/>
        </p:nvSpPr>
        <p:spPr>
          <a:xfrm>
            <a:off x="3474720" y="3657600"/>
            <a:ext cx="2240280" cy="6858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LSTM accuracy moved from 81.2% to 81.6% between runs.</a:t>
            </a:r>
            <a:endParaRPr lang="en-US" sz="1300" dirty="0"/>
          </a:p>
        </p:txBody>
      </p:sp>
      <p:sp>
        <p:nvSpPr>
          <p:cNvPr id="29" name="Limit Small-scale setup"/>
          <p:cNvSpPr/>
          <p:nvPr/>
        </p:nvSpPr>
        <p:spPr>
          <a:xfrm>
            <a:off x="6126480" y="2880360"/>
            <a:ext cx="2560320" cy="1508760"/>
          </a:xfrm>
          <a:prstGeom prst="roundRect">
            <a:avLst>
              <a:gd name="adj" fmla="val 7273"/>
            </a:avLst>
          </a:prstGeom>
          <a:solidFill>
            <a:schemeClr val="bg2"/>
          </a:solidFill>
          <a:ln/>
        </p:spPr>
        <p:txBody>
          <a:bodyPr/>
          <a:lstStyle/>
          <a:p>
            <a:endParaRPr lang="en-IN"/>
          </a:p>
        </p:txBody>
      </p:sp>
      <p:sp>
        <p:nvSpPr>
          <p:cNvPr id="30" name="Small-scale setup circle"/>
          <p:cNvSpPr/>
          <p:nvPr/>
        </p:nvSpPr>
        <p:spPr>
          <a:xfrm>
            <a:off x="6309360" y="3044952"/>
            <a:ext cx="457200" cy="457200"/>
          </a:xfrm>
          <a:prstGeom prst="ellipse">
            <a:avLst/>
          </a:prstGeom>
          <a:solidFill>
            <a:schemeClr val="tx2"/>
          </a:solidFill>
          <a:ln/>
        </p:spPr>
        <p:txBody>
          <a:bodyPr/>
          <a:lstStyle/>
          <a:p>
            <a:endParaRPr lang="en-IN"/>
          </a:p>
        </p:txBody>
      </p:sp>
      <p:pic>
        <p:nvPicPr>
          <p:cNvPr id="31" name="Small-scale setup icon" descr="Small-scale setup"/>
          <p:cNvPicPr>
            <a:picLocks noChangeAspect="1"/>
          </p:cNvPicPr>
          <p:nvPr/>
        </p:nvPicPr>
        <p:blipFill>
          <a:blip r:embed="rId8"/>
          <a:stretch>
            <a:fillRect/>
          </a:stretch>
        </p:blipFill>
        <p:spPr>
          <a:xfrm>
            <a:off x="6423660" y="3159252"/>
            <a:ext cx="228600" cy="228600"/>
          </a:xfrm>
          <a:prstGeom prst="rect">
            <a:avLst/>
          </a:prstGeom>
        </p:spPr>
      </p:pic>
      <p:sp>
        <p:nvSpPr>
          <p:cNvPr id="32" name="Text 23"/>
          <p:cNvSpPr txBox="1"/>
          <p:nvPr/>
        </p:nvSpPr>
        <p:spPr>
          <a:xfrm>
            <a:off x="6903720" y="3044952"/>
            <a:ext cx="1691640" cy="457200"/>
          </a:xfrm>
          <a:prstGeom prst="rect">
            <a:avLst/>
          </a:prstGeom>
          <a:noFill/>
          <a:ln/>
        </p:spPr>
        <p:txBody>
          <a:bodyPr wrap="square" lIns="0" tIns="0" rIns="0" bIns="0" rtlCol="0" anchor="ctr"/>
          <a:lstStyle/>
          <a:p>
            <a:pPr marL="0" indent="0">
              <a:buNone/>
            </a:pPr>
            <a:r>
              <a:rPr lang="en-US" sz="1500" b="1" dirty="0">
                <a:solidFill>
                  <a:schemeClr val="tx2"/>
                </a:solidFill>
                <a:latin typeface="Calibri" pitchFamily="34" charset="0"/>
                <a:ea typeface="Calibri" pitchFamily="34" charset="-122"/>
                <a:cs typeface="Calibri" pitchFamily="34" charset="-120"/>
              </a:rPr>
              <a:t>Small-scale setup</a:t>
            </a:r>
            <a:endParaRPr lang="en-US" sz="1500" dirty="0"/>
          </a:p>
        </p:txBody>
      </p:sp>
      <p:sp>
        <p:nvSpPr>
          <p:cNvPr id="33" name="Text 24"/>
          <p:cNvSpPr txBox="1"/>
          <p:nvPr/>
        </p:nvSpPr>
        <p:spPr>
          <a:xfrm>
            <a:off x="6309360" y="3657600"/>
            <a:ext cx="2240280" cy="6858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One Kafka broker and Spark in local mode, not a cluster.</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Future scope</a:t>
            </a:r>
            <a:endParaRPr lang="en-US" sz="3200" dirty="0"/>
          </a:p>
        </p:txBody>
      </p:sp>
      <p:sp>
        <p:nvSpPr>
          <p:cNvPr id="4" name="Future Stronger model"/>
          <p:cNvSpPr/>
          <p:nvPr/>
        </p:nvSpPr>
        <p:spPr>
          <a:xfrm>
            <a:off x="457200" y="1188720"/>
            <a:ext cx="1920240" cy="3291840"/>
          </a:xfrm>
          <a:prstGeom prst="roundRect">
            <a:avLst>
              <a:gd name="adj" fmla="val 5714"/>
            </a:avLst>
          </a:prstGeom>
          <a:solidFill>
            <a:schemeClr val="bg2"/>
          </a:solidFill>
          <a:ln/>
        </p:spPr>
        <p:txBody>
          <a:bodyPr/>
          <a:lstStyle/>
          <a:p>
            <a:endParaRPr lang="en-IN"/>
          </a:p>
        </p:txBody>
      </p:sp>
      <p:sp>
        <p:nvSpPr>
          <p:cNvPr id="5" name="Stronger model circle"/>
          <p:cNvSpPr/>
          <p:nvPr/>
        </p:nvSpPr>
        <p:spPr>
          <a:xfrm>
            <a:off x="640080" y="1371600"/>
            <a:ext cx="548640" cy="548640"/>
          </a:xfrm>
          <a:prstGeom prst="ellipse">
            <a:avLst/>
          </a:prstGeom>
          <a:solidFill>
            <a:schemeClr val="accent1"/>
          </a:solidFill>
          <a:ln/>
        </p:spPr>
        <p:txBody>
          <a:bodyPr/>
          <a:lstStyle/>
          <a:p>
            <a:endParaRPr lang="en-IN"/>
          </a:p>
        </p:txBody>
      </p:sp>
      <p:pic>
        <p:nvPicPr>
          <p:cNvPr id="6" name="Stronger model icon" descr="Stronger model"/>
          <p:cNvPicPr>
            <a:picLocks noChangeAspect="1"/>
          </p:cNvPicPr>
          <p:nvPr/>
        </p:nvPicPr>
        <p:blipFill>
          <a:blip r:embed="rId3"/>
          <a:stretch>
            <a:fillRect/>
          </a:stretch>
        </p:blipFill>
        <p:spPr>
          <a:xfrm>
            <a:off x="777240" y="1508760"/>
            <a:ext cx="274320" cy="274320"/>
          </a:xfrm>
          <a:prstGeom prst="rect">
            <a:avLst/>
          </a:prstGeom>
        </p:spPr>
      </p:pic>
      <p:sp>
        <p:nvSpPr>
          <p:cNvPr id="7" name="Text 3"/>
          <p:cNvSpPr txBox="1"/>
          <p:nvPr/>
        </p:nvSpPr>
        <p:spPr>
          <a:xfrm>
            <a:off x="640080" y="2103120"/>
            <a:ext cx="164592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Stronger model</a:t>
            </a:r>
            <a:endParaRPr lang="en-US" sz="1700" dirty="0"/>
          </a:p>
        </p:txBody>
      </p:sp>
      <p:sp>
        <p:nvSpPr>
          <p:cNvPr id="8" name="Text 4"/>
          <p:cNvSpPr txBox="1"/>
          <p:nvPr/>
        </p:nvSpPr>
        <p:spPr>
          <a:xfrm>
            <a:off x="640080" y="2606040"/>
            <a:ext cx="164592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Fine-tune BERTweet</a:t>
            </a:r>
            <a:endParaRPr lang="en-US" sz="1300" dirty="0"/>
          </a:p>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Handle sarcasm better</a:t>
            </a:r>
            <a:endParaRPr lang="en-US" sz="1300" dirty="0"/>
          </a:p>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Class weights for Neutral</a:t>
            </a:r>
            <a:endParaRPr lang="en-US" sz="1300" dirty="0"/>
          </a:p>
        </p:txBody>
      </p:sp>
      <p:sp>
        <p:nvSpPr>
          <p:cNvPr id="9" name="Future Scale out"/>
          <p:cNvSpPr/>
          <p:nvPr/>
        </p:nvSpPr>
        <p:spPr>
          <a:xfrm>
            <a:off x="2560320" y="1188720"/>
            <a:ext cx="1920240" cy="3291840"/>
          </a:xfrm>
          <a:prstGeom prst="roundRect">
            <a:avLst>
              <a:gd name="adj" fmla="val 5714"/>
            </a:avLst>
          </a:prstGeom>
          <a:solidFill>
            <a:schemeClr val="bg2"/>
          </a:solidFill>
          <a:ln/>
        </p:spPr>
        <p:txBody>
          <a:bodyPr/>
          <a:lstStyle/>
          <a:p>
            <a:endParaRPr lang="en-IN"/>
          </a:p>
        </p:txBody>
      </p:sp>
      <p:sp>
        <p:nvSpPr>
          <p:cNvPr id="10" name="Scale out circle"/>
          <p:cNvSpPr/>
          <p:nvPr/>
        </p:nvSpPr>
        <p:spPr>
          <a:xfrm>
            <a:off x="2743200" y="1371600"/>
            <a:ext cx="548640" cy="548640"/>
          </a:xfrm>
          <a:prstGeom prst="ellipse">
            <a:avLst/>
          </a:prstGeom>
          <a:solidFill>
            <a:schemeClr val="accent4"/>
          </a:solidFill>
          <a:ln/>
        </p:spPr>
        <p:txBody>
          <a:bodyPr/>
          <a:lstStyle/>
          <a:p>
            <a:endParaRPr lang="en-IN"/>
          </a:p>
        </p:txBody>
      </p:sp>
      <p:pic>
        <p:nvPicPr>
          <p:cNvPr id="11" name="Scale out icon" descr="Scale out"/>
          <p:cNvPicPr>
            <a:picLocks noChangeAspect="1"/>
          </p:cNvPicPr>
          <p:nvPr/>
        </p:nvPicPr>
        <p:blipFill>
          <a:blip r:embed="rId4"/>
          <a:stretch>
            <a:fillRect/>
          </a:stretch>
        </p:blipFill>
        <p:spPr>
          <a:xfrm>
            <a:off x="2880360" y="1508760"/>
            <a:ext cx="274320" cy="274320"/>
          </a:xfrm>
          <a:prstGeom prst="rect">
            <a:avLst/>
          </a:prstGeom>
        </p:spPr>
      </p:pic>
      <p:sp>
        <p:nvSpPr>
          <p:cNvPr id="12" name="Text 7"/>
          <p:cNvSpPr txBox="1"/>
          <p:nvPr/>
        </p:nvSpPr>
        <p:spPr>
          <a:xfrm>
            <a:off x="2743200" y="2103120"/>
            <a:ext cx="164592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Scale out</a:t>
            </a:r>
            <a:endParaRPr lang="en-US" sz="1700" dirty="0"/>
          </a:p>
        </p:txBody>
      </p:sp>
      <p:sp>
        <p:nvSpPr>
          <p:cNvPr id="13" name="Text 8"/>
          <p:cNvSpPr txBox="1"/>
          <p:nvPr/>
        </p:nvSpPr>
        <p:spPr>
          <a:xfrm>
            <a:off x="2743200" y="2606040"/>
            <a:ext cx="164592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Several Kafka partitions</a:t>
            </a:r>
            <a:endParaRPr lang="en-US" sz="1300" dirty="0"/>
          </a:p>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Spark cluster</a:t>
            </a:r>
            <a:endParaRPr lang="en-US" sz="1300" dirty="0"/>
          </a:p>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Fault-tolerant consumers</a:t>
            </a:r>
            <a:endParaRPr lang="en-US" sz="1300" dirty="0"/>
          </a:p>
        </p:txBody>
      </p:sp>
      <p:sp>
        <p:nvSpPr>
          <p:cNvPr id="14" name="Future Better forecast"/>
          <p:cNvSpPr/>
          <p:nvPr/>
        </p:nvSpPr>
        <p:spPr>
          <a:xfrm>
            <a:off x="4663440" y="1188720"/>
            <a:ext cx="1920240" cy="3291840"/>
          </a:xfrm>
          <a:prstGeom prst="roundRect">
            <a:avLst>
              <a:gd name="adj" fmla="val 5714"/>
            </a:avLst>
          </a:prstGeom>
          <a:solidFill>
            <a:schemeClr val="bg2"/>
          </a:solidFill>
          <a:ln/>
        </p:spPr>
        <p:txBody>
          <a:bodyPr/>
          <a:lstStyle/>
          <a:p>
            <a:endParaRPr lang="en-IN"/>
          </a:p>
        </p:txBody>
      </p:sp>
      <p:sp>
        <p:nvSpPr>
          <p:cNvPr id="15" name="Better forecast circle"/>
          <p:cNvSpPr/>
          <p:nvPr/>
        </p:nvSpPr>
        <p:spPr>
          <a:xfrm>
            <a:off x="4846320" y="1371600"/>
            <a:ext cx="548640" cy="548640"/>
          </a:xfrm>
          <a:prstGeom prst="ellipse">
            <a:avLst/>
          </a:prstGeom>
          <a:solidFill>
            <a:schemeClr val="accent3"/>
          </a:solidFill>
          <a:ln/>
        </p:spPr>
        <p:txBody>
          <a:bodyPr/>
          <a:lstStyle/>
          <a:p>
            <a:endParaRPr lang="en-IN"/>
          </a:p>
        </p:txBody>
      </p:sp>
      <p:pic>
        <p:nvPicPr>
          <p:cNvPr id="16" name="Better forecast icon" descr="Better forecast"/>
          <p:cNvPicPr>
            <a:picLocks noChangeAspect="1"/>
          </p:cNvPicPr>
          <p:nvPr/>
        </p:nvPicPr>
        <p:blipFill>
          <a:blip r:embed="rId5"/>
          <a:stretch>
            <a:fillRect/>
          </a:stretch>
        </p:blipFill>
        <p:spPr>
          <a:xfrm>
            <a:off x="4983480" y="1508760"/>
            <a:ext cx="274320" cy="274320"/>
          </a:xfrm>
          <a:prstGeom prst="rect">
            <a:avLst/>
          </a:prstGeom>
        </p:spPr>
      </p:pic>
      <p:sp>
        <p:nvSpPr>
          <p:cNvPr id="17" name="Text 11"/>
          <p:cNvSpPr txBox="1"/>
          <p:nvPr/>
        </p:nvSpPr>
        <p:spPr>
          <a:xfrm>
            <a:off x="4846320" y="2103120"/>
            <a:ext cx="164592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Better forecast</a:t>
            </a:r>
            <a:endParaRPr lang="en-US" sz="1700" dirty="0"/>
          </a:p>
        </p:txBody>
      </p:sp>
      <p:sp>
        <p:nvSpPr>
          <p:cNvPr id="18" name="Text 12"/>
          <p:cNvSpPr txBox="1"/>
          <p:nvPr/>
        </p:nvSpPr>
        <p:spPr>
          <a:xfrm>
            <a:off x="4846320" y="2606040"/>
            <a:ext cx="164592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Seasonality-aware models</a:t>
            </a:r>
            <a:endParaRPr lang="en-US" sz="1300" dirty="0"/>
          </a:p>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Confidence intervals</a:t>
            </a:r>
            <a:endParaRPr lang="en-US" sz="1300" dirty="0"/>
          </a:p>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Longer history</a:t>
            </a:r>
            <a:endParaRPr lang="en-US" sz="1300" dirty="0"/>
          </a:p>
        </p:txBody>
      </p:sp>
      <p:sp>
        <p:nvSpPr>
          <p:cNvPr id="19" name="Future Real product"/>
          <p:cNvSpPr/>
          <p:nvPr/>
        </p:nvSpPr>
        <p:spPr>
          <a:xfrm>
            <a:off x="6766560" y="1188720"/>
            <a:ext cx="1920240" cy="3291840"/>
          </a:xfrm>
          <a:prstGeom prst="roundRect">
            <a:avLst>
              <a:gd name="adj" fmla="val 5714"/>
            </a:avLst>
          </a:prstGeom>
          <a:solidFill>
            <a:schemeClr val="bg2"/>
          </a:solidFill>
          <a:ln/>
        </p:spPr>
        <p:txBody>
          <a:bodyPr/>
          <a:lstStyle/>
          <a:p>
            <a:endParaRPr lang="en-IN"/>
          </a:p>
        </p:txBody>
      </p:sp>
      <p:sp>
        <p:nvSpPr>
          <p:cNvPr id="20" name="Real product circle"/>
          <p:cNvSpPr/>
          <p:nvPr/>
        </p:nvSpPr>
        <p:spPr>
          <a:xfrm>
            <a:off x="6949440" y="1371600"/>
            <a:ext cx="548640" cy="548640"/>
          </a:xfrm>
          <a:prstGeom prst="ellipse">
            <a:avLst/>
          </a:prstGeom>
          <a:solidFill>
            <a:schemeClr val="accent2"/>
          </a:solidFill>
          <a:ln/>
        </p:spPr>
        <p:txBody>
          <a:bodyPr/>
          <a:lstStyle/>
          <a:p>
            <a:endParaRPr lang="en-IN"/>
          </a:p>
        </p:txBody>
      </p:sp>
      <p:pic>
        <p:nvPicPr>
          <p:cNvPr id="21" name="Real product icon" descr="Real product"/>
          <p:cNvPicPr>
            <a:picLocks noChangeAspect="1"/>
          </p:cNvPicPr>
          <p:nvPr/>
        </p:nvPicPr>
        <p:blipFill>
          <a:blip r:embed="rId6"/>
          <a:stretch>
            <a:fillRect/>
          </a:stretch>
        </p:blipFill>
        <p:spPr>
          <a:xfrm>
            <a:off x="7086600" y="1508760"/>
            <a:ext cx="274320" cy="274320"/>
          </a:xfrm>
          <a:prstGeom prst="rect">
            <a:avLst/>
          </a:prstGeom>
        </p:spPr>
      </p:pic>
      <p:sp>
        <p:nvSpPr>
          <p:cNvPr id="22" name="Text 15"/>
          <p:cNvSpPr txBox="1"/>
          <p:nvPr/>
        </p:nvSpPr>
        <p:spPr>
          <a:xfrm>
            <a:off x="6949440" y="2103120"/>
            <a:ext cx="1645920" cy="365760"/>
          </a:xfrm>
          <a:prstGeom prst="rect">
            <a:avLst/>
          </a:prstGeom>
          <a:noFill/>
          <a:ln/>
        </p:spPr>
        <p:txBody>
          <a:bodyPr wrap="square" lIns="0" tIns="0" rIns="0" bIns="0" rtlCol="0" anchor="t"/>
          <a:lstStyle/>
          <a:p>
            <a:pPr marL="0" indent="0">
              <a:buNone/>
            </a:pPr>
            <a:r>
              <a:rPr lang="en-US" sz="1700" b="1" dirty="0">
                <a:solidFill>
                  <a:schemeClr val="tx2"/>
                </a:solidFill>
                <a:latin typeface="Cambria" pitchFamily="34" charset="0"/>
                <a:ea typeface="Cambria" pitchFamily="34" charset="-122"/>
                <a:cs typeface="Cambria" pitchFamily="34" charset="-120"/>
              </a:rPr>
              <a:t>Real product</a:t>
            </a:r>
            <a:endParaRPr lang="en-US" sz="1700" dirty="0"/>
          </a:p>
        </p:txBody>
      </p:sp>
      <p:sp>
        <p:nvSpPr>
          <p:cNvPr id="23" name="Text 16"/>
          <p:cNvSpPr txBox="1"/>
          <p:nvPr/>
        </p:nvSpPr>
        <p:spPr>
          <a:xfrm>
            <a:off x="6949440" y="2606040"/>
            <a:ext cx="164592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Live social media feeds</a:t>
            </a:r>
            <a:endParaRPr lang="en-US" sz="1300" dirty="0"/>
          </a:p>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Multiple languages</a:t>
            </a:r>
            <a:endParaRPr lang="en-US" sz="1300" dirty="0"/>
          </a:p>
          <a:p>
            <a:pPr marL="342900" indent="-3429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Alerts on sentiment spikes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bg1"/>
                </a:solidFill>
                <a:latin typeface="Cambria" pitchFamily="34" charset="0"/>
                <a:ea typeface="Cambria" pitchFamily="34" charset="-122"/>
                <a:cs typeface="Cambria" pitchFamily="34" charset="-120"/>
              </a:rPr>
              <a:t>Conclusion</a:t>
            </a:r>
            <a:endParaRPr lang="en-US" sz="3200" dirty="0"/>
          </a:p>
        </p:txBody>
      </p:sp>
      <p:sp>
        <p:nvSpPr>
          <p:cNvPr id="4" name="Key stat 1"/>
          <p:cNvSpPr/>
          <p:nvPr/>
        </p:nvSpPr>
        <p:spPr>
          <a:xfrm>
            <a:off x="457200" y="1188720"/>
            <a:ext cx="1920240" cy="1737360"/>
          </a:xfrm>
          <a:prstGeom prst="roundRect">
            <a:avLst>
              <a:gd name="adj" fmla="val 6316"/>
            </a:avLst>
          </a:prstGeom>
          <a:solidFill>
            <a:schemeClr val="tx2"/>
          </a:solidFill>
          <a:ln/>
        </p:spPr>
        <p:txBody>
          <a:bodyPr/>
          <a:lstStyle/>
          <a:p>
            <a:endParaRPr lang="en-IN"/>
          </a:p>
        </p:txBody>
      </p:sp>
      <p:sp>
        <p:nvSpPr>
          <p:cNvPr id="5" name="Text 2"/>
          <p:cNvSpPr txBox="1"/>
          <p:nvPr/>
        </p:nvSpPr>
        <p:spPr>
          <a:xfrm>
            <a:off x="457200" y="1325880"/>
            <a:ext cx="1920240" cy="685800"/>
          </a:xfrm>
          <a:prstGeom prst="rect">
            <a:avLst/>
          </a:prstGeom>
          <a:noFill/>
          <a:ln/>
        </p:spPr>
        <p:txBody>
          <a:bodyPr wrap="square" lIns="0" tIns="0" rIns="0" bIns="0" rtlCol="0" anchor="t"/>
          <a:lstStyle/>
          <a:p>
            <a:pPr marL="0" indent="0" algn="ctr">
              <a:buNone/>
            </a:pPr>
            <a:r>
              <a:rPr lang="en-US" sz="3400" b="1" dirty="0">
                <a:solidFill>
                  <a:schemeClr val="accent6"/>
                </a:solidFill>
                <a:latin typeface="Cambria" pitchFamily="34" charset="0"/>
                <a:ea typeface="Cambria" pitchFamily="34" charset="-122"/>
                <a:cs typeface="Cambria" pitchFamily="34" charset="-120"/>
              </a:rPr>
              <a:t>81.2%</a:t>
            </a:r>
            <a:endParaRPr lang="en-US" sz="3400" dirty="0"/>
          </a:p>
        </p:txBody>
      </p:sp>
      <p:sp>
        <p:nvSpPr>
          <p:cNvPr id="6" name="Text 3"/>
          <p:cNvSpPr txBox="1"/>
          <p:nvPr/>
        </p:nvSpPr>
        <p:spPr>
          <a:xfrm>
            <a:off x="640080" y="2057400"/>
            <a:ext cx="1554480" cy="777240"/>
          </a:xfrm>
          <a:prstGeom prst="rect">
            <a:avLst/>
          </a:prstGeom>
          <a:noFill/>
          <a:ln/>
        </p:spPr>
        <p:txBody>
          <a:bodyPr wrap="square" lIns="0" tIns="0" rIns="0" bIns="0" rtlCol="0" anchor="t"/>
          <a:lstStyle/>
          <a:p>
            <a:pPr marL="0" indent="0" algn="ctr">
              <a:buNone/>
            </a:pPr>
            <a:r>
              <a:rPr lang="en-US" sz="1300" dirty="0">
                <a:solidFill>
                  <a:schemeClr val="bg1"/>
                </a:solidFill>
                <a:latin typeface="Calibri" pitchFamily="34" charset="0"/>
                <a:ea typeface="Calibri" pitchFamily="34" charset="-122"/>
                <a:cs typeface="Calibri" pitchFamily="34" charset="-120"/>
              </a:rPr>
              <a:t>LSTM accuracy, the best of five models</a:t>
            </a:r>
            <a:endParaRPr lang="en-US" sz="1300" dirty="0"/>
          </a:p>
        </p:txBody>
      </p:sp>
      <p:sp>
        <p:nvSpPr>
          <p:cNvPr id="7" name="Key stat 2"/>
          <p:cNvSpPr/>
          <p:nvPr/>
        </p:nvSpPr>
        <p:spPr>
          <a:xfrm>
            <a:off x="2560320" y="1188720"/>
            <a:ext cx="1920240" cy="1737360"/>
          </a:xfrm>
          <a:prstGeom prst="roundRect">
            <a:avLst>
              <a:gd name="adj" fmla="val 6316"/>
            </a:avLst>
          </a:prstGeom>
          <a:solidFill>
            <a:schemeClr val="tx2"/>
          </a:solidFill>
          <a:ln/>
        </p:spPr>
        <p:txBody>
          <a:bodyPr/>
          <a:lstStyle/>
          <a:p>
            <a:endParaRPr lang="en-IN"/>
          </a:p>
        </p:txBody>
      </p:sp>
      <p:sp>
        <p:nvSpPr>
          <p:cNvPr id="8" name="Text 5"/>
          <p:cNvSpPr txBox="1"/>
          <p:nvPr/>
        </p:nvSpPr>
        <p:spPr>
          <a:xfrm>
            <a:off x="2560320" y="1325880"/>
            <a:ext cx="1920240" cy="685800"/>
          </a:xfrm>
          <a:prstGeom prst="rect">
            <a:avLst/>
          </a:prstGeom>
          <a:noFill/>
          <a:ln/>
        </p:spPr>
        <p:txBody>
          <a:bodyPr wrap="square" lIns="0" tIns="0" rIns="0" bIns="0" rtlCol="0" anchor="t"/>
          <a:lstStyle/>
          <a:p>
            <a:pPr marL="0" indent="0" algn="ctr">
              <a:buNone/>
            </a:pPr>
            <a:r>
              <a:rPr lang="en-US" sz="3400" b="1" dirty="0">
                <a:solidFill>
                  <a:schemeClr val="accent6"/>
                </a:solidFill>
                <a:latin typeface="Cambria" pitchFamily="34" charset="0"/>
                <a:ea typeface="Cambria" pitchFamily="34" charset="-122"/>
                <a:cs typeface="Cambria" pitchFamily="34" charset="-120"/>
              </a:rPr>
              <a:t>77.2%</a:t>
            </a:r>
            <a:endParaRPr lang="en-US" sz="3400" dirty="0"/>
          </a:p>
        </p:txBody>
      </p:sp>
      <p:sp>
        <p:nvSpPr>
          <p:cNvPr id="9" name="Text 6"/>
          <p:cNvSpPr txBox="1"/>
          <p:nvPr/>
        </p:nvSpPr>
        <p:spPr>
          <a:xfrm>
            <a:off x="2743200" y="2057400"/>
            <a:ext cx="1554480" cy="777240"/>
          </a:xfrm>
          <a:prstGeom prst="rect">
            <a:avLst/>
          </a:prstGeom>
          <a:noFill/>
          <a:ln/>
        </p:spPr>
        <p:txBody>
          <a:bodyPr wrap="square" lIns="0" tIns="0" rIns="0" bIns="0" rtlCol="0" anchor="t"/>
          <a:lstStyle/>
          <a:p>
            <a:pPr marL="0" indent="0" algn="ctr">
              <a:buNone/>
            </a:pPr>
            <a:r>
              <a:rPr lang="en-US" sz="1300" dirty="0">
                <a:solidFill>
                  <a:schemeClr val="bg1"/>
                </a:solidFill>
                <a:latin typeface="Calibri" pitchFamily="34" charset="0"/>
                <a:ea typeface="Calibri" pitchFamily="34" charset="-122"/>
                <a:cs typeface="Calibri" pitchFamily="34" charset="-120"/>
              </a:rPr>
              <a:t>accuracy on unseen tweets (deployed model)</a:t>
            </a:r>
            <a:endParaRPr lang="en-US" sz="1300" dirty="0"/>
          </a:p>
        </p:txBody>
      </p:sp>
      <p:sp>
        <p:nvSpPr>
          <p:cNvPr id="10" name="Key stat 3"/>
          <p:cNvSpPr/>
          <p:nvPr/>
        </p:nvSpPr>
        <p:spPr>
          <a:xfrm>
            <a:off x="4663440" y="1188720"/>
            <a:ext cx="1920240" cy="1737360"/>
          </a:xfrm>
          <a:prstGeom prst="roundRect">
            <a:avLst>
              <a:gd name="adj" fmla="val 6316"/>
            </a:avLst>
          </a:prstGeom>
          <a:solidFill>
            <a:schemeClr val="tx2"/>
          </a:solidFill>
          <a:ln/>
        </p:spPr>
        <p:txBody>
          <a:bodyPr/>
          <a:lstStyle/>
          <a:p>
            <a:endParaRPr lang="en-IN"/>
          </a:p>
        </p:txBody>
      </p:sp>
      <p:sp>
        <p:nvSpPr>
          <p:cNvPr id="11" name="Text 8"/>
          <p:cNvSpPr txBox="1"/>
          <p:nvPr/>
        </p:nvSpPr>
        <p:spPr>
          <a:xfrm>
            <a:off x="4663440" y="1325880"/>
            <a:ext cx="1920240" cy="685800"/>
          </a:xfrm>
          <a:prstGeom prst="rect">
            <a:avLst/>
          </a:prstGeom>
          <a:noFill/>
          <a:ln/>
        </p:spPr>
        <p:txBody>
          <a:bodyPr wrap="square" lIns="0" tIns="0" rIns="0" bIns="0" rtlCol="0" anchor="t"/>
          <a:lstStyle/>
          <a:p>
            <a:pPr marL="0" indent="0" algn="ctr">
              <a:buNone/>
            </a:pPr>
            <a:r>
              <a:rPr lang="en-US" sz="3400" b="1" dirty="0">
                <a:solidFill>
                  <a:schemeClr val="accent6"/>
                </a:solidFill>
                <a:latin typeface="Cambria" pitchFamily="34" charset="0"/>
                <a:ea typeface="Cambria" pitchFamily="34" charset="-122"/>
                <a:cs typeface="Cambria" pitchFamily="34" charset="-120"/>
              </a:rPr>
              <a:t>93.4%</a:t>
            </a:r>
            <a:endParaRPr lang="en-US" sz="3400" dirty="0"/>
          </a:p>
        </p:txBody>
      </p:sp>
      <p:sp>
        <p:nvSpPr>
          <p:cNvPr id="12" name="Text 9"/>
          <p:cNvSpPr txBox="1"/>
          <p:nvPr/>
        </p:nvSpPr>
        <p:spPr>
          <a:xfrm>
            <a:off x="4846320" y="2057400"/>
            <a:ext cx="1554480" cy="777240"/>
          </a:xfrm>
          <a:prstGeom prst="rect">
            <a:avLst/>
          </a:prstGeom>
          <a:noFill/>
          <a:ln/>
        </p:spPr>
        <p:txBody>
          <a:bodyPr wrap="square" lIns="0" tIns="0" rIns="0" bIns="0" rtlCol="0" anchor="t"/>
          <a:lstStyle/>
          <a:p>
            <a:pPr marL="0" indent="0" algn="ctr">
              <a:buNone/>
            </a:pPr>
            <a:r>
              <a:rPr lang="en-US" sz="1300" dirty="0">
                <a:solidFill>
                  <a:schemeClr val="bg1"/>
                </a:solidFill>
                <a:latin typeface="Calibri" pitchFamily="34" charset="0"/>
                <a:ea typeface="Calibri" pitchFamily="34" charset="-122"/>
                <a:cs typeface="Calibri" pitchFamily="34" charset="-120"/>
              </a:rPr>
              <a:t>accuracy when confidence is above 80%</a:t>
            </a:r>
            <a:endParaRPr lang="en-US" sz="1300" dirty="0"/>
          </a:p>
        </p:txBody>
      </p:sp>
      <p:sp>
        <p:nvSpPr>
          <p:cNvPr id="13" name="Key stat 4"/>
          <p:cNvSpPr/>
          <p:nvPr/>
        </p:nvSpPr>
        <p:spPr>
          <a:xfrm>
            <a:off x="6766560" y="1188720"/>
            <a:ext cx="1920240" cy="1737360"/>
          </a:xfrm>
          <a:prstGeom prst="roundRect">
            <a:avLst>
              <a:gd name="adj" fmla="val 6316"/>
            </a:avLst>
          </a:prstGeom>
          <a:solidFill>
            <a:schemeClr val="tx2"/>
          </a:solidFill>
          <a:ln/>
        </p:spPr>
        <p:txBody>
          <a:bodyPr/>
          <a:lstStyle/>
          <a:p>
            <a:endParaRPr lang="en-IN"/>
          </a:p>
        </p:txBody>
      </p:sp>
      <p:sp>
        <p:nvSpPr>
          <p:cNvPr id="14" name="Text 11"/>
          <p:cNvSpPr txBox="1"/>
          <p:nvPr/>
        </p:nvSpPr>
        <p:spPr>
          <a:xfrm>
            <a:off x="6766560" y="1325880"/>
            <a:ext cx="1920240" cy="685800"/>
          </a:xfrm>
          <a:prstGeom prst="rect">
            <a:avLst/>
          </a:prstGeom>
          <a:noFill/>
          <a:ln/>
        </p:spPr>
        <p:txBody>
          <a:bodyPr wrap="square" lIns="0" tIns="0" rIns="0" bIns="0" rtlCol="0" anchor="t"/>
          <a:lstStyle/>
          <a:p>
            <a:pPr marL="0" indent="0" algn="ctr">
              <a:buNone/>
            </a:pPr>
            <a:r>
              <a:rPr lang="en-US" sz="3400" b="1" dirty="0">
                <a:solidFill>
                  <a:schemeClr val="accent6"/>
                </a:solidFill>
                <a:latin typeface="Cambria" pitchFamily="34" charset="0"/>
                <a:ea typeface="Cambria" pitchFamily="34" charset="-122"/>
                <a:cs typeface="Cambria" pitchFamily="34" charset="-120"/>
              </a:rPr>
              <a:t>10</a:t>
            </a:r>
            <a:endParaRPr lang="en-US" sz="3400" dirty="0"/>
          </a:p>
        </p:txBody>
      </p:sp>
      <p:sp>
        <p:nvSpPr>
          <p:cNvPr id="15" name="Text 12"/>
          <p:cNvSpPr txBox="1"/>
          <p:nvPr/>
        </p:nvSpPr>
        <p:spPr>
          <a:xfrm>
            <a:off x="6949440" y="2057400"/>
            <a:ext cx="1554480" cy="777240"/>
          </a:xfrm>
          <a:prstGeom prst="rect">
            <a:avLst/>
          </a:prstGeom>
          <a:noFill/>
          <a:ln/>
        </p:spPr>
        <p:txBody>
          <a:bodyPr wrap="square" lIns="0" tIns="0" rIns="0" bIns="0" rtlCol="0" anchor="t"/>
          <a:lstStyle/>
          <a:p>
            <a:pPr marL="0" indent="0" algn="ctr">
              <a:buNone/>
            </a:pPr>
            <a:r>
              <a:rPr lang="en-US" sz="1300" dirty="0">
                <a:solidFill>
                  <a:schemeClr val="bg1"/>
                </a:solidFill>
                <a:latin typeface="Calibri" pitchFamily="34" charset="0"/>
                <a:ea typeface="Calibri" pitchFamily="34" charset="-122"/>
                <a:cs typeface="Calibri" pitchFamily="34" charset="-120"/>
              </a:rPr>
              <a:t>micro-batches in the 1,200-tweet stream</a:t>
            </a:r>
            <a:endParaRPr lang="en-US" sz="1300" dirty="0"/>
          </a:p>
        </p:txBody>
      </p:sp>
      <p:sp>
        <p:nvSpPr>
          <p:cNvPr id="16" name="Text 13"/>
          <p:cNvSpPr txBox="1"/>
          <p:nvPr/>
        </p:nvSpPr>
        <p:spPr>
          <a:xfrm>
            <a:off x="457200" y="3200400"/>
            <a:ext cx="822960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1"/>
                </a:solidFill>
                <a:latin typeface="Calibri" pitchFamily="34" charset="0"/>
                <a:ea typeface="Calibri" pitchFamily="34" charset="-122"/>
                <a:cs typeface="Calibri" pitchFamily="34" charset="-120"/>
              </a:rPr>
              <a:t>A complete pipeline: Kafka, Spark, model and dashboard, all driven by one shared preprocessing step</a:t>
            </a:r>
            <a:endParaRPr lang="en-US" sz="1500" dirty="0"/>
          </a:p>
          <a:p>
            <a:pPr marL="342900" indent="-342900">
              <a:spcAft>
                <a:spcPts val="400"/>
              </a:spcAft>
              <a:buSzPct val="100000"/>
              <a:buChar char="•"/>
            </a:pPr>
            <a:r>
              <a:rPr lang="en-US" sz="1500" dirty="0">
                <a:solidFill>
                  <a:schemeClr val="bg1"/>
                </a:solidFill>
                <a:latin typeface="Calibri" pitchFamily="34" charset="0"/>
                <a:ea typeface="Calibri" pitchFamily="34" charset="-122"/>
                <a:cs typeface="Calibri" pitchFamily="34" charset="-120"/>
              </a:rPr>
              <a:t>The LSTM is the most accurate; Logistic Regression is the fast, deployable alternative</a:t>
            </a:r>
            <a:endParaRPr lang="en-US" sz="1500" dirty="0"/>
          </a:p>
          <a:p>
            <a:pPr marL="342900" indent="-342900">
              <a:spcAft>
                <a:spcPts val="400"/>
              </a:spcAft>
              <a:buSzPct val="100000"/>
              <a:buChar char="•"/>
            </a:pPr>
            <a:r>
              <a:rPr lang="en-US" sz="1500" dirty="0">
                <a:solidFill>
                  <a:schemeClr val="bg1"/>
                </a:solidFill>
                <a:latin typeface="Calibri" pitchFamily="34" charset="0"/>
                <a:ea typeface="Calibri" pitchFamily="34" charset="-122"/>
                <a:cs typeface="Calibri" pitchFamily="34" charset="-120"/>
              </a:rPr>
              <a:t>Neutral is the hardest class, and the forecast is a direction signal rather than an exact number</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References</a:t>
            </a:r>
            <a:endParaRPr lang="en-US" sz="3200" dirty="0"/>
          </a:p>
        </p:txBody>
      </p:sp>
      <p:sp>
        <p:nvSpPr>
          <p:cNvPr id="4" name="Text 1"/>
          <p:cNvSpPr txBox="1"/>
          <p:nvPr/>
        </p:nvSpPr>
        <p:spPr>
          <a:xfrm>
            <a:off x="457200" y="1097280"/>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  </a:t>
            </a:r>
            <a:r>
              <a:rPr lang="en-US" sz="1100" dirty="0">
                <a:solidFill>
                  <a:schemeClr val="tx1"/>
                </a:solidFill>
                <a:latin typeface="Calibri" pitchFamily="34" charset="0"/>
                <a:ea typeface="Calibri" pitchFamily="34" charset="-122"/>
                <a:cs typeface="Calibri" pitchFamily="34" charset="-120"/>
              </a:rPr>
              <a:t>Pang et al. (2002): Thumbs up? Sentiment classification</a:t>
            </a:r>
            <a:endParaRPr lang="en-US" sz="1100" dirty="0"/>
          </a:p>
        </p:txBody>
      </p:sp>
      <p:sp>
        <p:nvSpPr>
          <p:cNvPr id="5" name="Text 2"/>
          <p:cNvSpPr txBox="1"/>
          <p:nvPr/>
        </p:nvSpPr>
        <p:spPr>
          <a:xfrm>
            <a:off x="457200" y="1444752"/>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[2]  </a:t>
            </a:r>
            <a:r>
              <a:rPr lang="en-US" sz="1100" dirty="0">
                <a:solidFill>
                  <a:schemeClr val="tx1"/>
                </a:solidFill>
                <a:latin typeface="Calibri" pitchFamily="34" charset="0"/>
                <a:ea typeface="Calibri" pitchFamily="34" charset="-122"/>
                <a:cs typeface="Calibri" pitchFamily="34" charset="-120"/>
              </a:rPr>
              <a:t>Go, Bhayani, Huang (2009): Twitter sentiment, distant supervision</a:t>
            </a:r>
            <a:endParaRPr lang="en-US" sz="1100" dirty="0"/>
          </a:p>
        </p:txBody>
      </p:sp>
      <p:sp>
        <p:nvSpPr>
          <p:cNvPr id="6" name="Text 3"/>
          <p:cNvSpPr txBox="1"/>
          <p:nvPr/>
        </p:nvSpPr>
        <p:spPr>
          <a:xfrm>
            <a:off x="457200" y="1792224"/>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[3]  </a:t>
            </a:r>
            <a:r>
              <a:rPr lang="en-US" sz="1100" dirty="0">
                <a:solidFill>
                  <a:schemeClr val="tx1"/>
                </a:solidFill>
                <a:latin typeface="Calibri" pitchFamily="34" charset="0"/>
                <a:ea typeface="Calibri" pitchFamily="34" charset="-122"/>
                <a:cs typeface="Calibri" pitchFamily="34" charset="-120"/>
              </a:rPr>
              <a:t>Pak, Paroubek (2010): Twitter as a corpus for sentiment analysis</a:t>
            </a:r>
            <a:endParaRPr lang="en-US" sz="1100" dirty="0"/>
          </a:p>
        </p:txBody>
      </p:sp>
      <p:sp>
        <p:nvSpPr>
          <p:cNvPr id="7" name="Text 4"/>
          <p:cNvSpPr txBox="1"/>
          <p:nvPr/>
        </p:nvSpPr>
        <p:spPr>
          <a:xfrm>
            <a:off x="457200" y="2139696"/>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[4]  </a:t>
            </a:r>
            <a:r>
              <a:rPr lang="en-US" sz="1100" dirty="0">
                <a:solidFill>
                  <a:schemeClr val="tx1"/>
                </a:solidFill>
                <a:latin typeface="Calibri" pitchFamily="34" charset="0"/>
                <a:ea typeface="Calibri" pitchFamily="34" charset="-122"/>
                <a:cs typeface="Calibri" pitchFamily="34" charset="-120"/>
              </a:rPr>
              <a:t>Kouloumpis et al. (2011): Twitter sentiment, the good and bad</a:t>
            </a:r>
            <a:endParaRPr lang="en-US" sz="1100" dirty="0"/>
          </a:p>
        </p:txBody>
      </p:sp>
      <p:sp>
        <p:nvSpPr>
          <p:cNvPr id="8" name="Text 5"/>
          <p:cNvSpPr txBox="1"/>
          <p:nvPr/>
        </p:nvSpPr>
        <p:spPr>
          <a:xfrm>
            <a:off x="457200" y="2487168"/>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[5]  </a:t>
            </a:r>
            <a:r>
              <a:rPr lang="en-US" sz="1100" dirty="0">
                <a:solidFill>
                  <a:schemeClr val="tx1"/>
                </a:solidFill>
                <a:latin typeface="Calibri" pitchFamily="34" charset="0"/>
                <a:ea typeface="Calibri" pitchFamily="34" charset="-122"/>
                <a:cs typeface="Calibri" pitchFamily="34" charset="-120"/>
              </a:rPr>
              <a:t>Agarwal et al. (2011): Sentiment analysis of Twitter data</a:t>
            </a:r>
            <a:endParaRPr lang="en-US" sz="1100" dirty="0"/>
          </a:p>
        </p:txBody>
      </p:sp>
      <p:sp>
        <p:nvSpPr>
          <p:cNvPr id="9" name="Text 6"/>
          <p:cNvSpPr txBox="1"/>
          <p:nvPr/>
        </p:nvSpPr>
        <p:spPr>
          <a:xfrm>
            <a:off x="457200" y="2834640"/>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[6]  </a:t>
            </a:r>
            <a:r>
              <a:rPr lang="en-US" sz="1100" dirty="0">
                <a:solidFill>
                  <a:schemeClr val="tx1"/>
                </a:solidFill>
                <a:latin typeface="Calibri" pitchFamily="34" charset="0"/>
                <a:ea typeface="Calibri" pitchFamily="34" charset="-122"/>
                <a:cs typeface="Calibri" pitchFamily="34" charset="-120"/>
              </a:rPr>
              <a:t>Mohammad et al. (2013): NRC-Canada, sentiment of tweets</a:t>
            </a:r>
            <a:endParaRPr lang="en-US" sz="1100" dirty="0"/>
          </a:p>
        </p:txBody>
      </p:sp>
      <p:sp>
        <p:nvSpPr>
          <p:cNvPr id="10" name="Text 7"/>
          <p:cNvSpPr txBox="1"/>
          <p:nvPr/>
        </p:nvSpPr>
        <p:spPr>
          <a:xfrm>
            <a:off x="457200" y="3182112"/>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[7]  </a:t>
            </a:r>
            <a:r>
              <a:rPr lang="en-US" sz="1100" dirty="0">
                <a:solidFill>
                  <a:schemeClr val="tx1"/>
                </a:solidFill>
                <a:latin typeface="Calibri" pitchFamily="34" charset="0"/>
                <a:ea typeface="Calibri" pitchFamily="34" charset="-122"/>
                <a:cs typeface="Calibri" pitchFamily="34" charset="-120"/>
              </a:rPr>
              <a:t>Socher et al. (2013): Recursive deep models, sentiment treebank</a:t>
            </a:r>
            <a:endParaRPr lang="en-US" sz="1100" dirty="0"/>
          </a:p>
        </p:txBody>
      </p:sp>
      <p:sp>
        <p:nvSpPr>
          <p:cNvPr id="11" name="Text 8"/>
          <p:cNvSpPr txBox="1"/>
          <p:nvPr/>
        </p:nvSpPr>
        <p:spPr>
          <a:xfrm>
            <a:off x="457200" y="3529584"/>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[8]  </a:t>
            </a:r>
            <a:r>
              <a:rPr lang="en-US" sz="1100" dirty="0">
                <a:solidFill>
                  <a:schemeClr val="tx1"/>
                </a:solidFill>
                <a:latin typeface="Calibri" pitchFamily="34" charset="0"/>
                <a:ea typeface="Calibri" pitchFamily="34" charset="-122"/>
                <a:cs typeface="Calibri" pitchFamily="34" charset="-120"/>
              </a:rPr>
              <a:t>Kim (2014): CNNs for sentence classification</a:t>
            </a:r>
            <a:endParaRPr lang="en-US" sz="1100" dirty="0"/>
          </a:p>
        </p:txBody>
      </p:sp>
      <p:sp>
        <p:nvSpPr>
          <p:cNvPr id="12" name="Text 9"/>
          <p:cNvSpPr txBox="1"/>
          <p:nvPr/>
        </p:nvSpPr>
        <p:spPr>
          <a:xfrm>
            <a:off x="457200" y="3877056"/>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[9]  </a:t>
            </a:r>
            <a:r>
              <a:rPr lang="en-US" sz="1100" dirty="0">
                <a:solidFill>
                  <a:schemeClr val="tx1"/>
                </a:solidFill>
                <a:latin typeface="Calibri" pitchFamily="34" charset="0"/>
                <a:ea typeface="Calibri" pitchFamily="34" charset="-122"/>
                <a:cs typeface="Calibri" pitchFamily="34" charset="-120"/>
              </a:rPr>
              <a:t>Hochreiter, Schmidhuber (1997): Long short-term memory</a:t>
            </a:r>
            <a:endParaRPr lang="en-US" sz="1100" dirty="0"/>
          </a:p>
        </p:txBody>
      </p:sp>
      <p:sp>
        <p:nvSpPr>
          <p:cNvPr id="13" name="Text 10"/>
          <p:cNvSpPr txBox="1"/>
          <p:nvPr/>
        </p:nvSpPr>
        <p:spPr>
          <a:xfrm>
            <a:off x="457200" y="4224528"/>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[10]  </a:t>
            </a:r>
            <a:r>
              <a:rPr lang="en-US" sz="1100" dirty="0">
                <a:solidFill>
                  <a:schemeClr val="tx1"/>
                </a:solidFill>
                <a:latin typeface="Calibri" pitchFamily="34" charset="0"/>
                <a:ea typeface="Calibri" pitchFamily="34" charset="-122"/>
                <a:cs typeface="Calibri" pitchFamily="34" charset="-120"/>
              </a:rPr>
              <a:t>Devlin et al. (2019): BERT, deep bidirectional transformers</a:t>
            </a:r>
            <a:endParaRPr lang="en-US" sz="1100" dirty="0"/>
          </a:p>
        </p:txBody>
      </p:sp>
      <p:sp>
        <p:nvSpPr>
          <p:cNvPr id="14" name="Text 11"/>
          <p:cNvSpPr txBox="1"/>
          <p:nvPr/>
        </p:nvSpPr>
        <p:spPr>
          <a:xfrm>
            <a:off x="4663440" y="1097280"/>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[11]  </a:t>
            </a:r>
            <a:r>
              <a:rPr lang="en-US" sz="1100" dirty="0">
                <a:solidFill>
                  <a:schemeClr val="tx1"/>
                </a:solidFill>
                <a:latin typeface="Calibri" pitchFamily="34" charset="0"/>
                <a:ea typeface="Calibri" pitchFamily="34" charset="-122"/>
                <a:cs typeface="Calibri" pitchFamily="34" charset="-120"/>
              </a:rPr>
              <a:t>Nguyen et al. (2020): BERTweet, language model for tweets</a:t>
            </a:r>
            <a:endParaRPr lang="en-US" sz="1100" dirty="0"/>
          </a:p>
        </p:txBody>
      </p:sp>
      <p:sp>
        <p:nvSpPr>
          <p:cNvPr id="15" name="Text 12"/>
          <p:cNvSpPr txBox="1"/>
          <p:nvPr/>
        </p:nvSpPr>
        <p:spPr>
          <a:xfrm>
            <a:off x="4663440" y="1444752"/>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[12]  </a:t>
            </a:r>
            <a:r>
              <a:rPr lang="en-US" sz="1100" dirty="0">
                <a:solidFill>
                  <a:schemeClr val="tx1"/>
                </a:solidFill>
                <a:latin typeface="Calibri" pitchFamily="34" charset="0"/>
                <a:ea typeface="Calibri" pitchFamily="34" charset="-122"/>
                <a:cs typeface="Calibri" pitchFamily="34" charset="-120"/>
              </a:rPr>
              <a:t>Rustam et al. (2021): ML models for COVID-19 tweet sentiment</a:t>
            </a:r>
            <a:endParaRPr lang="en-US" sz="1100" dirty="0"/>
          </a:p>
        </p:txBody>
      </p:sp>
      <p:sp>
        <p:nvSpPr>
          <p:cNvPr id="16" name="Text 13"/>
          <p:cNvSpPr txBox="1"/>
          <p:nvPr/>
        </p:nvSpPr>
        <p:spPr>
          <a:xfrm>
            <a:off x="4663440" y="1792224"/>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[13]  </a:t>
            </a:r>
            <a:r>
              <a:rPr lang="en-US" sz="1100" dirty="0">
                <a:solidFill>
                  <a:schemeClr val="tx1"/>
                </a:solidFill>
                <a:latin typeface="Calibri" pitchFamily="34" charset="0"/>
                <a:ea typeface="Calibri" pitchFamily="34" charset="-122"/>
                <a:cs typeface="Calibri" pitchFamily="34" charset="-120"/>
              </a:rPr>
              <a:t>Imran et al. (2020): Polarity and emotion on COVID-19 tweets</a:t>
            </a:r>
            <a:endParaRPr lang="en-US" sz="1100" dirty="0"/>
          </a:p>
        </p:txBody>
      </p:sp>
      <p:sp>
        <p:nvSpPr>
          <p:cNvPr id="17" name="Text 14"/>
          <p:cNvSpPr txBox="1"/>
          <p:nvPr/>
        </p:nvSpPr>
        <p:spPr>
          <a:xfrm>
            <a:off x="4663440" y="2139696"/>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[14]  </a:t>
            </a:r>
            <a:r>
              <a:rPr lang="en-US" sz="1100" dirty="0">
                <a:solidFill>
                  <a:schemeClr val="tx1"/>
                </a:solidFill>
                <a:latin typeface="Calibri" pitchFamily="34" charset="0"/>
                <a:ea typeface="Calibri" pitchFamily="34" charset="-122"/>
                <a:cs typeface="Calibri" pitchFamily="34" charset="-120"/>
              </a:rPr>
              <a:t>Lamsal (2021): Large-scale COVID-19 tweets dataset</a:t>
            </a:r>
            <a:endParaRPr lang="en-US" sz="1100" dirty="0"/>
          </a:p>
        </p:txBody>
      </p:sp>
      <p:sp>
        <p:nvSpPr>
          <p:cNvPr id="18" name="Text 15"/>
          <p:cNvSpPr txBox="1"/>
          <p:nvPr/>
        </p:nvSpPr>
        <p:spPr>
          <a:xfrm>
            <a:off x="4663440" y="2487168"/>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[15]  </a:t>
            </a:r>
            <a:r>
              <a:rPr lang="en-US" sz="1100" dirty="0">
                <a:solidFill>
                  <a:schemeClr val="tx1"/>
                </a:solidFill>
                <a:latin typeface="Calibri" pitchFamily="34" charset="0"/>
                <a:ea typeface="Calibri" pitchFamily="34" charset="-122"/>
                <a:cs typeface="Calibri" pitchFamily="34" charset="-120"/>
              </a:rPr>
              <a:t>Breiman (2001): Random forests</a:t>
            </a:r>
            <a:endParaRPr lang="en-US" sz="1100" dirty="0"/>
          </a:p>
        </p:txBody>
      </p:sp>
      <p:sp>
        <p:nvSpPr>
          <p:cNvPr id="19" name="Text 16"/>
          <p:cNvSpPr txBox="1"/>
          <p:nvPr/>
        </p:nvSpPr>
        <p:spPr>
          <a:xfrm>
            <a:off x="4663440" y="2834640"/>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[16]  </a:t>
            </a:r>
            <a:r>
              <a:rPr lang="en-US" sz="1100" dirty="0">
                <a:solidFill>
                  <a:schemeClr val="tx1"/>
                </a:solidFill>
                <a:latin typeface="Calibri" pitchFamily="34" charset="0"/>
                <a:ea typeface="Calibri" pitchFamily="34" charset="-122"/>
                <a:cs typeface="Calibri" pitchFamily="34" charset="-120"/>
              </a:rPr>
              <a:t>Chen, Guestrin (2016): XGBoost</a:t>
            </a:r>
            <a:endParaRPr lang="en-US" sz="1100" dirty="0"/>
          </a:p>
        </p:txBody>
      </p:sp>
      <p:sp>
        <p:nvSpPr>
          <p:cNvPr id="20" name="Text 17"/>
          <p:cNvSpPr txBox="1"/>
          <p:nvPr/>
        </p:nvSpPr>
        <p:spPr>
          <a:xfrm>
            <a:off x="4663440" y="3182112"/>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[17]  </a:t>
            </a:r>
            <a:r>
              <a:rPr lang="en-US" sz="1100" dirty="0">
                <a:solidFill>
                  <a:schemeClr val="tx1"/>
                </a:solidFill>
                <a:latin typeface="Calibri" pitchFamily="34" charset="0"/>
                <a:ea typeface="Calibri" pitchFamily="34" charset="-122"/>
                <a:cs typeface="Calibri" pitchFamily="34" charset="-120"/>
              </a:rPr>
              <a:t>Nazeer et al. (2017): Real-time text analytics, open-source tools</a:t>
            </a:r>
            <a:endParaRPr lang="en-US" sz="1100" dirty="0"/>
          </a:p>
        </p:txBody>
      </p:sp>
      <p:sp>
        <p:nvSpPr>
          <p:cNvPr id="21" name="Text 18"/>
          <p:cNvSpPr txBox="1"/>
          <p:nvPr/>
        </p:nvSpPr>
        <p:spPr>
          <a:xfrm>
            <a:off x="4663440" y="3529584"/>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[18]  </a:t>
            </a:r>
            <a:r>
              <a:rPr lang="en-US" sz="1100" dirty="0">
                <a:solidFill>
                  <a:schemeClr val="tx1"/>
                </a:solidFill>
                <a:latin typeface="Calibri" pitchFamily="34" charset="0"/>
                <a:ea typeface="Calibri" pitchFamily="34" charset="-122"/>
                <a:cs typeface="Calibri" pitchFamily="34" charset="-120"/>
              </a:rPr>
              <a:t>Kreps et al. (2011): Kafka, messaging for log processing</a:t>
            </a:r>
            <a:endParaRPr lang="en-US" sz="1100" dirty="0"/>
          </a:p>
        </p:txBody>
      </p:sp>
      <p:sp>
        <p:nvSpPr>
          <p:cNvPr id="22" name="Text 19"/>
          <p:cNvSpPr txBox="1"/>
          <p:nvPr/>
        </p:nvSpPr>
        <p:spPr>
          <a:xfrm>
            <a:off x="4663440" y="3877056"/>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[19]  </a:t>
            </a:r>
            <a:r>
              <a:rPr lang="en-US" sz="1100" dirty="0">
                <a:solidFill>
                  <a:schemeClr val="tx1"/>
                </a:solidFill>
                <a:latin typeface="Calibri" pitchFamily="34" charset="0"/>
                <a:ea typeface="Calibri" pitchFamily="34" charset="-122"/>
                <a:cs typeface="Calibri" pitchFamily="34" charset="-120"/>
              </a:rPr>
              <a:t>Zaharia et al. (2016): Apache Spark, unified engine</a:t>
            </a:r>
            <a:endParaRPr lang="en-US" sz="1100" dirty="0"/>
          </a:p>
        </p:txBody>
      </p:sp>
      <p:sp>
        <p:nvSpPr>
          <p:cNvPr id="23" name="Text 20"/>
          <p:cNvSpPr txBox="1"/>
          <p:nvPr/>
        </p:nvSpPr>
        <p:spPr>
          <a:xfrm>
            <a:off x="4663440" y="4224528"/>
            <a:ext cx="4023360" cy="310896"/>
          </a:xfrm>
          <a:prstGeom prst="rect">
            <a:avLst/>
          </a:prstGeom>
          <a:noFill/>
          <a:ln/>
        </p:spPr>
        <p:txBody>
          <a:bodyPr wrap="square" lIns="0" tIns="0" rIns="0" bIns="0" rtlCol="0" anchor="ctr"/>
          <a:lstStyle/>
          <a:p>
            <a:pPr marL="0" indent="0">
              <a:buNone/>
            </a:pPr>
            <a:r>
              <a:rPr lang="en-US" sz="1100" b="1" dirty="0">
                <a:solidFill>
                  <a:srgbClr val="4C5BD4"/>
                </a:solidFill>
                <a:latin typeface="Calibri" pitchFamily="34" charset="0"/>
                <a:ea typeface="Calibri" pitchFamily="34" charset="-122"/>
                <a:cs typeface="Calibri" pitchFamily="34" charset="-120"/>
              </a:rPr>
              <a:t>[20]  </a:t>
            </a:r>
            <a:r>
              <a:rPr lang="en-US" sz="1100" dirty="0">
                <a:solidFill>
                  <a:schemeClr val="tx1"/>
                </a:solidFill>
                <a:latin typeface="Calibri" pitchFamily="34" charset="0"/>
                <a:ea typeface="Calibri" pitchFamily="34" charset="-122"/>
                <a:cs typeface="Calibri" pitchFamily="34" charset="-120"/>
              </a:rPr>
              <a:t>Page et al. (1999): The PageRank citation ranking</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0"/>
          <p:cNvSpPr txBox="1"/>
          <p:nvPr/>
        </p:nvSpPr>
        <p:spPr>
          <a:xfrm>
            <a:off x="548640" y="1463040"/>
            <a:ext cx="4937760" cy="914400"/>
          </a:xfrm>
          <a:prstGeom prst="rect">
            <a:avLst/>
          </a:prstGeom>
          <a:noFill/>
          <a:ln/>
        </p:spPr>
        <p:txBody>
          <a:bodyPr wrap="square" lIns="0" tIns="0" rIns="0" bIns="0" rtlCol="0" anchor="t"/>
          <a:lstStyle/>
          <a:p>
            <a:pPr marL="0" indent="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4" name="Text 1"/>
          <p:cNvSpPr txBox="1"/>
          <p:nvPr/>
        </p:nvSpPr>
        <p:spPr>
          <a:xfrm>
            <a:off x="548640" y="2468880"/>
            <a:ext cx="4937760" cy="548640"/>
          </a:xfrm>
          <a:prstGeom prst="rect">
            <a:avLst/>
          </a:prstGeom>
          <a:noFill/>
          <a:ln/>
        </p:spPr>
        <p:txBody>
          <a:bodyPr wrap="square" lIns="0" tIns="0" rIns="0" bIns="0" rtlCol="0" anchor="t"/>
          <a:lstStyle/>
          <a:p>
            <a:pPr marL="0" indent="0">
              <a:buNone/>
            </a:pPr>
            <a:r>
              <a:rPr lang="en-US" sz="2800" dirty="0">
                <a:solidFill>
                  <a:schemeClr val="accent6"/>
                </a:solidFill>
                <a:latin typeface="Cambria" pitchFamily="34" charset="0"/>
                <a:ea typeface="Cambria" pitchFamily="34" charset="-122"/>
                <a:cs typeface="Cambria" pitchFamily="34" charset="-120"/>
              </a:rPr>
              <a:t>Questions?</a:t>
            </a:r>
            <a:endParaRPr lang="en-US" sz="2800" dirty="0"/>
          </a:p>
        </p:txBody>
      </p:sp>
      <p:sp>
        <p:nvSpPr>
          <p:cNvPr id="5" name="Text 2"/>
          <p:cNvSpPr txBox="1"/>
          <p:nvPr/>
        </p:nvSpPr>
        <p:spPr>
          <a:xfrm>
            <a:off x="548640" y="3840480"/>
            <a:ext cx="5303520" cy="54864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Aryan Koshal  –  23070521210</a:t>
            </a:r>
          </a:p>
          <a:p>
            <a:r>
              <a:rPr lang="en-US" sz="1400" b="1" dirty="0">
                <a:solidFill>
                  <a:schemeClr val="bg1"/>
                </a:solidFill>
                <a:latin typeface="Calibri" pitchFamily="34" charset="0"/>
                <a:ea typeface="Calibri" pitchFamily="34" charset="-122"/>
                <a:cs typeface="Calibri" pitchFamily="34" charset="-120"/>
              </a:rPr>
              <a:t>Shreyali Dongre – 23070521230</a:t>
            </a:r>
            <a:endParaRPr lang="en-US" sz="1400" dirty="0"/>
          </a:p>
          <a:p>
            <a:pPr marL="0" indent="0">
              <a:buNone/>
            </a:pPr>
            <a:r>
              <a:rPr lang="en-US" sz="1400" dirty="0">
                <a:solidFill>
                  <a:schemeClr val="bg1"/>
                </a:solidFill>
                <a:latin typeface="Calibri" pitchFamily="34" charset="0"/>
                <a:ea typeface="Calibri" pitchFamily="34" charset="-122"/>
                <a:cs typeface="Calibri" pitchFamily="34" charset="-120"/>
              </a:rPr>
              <a:t>Symbiosis Institute of Technology, Nagpur</a:t>
            </a:r>
            <a:endParaRPr lang="en-US" sz="1400" dirty="0"/>
          </a:p>
        </p:txBody>
      </p:sp>
      <p:sp>
        <p:nvSpPr>
          <p:cNvPr id="6" name="Closing bubble 1"/>
          <p:cNvSpPr/>
          <p:nvPr/>
        </p:nvSpPr>
        <p:spPr>
          <a:xfrm>
            <a:off x="6035040" y="822960"/>
            <a:ext cx="2103120" cy="2103120"/>
          </a:xfrm>
          <a:prstGeom prst="ellipse">
            <a:avLst/>
          </a:prstGeom>
          <a:solidFill>
            <a:schemeClr val="accent1"/>
          </a:solidFill>
          <a:ln/>
        </p:spPr>
        <p:txBody>
          <a:bodyPr/>
          <a:lstStyle/>
          <a:p>
            <a:endParaRPr lang="en-IN"/>
          </a:p>
        </p:txBody>
      </p:sp>
      <p:sp>
        <p:nvSpPr>
          <p:cNvPr id="7" name="Closing bubble 2"/>
          <p:cNvSpPr/>
          <p:nvPr/>
        </p:nvSpPr>
        <p:spPr>
          <a:xfrm>
            <a:off x="7040880" y="2743200"/>
            <a:ext cx="1645920" cy="1645920"/>
          </a:xfrm>
          <a:prstGeom prst="ellipse">
            <a:avLst/>
          </a:prstGeom>
          <a:solidFill>
            <a:schemeClr val="accent2"/>
          </a:solidFill>
          <a:ln/>
        </p:spPr>
        <p:txBody>
          <a:bodyPr/>
          <a:lstStyle/>
          <a:p>
            <a:endParaRPr lang="en-IN"/>
          </a:p>
        </p:txBody>
      </p:sp>
      <p:sp>
        <p:nvSpPr>
          <p:cNvPr id="8" name="Closing bubble 3"/>
          <p:cNvSpPr/>
          <p:nvPr/>
        </p:nvSpPr>
        <p:spPr>
          <a:xfrm>
            <a:off x="5669280" y="3108960"/>
            <a:ext cx="1005840" cy="1005840"/>
          </a:xfrm>
          <a:prstGeom prst="ellipse">
            <a:avLst/>
          </a:prstGeom>
          <a:solidFill>
            <a:schemeClr val="accent3"/>
          </a:solidFill>
          <a:ln/>
        </p:spPr>
        <p:txBody>
          <a:bodyPr/>
          <a:lstStyle/>
          <a:p>
            <a:endParaRPr lang="en-IN"/>
          </a:p>
        </p:txBody>
      </p:sp>
    </p:spTree>
  </p:cSld>
  <p:clrMapOvr>
    <a:masterClrMapping/>
  </p:clrMapOvr>
</p:sld>
</file>

<file path=ppt/theme/theme1.xml><?xml version="1.0" encoding="utf-8"?>
<a:theme xmlns:a="http://schemas.openxmlformats.org/drawingml/2006/main" name="Sentiment Pulse">
  <a:themeElements>
    <a:clrScheme name="Sentiment Pulse">
      <a:dk1>
        <a:srgbClr val="14183A"/>
      </a:dk1>
      <a:lt1>
        <a:srgbClr val="FFFFFF"/>
      </a:lt1>
      <a:dk2>
        <a:srgbClr val="2A2F6B"/>
      </a:dk2>
      <a:lt2>
        <a:srgbClr val="F2F4FA"/>
      </a:lt2>
      <a:accent1>
        <a:srgbClr val="0E8F87"/>
      </a:accent1>
      <a:accent2>
        <a:srgbClr val="E4572E"/>
      </a:accent2>
      <a:accent3>
        <a:srgbClr val="F2A93B"/>
      </a:accent3>
      <a:accent4>
        <a:srgbClr val="4C5BD4"/>
      </a:accent4>
      <a:accent5>
        <a:srgbClr val="6B7390"/>
      </a:accent5>
      <a:accent6>
        <a:srgbClr val="8FD3E8"/>
      </a:accent6>
      <a:hlink>
        <a:srgbClr val="4C5BD4"/>
      </a:hlink>
      <a:folHlink>
        <a:srgbClr val="6B7390"/>
      </a:folHlink>
    </a:clrScheme>
    <a:fontScheme name="Sentiment 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4956</Words>
  <Application>Microsoft Office PowerPoint</Application>
  <PresentationFormat>On-screen Show (16:9)</PresentationFormat>
  <Paragraphs>714</Paragraphs>
  <Slides>37</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Cambria</vt:lpstr>
      <vt:lpstr>Courier New</vt:lpstr>
      <vt:lpstr>Sentiment Pulse</vt:lpstr>
      <vt:lpstr>PowerPoint Presentation</vt:lpstr>
      <vt:lpstr>Agenda</vt:lpstr>
      <vt:lpstr>Why sentiment matters</vt:lpstr>
      <vt:lpstr>Project objectives</vt:lpstr>
      <vt:lpstr>What is sentiment analysis?</vt:lpstr>
      <vt:lpstr>Why this is a big data problem</vt:lpstr>
      <vt:lpstr>How the field evolved</vt:lpstr>
      <vt:lpstr>System architecture</vt:lpstr>
      <vt:lpstr>Apache Kafka: the message pipe</vt:lpstr>
      <vt:lpstr>Apache Spark: the processing engine</vt:lpstr>
      <vt:lpstr>Batch vs streaming</vt:lpstr>
      <vt:lpstr>The dataset</vt:lpstr>
      <vt:lpstr>Cleaning the text</vt:lpstr>
      <vt:lpstr>A tweet through the pipeline</vt:lpstr>
      <vt:lpstr>What people talk about</vt:lpstr>
      <vt:lpstr>Turning words into numbers: TF-IDF</vt:lpstr>
      <vt:lpstr>Four classical models</vt:lpstr>
      <vt:lpstr>The LSTM network</vt:lpstr>
      <vt:lpstr>How an LSTM remembers</vt:lpstr>
      <vt:lpstr>How we measure performance</vt:lpstr>
      <vt:lpstr>Five models compared</vt:lpstr>
      <vt:lpstr>Full metric table</vt:lpstr>
      <vt:lpstr>Where the mistakes happen</vt:lpstr>
      <vt:lpstr>Neutral is the hard class</vt:lpstr>
      <vt:lpstr>Testing on unseen tweets</vt:lpstr>
      <vt:lpstr>Predicting a new post</vt:lpstr>
      <vt:lpstr>Real-time streaming results</vt:lpstr>
      <vt:lpstr>7-day sentiment forecast</vt:lpstr>
      <vt:lpstr>Can we trust the forecast?</vt:lpstr>
      <vt:lpstr>Hashtag network: the concepts</vt:lpstr>
      <vt:lpstr>Hashtag network: the findings</vt:lpstr>
      <vt:lpstr>Streamlit dashboard</vt:lpstr>
      <vt:lpstr>Challenges and limitations</vt:lpstr>
      <vt:lpstr>Future scope</vt:lpstr>
      <vt:lpstr>Conclusion</vt:lpstr>
      <vt:lpstr>References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Social Media Sentiment Analysis System</dc:title>
  <dc:subject>PptxGenJS Presentation</dc:subject>
  <dc:creator>Aryan Koshal</dc:creator>
  <cp:lastModifiedBy>Ishaan Koshal</cp:lastModifiedBy>
  <cp:revision>3</cp:revision>
  <dcterms:created xsi:type="dcterms:W3CDTF">2026-10-07T04:05:27Z</dcterms:created>
  <dcterms:modified xsi:type="dcterms:W3CDTF">2026-10-07T04:18:31Z</dcterms:modified>
</cp:coreProperties>
</file>